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2"/>
  </p:notesMasterIdLst>
  <p:sldIdLst>
    <p:sldId id="267" r:id="rId2"/>
    <p:sldId id="271" r:id="rId3"/>
    <p:sldId id="268" r:id="rId4"/>
    <p:sldId id="269" r:id="rId5"/>
    <p:sldId id="288" r:id="rId6"/>
    <p:sldId id="287" r:id="rId7"/>
    <p:sldId id="272" r:id="rId8"/>
    <p:sldId id="274" r:id="rId9"/>
    <p:sldId id="276" r:id="rId10"/>
    <p:sldId id="278" r:id="rId11"/>
    <p:sldId id="277" r:id="rId12"/>
    <p:sldId id="281" r:id="rId13"/>
    <p:sldId id="285" r:id="rId14"/>
    <p:sldId id="283" r:id="rId15"/>
    <p:sldId id="280" r:id="rId16"/>
    <p:sldId id="292" r:id="rId17"/>
    <p:sldId id="279" r:id="rId18"/>
    <p:sldId id="289" r:id="rId19"/>
    <p:sldId id="290" r:id="rId20"/>
    <p:sldId id="291" r:id="rId21"/>
  </p:sldIdLst>
  <p:sldSz cx="18288000" cy="10287000"/>
  <p:notesSz cx="6858000" cy="9144000"/>
  <p:embeddedFontLst>
    <p:embeddedFont>
      <p:font typeface="Arial MT Pro" panose="020B0604020202020204" charset="0"/>
      <p:regular r:id="rId23"/>
    </p:embeddedFont>
    <p:embeddedFont>
      <p:font typeface="Arial MT Pro Bold" panose="020B0604020202020204" charset="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resentacao" id="{12FE1928-68D6-4EF9-AF63-E7A017B5707D}">
          <p14:sldIdLst>
            <p14:sldId id="267"/>
            <p14:sldId id="271"/>
            <p14:sldId id="268"/>
            <p14:sldId id="269"/>
            <p14:sldId id="288"/>
            <p14:sldId id="287"/>
            <p14:sldId id="272"/>
            <p14:sldId id="274"/>
            <p14:sldId id="276"/>
            <p14:sldId id="278"/>
            <p14:sldId id="277"/>
            <p14:sldId id="281"/>
            <p14:sldId id="285"/>
            <p14:sldId id="283"/>
            <p14:sldId id="280"/>
            <p14:sldId id="292"/>
            <p14:sldId id="279"/>
            <p14:sldId id="289"/>
            <p14:sldId id="290"/>
            <p14:sldId id="29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87942B2-304C-4535-851D-70CD08DD7B7B}" v="1525" dt="2026-04-16T06:23:54.5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129" autoAdjust="0"/>
    <p:restoredTop sz="94660"/>
  </p:normalViewPr>
  <p:slideViewPr>
    <p:cSldViewPr snapToGrid="0">
      <p:cViewPr varScale="1">
        <p:scale>
          <a:sx n="69" d="100"/>
          <a:sy n="69" d="100"/>
        </p:scale>
        <p:origin x="48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5A07E5-AB3F-44DE-BE4E-DA3B5747A786}" type="datetimeFigureOut">
              <a:rPr lang="pt-BR" smtClean="0"/>
              <a:t>16/04/2026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D794E2-E944-4008-AB21-05F4F4E17E3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43102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D794E2-E944-4008-AB21-05F4F4E17E35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310534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166737-DE87-63A5-0CC1-C98831741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EC334B2-4A70-20DC-6BDC-68EB863290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3C38B85-F6D5-3E52-5E82-A3D2953258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457E50D-95D1-1CEC-5FEC-8092E22FBF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D794E2-E944-4008-AB21-05F4F4E17E35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553371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D794E2-E944-4008-AB21-05F4F4E17E35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957071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u="sng">
              <a:latin typeface="Calibri"/>
              <a:ea typeface="Calibri"/>
              <a:cs typeface="Calibri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D794E2-E944-4008-AB21-05F4F4E17E35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76592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D794E2-E944-4008-AB21-05F4F4E17E35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065865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9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jp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7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7.svg"/><Relationship Id="rId4" Type="http://schemas.openxmlformats.org/officeDocument/2006/relationships/image" Target="../media/image3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7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7.svg"/><Relationship Id="rId4" Type="http://schemas.openxmlformats.org/officeDocument/2006/relationships/image" Target="../media/image3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7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2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EBA3D-2064-84E8-B204-E92EEEA4E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0205FAD-163E-1457-E614-DD648843EFF0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pt-BR" noProof="0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41659702-DB2D-F1F7-931E-9A45225CBD86}"/>
              </a:ext>
            </a:extLst>
          </p:cNvPr>
          <p:cNvSpPr txBox="1"/>
          <p:nvPr/>
        </p:nvSpPr>
        <p:spPr>
          <a:xfrm>
            <a:off x="6926120" y="2938347"/>
            <a:ext cx="7749375" cy="4956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9590"/>
              </a:lnSpc>
            </a:pPr>
            <a:r>
              <a:rPr lang="pt-BR" sz="9600" kern="100" noProof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Avaliação de Testes e Aplicação com IA</a:t>
            </a:r>
            <a:endParaRPr lang="pt-BR" sz="10312" b="1" spc="-721" noProof="0">
              <a:solidFill>
                <a:srgbClr val="000000"/>
              </a:solidFill>
              <a:latin typeface="Arial MT Pro Bold"/>
              <a:ea typeface="Arial MT Pro Bold"/>
              <a:cs typeface="Arial MT Pro Bold"/>
              <a:sym typeface="Arial MT Pro Bold"/>
            </a:endParaRPr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974CBD3A-DA52-357F-CE7E-94C7DE0B6DC6}"/>
              </a:ext>
            </a:extLst>
          </p:cNvPr>
          <p:cNvSpPr/>
          <p:nvPr/>
        </p:nvSpPr>
        <p:spPr>
          <a:xfrm>
            <a:off x="13295843" y="2392824"/>
            <a:ext cx="6204398" cy="0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6359C3C2-BB12-93E8-27DD-8D06E1ABDCFF}"/>
              </a:ext>
            </a:extLst>
          </p:cNvPr>
          <p:cNvSpPr/>
          <p:nvPr/>
        </p:nvSpPr>
        <p:spPr>
          <a:xfrm>
            <a:off x="-3143541" y="913817"/>
            <a:ext cx="8344483" cy="8344483"/>
          </a:xfrm>
          <a:custGeom>
            <a:avLst/>
            <a:gdLst/>
            <a:ahLst/>
            <a:cxnLst/>
            <a:rect l="l" t="t" r="r" b="b"/>
            <a:pathLst>
              <a:path w="8344483" h="8344483">
                <a:moveTo>
                  <a:pt x="0" y="0"/>
                </a:moveTo>
                <a:lnTo>
                  <a:pt x="8344482" y="0"/>
                </a:lnTo>
                <a:lnTo>
                  <a:pt x="8344482" y="8344483"/>
                </a:lnTo>
                <a:lnTo>
                  <a:pt x="0" y="83444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 noProof="0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79271C92-7148-981D-D312-41D13E94BDE8}"/>
              </a:ext>
            </a:extLst>
          </p:cNvPr>
          <p:cNvSpPr/>
          <p:nvPr/>
        </p:nvSpPr>
        <p:spPr>
          <a:xfrm rot="-10477754">
            <a:off x="15412376" y="3746046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 noProof="0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537FDA6D-C8DB-135F-B3EC-E7858DC8B753}"/>
              </a:ext>
            </a:extLst>
          </p:cNvPr>
          <p:cNvSpPr txBox="1"/>
          <p:nvPr/>
        </p:nvSpPr>
        <p:spPr>
          <a:xfrm>
            <a:off x="6926120" y="8044388"/>
            <a:ext cx="7151541" cy="496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74"/>
              </a:lnSpc>
            </a:pPr>
            <a:r>
              <a:rPr lang="pt-BR" sz="2910" spc="-58" noProof="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Apresentado por: Maycon Rodrigues Rosa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1B76C474-2855-ACD3-095E-27B21F21457C}"/>
              </a:ext>
            </a:extLst>
          </p:cNvPr>
          <p:cNvSpPr txBox="1"/>
          <p:nvPr/>
        </p:nvSpPr>
        <p:spPr>
          <a:xfrm>
            <a:off x="6926120" y="2132413"/>
            <a:ext cx="6379599" cy="4812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11"/>
              </a:lnSpc>
            </a:pPr>
            <a:r>
              <a:rPr lang="pt-BR" sz="3568" spc="-71" noProof="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Novo Seguros </a:t>
            </a:r>
          </a:p>
        </p:txBody>
      </p:sp>
    </p:spTree>
    <p:extLst>
      <p:ext uri="{BB962C8B-B14F-4D97-AF65-F5344CB8AC3E}">
        <p14:creationId xmlns:p14="http://schemas.microsoft.com/office/powerpoint/2010/main" val="27454258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48E917-E8D9-B135-85DD-E627FA56B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AA76A2F-48C0-53F7-5642-A95B41BC8026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pt-BR" noProof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97187ADF-F5AC-6F3A-2F2B-4F68D36CAC46}"/>
              </a:ext>
            </a:extLst>
          </p:cNvPr>
          <p:cNvSpPr/>
          <p:nvPr/>
        </p:nvSpPr>
        <p:spPr>
          <a:xfrm rot="-10477754">
            <a:off x="13912687" y="-237062"/>
            <a:ext cx="7062925" cy="7062925"/>
          </a:xfrm>
          <a:custGeom>
            <a:avLst/>
            <a:gdLst/>
            <a:ahLst/>
            <a:cxnLst/>
            <a:rect l="l" t="t" r="r" b="b"/>
            <a:pathLst>
              <a:path w="7062925" h="7062925">
                <a:moveTo>
                  <a:pt x="0" y="0"/>
                </a:moveTo>
                <a:lnTo>
                  <a:pt x="7062925" y="0"/>
                </a:lnTo>
                <a:lnTo>
                  <a:pt x="7062925" y="7062925"/>
                </a:lnTo>
                <a:lnTo>
                  <a:pt x="0" y="70629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 noProof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39720E1-F5AA-BCA4-5B58-69D06484FE40}"/>
              </a:ext>
            </a:extLst>
          </p:cNvPr>
          <p:cNvSpPr txBox="1"/>
          <p:nvPr/>
        </p:nvSpPr>
        <p:spPr>
          <a:xfrm>
            <a:off x="2210735" y="1095375"/>
            <a:ext cx="10765677" cy="12856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9590"/>
              </a:lnSpc>
              <a:spcBef>
                <a:spcPct val="0"/>
              </a:spcBef>
            </a:pPr>
            <a:r>
              <a:rPr lang="pt-BR" sz="10312" b="1" spc="-721" dirty="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O que vai ser falado </a:t>
            </a:r>
            <a:endParaRPr lang="pt-BR" sz="10312" b="1" u="none" strike="noStrike" spc="-721" noProof="0" dirty="0">
              <a:solidFill>
                <a:srgbClr val="000000"/>
              </a:solidFill>
              <a:latin typeface="Arial MT Pro Bold"/>
              <a:ea typeface="Arial MT Pro Bold"/>
              <a:cs typeface="Arial MT Pro Bold"/>
              <a:sym typeface="Arial MT Pro Bold"/>
            </a:endParaRP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CF941494-A2B1-FF34-D8B3-D1BDC4610264}"/>
              </a:ext>
            </a:extLst>
          </p:cNvPr>
          <p:cNvSpPr/>
          <p:nvPr/>
        </p:nvSpPr>
        <p:spPr>
          <a:xfrm>
            <a:off x="13597644" y="356775"/>
            <a:ext cx="3661656" cy="3628368"/>
          </a:xfrm>
          <a:custGeom>
            <a:avLst/>
            <a:gdLst/>
            <a:ahLst/>
            <a:cxnLst/>
            <a:rect l="l" t="t" r="r" b="b"/>
            <a:pathLst>
              <a:path w="3661656" h="3628368">
                <a:moveTo>
                  <a:pt x="0" y="0"/>
                </a:moveTo>
                <a:lnTo>
                  <a:pt x="3661656" y="0"/>
                </a:lnTo>
                <a:lnTo>
                  <a:pt x="3661656" y="3628368"/>
                </a:lnTo>
                <a:lnTo>
                  <a:pt x="0" y="36283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 noProof="0"/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B1898C21-9A97-78BA-E54C-28BBBAB6FC36}"/>
              </a:ext>
            </a:extLst>
          </p:cNvPr>
          <p:cNvSpPr/>
          <p:nvPr/>
        </p:nvSpPr>
        <p:spPr>
          <a:xfrm>
            <a:off x="2019617" y="2375946"/>
            <a:ext cx="6204398" cy="0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5CB326B1-FFE5-0541-15EC-26B4A8CFACCD}"/>
              </a:ext>
            </a:extLst>
          </p:cNvPr>
          <p:cNvSpPr/>
          <p:nvPr/>
        </p:nvSpPr>
        <p:spPr>
          <a:xfrm flipH="1" flipV="1">
            <a:off x="0" y="8772096"/>
            <a:ext cx="7315200" cy="3724102"/>
          </a:xfrm>
          <a:custGeom>
            <a:avLst/>
            <a:gdLst/>
            <a:ahLst/>
            <a:cxnLst/>
            <a:rect l="l" t="t" r="r" b="b"/>
            <a:pathLst>
              <a:path w="7315200" h="3724102">
                <a:moveTo>
                  <a:pt x="7315200" y="3724102"/>
                </a:moveTo>
                <a:lnTo>
                  <a:pt x="0" y="3724102"/>
                </a:lnTo>
                <a:lnTo>
                  <a:pt x="0" y="0"/>
                </a:lnTo>
                <a:lnTo>
                  <a:pt x="7315200" y="0"/>
                </a:lnTo>
                <a:lnTo>
                  <a:pt x="7315200" y="372410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 noProof="0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6E093270-B82B-09B3-C3B9-C7DF11E3F30F}"/>
              </a:ext>
            </a:extLst>
          </p:cNvPr>
          <p:cNvSpPr txBox="1"/>
          <p:nvPr/>
        </p:nvSpPr>
        <p:spPr>
          <a:xfrm>
            <a:off x="3094372" y="3094376"/>
            <a:ext cx="8120602" cy="50631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732"/>
              </a:lnSpc>
            </a:pPr>
            <a:r>
              <a:rPr lang="pt-BR" sz="3674" spc="-99" dirty="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CENARIO</a:t>
            </a:r>
            <a:endParaRPr lang="pt-BR" sz="3674" u="none" strike="noStrike" spc="-99" noProof="0" dirty="0">
              <a:solidFill>
                <a:srgbClr val="000000"/>
              </a:solidFill>
              <a:latin typeface="Arial MT Pro"/>
              <a:ea typeface="Arial MT Pro"/>
              <a:cs typeface="Arial MT Pro"/>
              <a:sym typeface="Arial MT Pro"/>
            </a:endParaRPr>
          </a:p>
          <a:p>
            <a:pPr marL="0" lvl="0" indent="0" algn="l">
              <a:lnSpc>
                <a:spcPts val="5732"/>
              </a:lnSpc>
            </a:pPr>
            <a:r>
              <a:rPr lang="pt-BR" sz="3674" spc="-99" dirty="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PROBLEMA ATUAL</a:t>
            </a:r>
            <a:endParaRPr lang="pt-BR" sz="3674" u="none" strike="noStrike" spc="-99" noProof="0" dirty="0">
              <a:solidFill>
                <a:srgbClr val="000000"/>
              </a:solidFill>
              <a:latin typeface="Arial MT Pro"/>
              <a:ea typeface="Arial MT Pro"/>
              <a:cs typeface="Arial MT Pro"/>
              <a:sym typeface="Arial MT Pro"/>
            </a:endParaRPr>
          </a:p>
          <a:p>
            <a:pPr marL="0" lvl="0" indent="0" algn="l">
              <a:lnSpc>
                <a:spcPts val="5732"/>
              </a:lnSpc>
            </a:pPr>
            <a:r>
              <a:rPr lang="pt-BR" sz="3674" spc="-99" dirty="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TESTE DE SOFTWARE</a:t>
            </a:r>
            <a:endParaRPr lang="pt-BR" sz="3674" u="none" strike="noStrike" spc="-99" noProof="0" dirty="0">
              <a:solidFill>
                <a:srgbClr val="000000"/>
              </a:solidFill>
              <a:latin typeface="Arial MT Pro"/>
              <a:ea typeface="Arial MT Pro"/>
              <a:cs typeface="Arial MT Pro"/>
              <a:sym typeface="Arial MT Pro"/>
            </a:endParaRPr>
          </a:p>
          <a:p>
            <a:pPr marL="0" lvl="0" indent="0" algn="l">
              <a:lnSpc>
                <a:spcPts val="5732"/>
              </a:lnSpc>
            </a:pPr>
            <a:r>
              <a:rPr lang="pt-BR" sz="3674" spc="-99" dirty="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TECNICAS DE TESTE </a:t>
            </a:r>
            <a:endParaRPr lang="pt-BR" sz="3674" u="none" strike="noStrike" spc="-99" noProof="0" dirty="0">
              <a:solidFill>
                <a:srgbClr val="000000"/>
              </a:solidFill>
              <a:latin typeface="Arial MT Pro"/>
              <a:ea typeface="Arial MT Pro"/>
              <a:cs typeface="Arial MT Pro"/>
              <a:sym typeface="Arial MT Pro"/>
            </a:endParaRPr>
          </a:p>
          <a:p>
            <a:pPr marL="0" lvl="0" indent="0" algn="l">
              <a:lnSpc>
                <a:spcPts val="5732"/>
              </a:lnSpc>
            </a:pPr>
            <a:r>
              <a:rPr lang="pt-BR" sz="3674" spc="-99" dirty="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ONDE A IA ENTRA </a:t>
            </a:r>
            <a:endParaRPr lang="pt-BR" sz="3674" u="none" strike="noStrike" spc="-99" noProof="0" dirty="0">
              <a:solidFill>
                <a:srgbClr val="000000"/>
              </a:solidFill>
              <a:latin typeface="Arial MT Pro"/>
              <a:ea typeface="Arial MT Pro"/>
              <a:cs typeface="Arial MT Pro"/>
              <a:sym typeface="Arial MT Pro"/>
            </a:endParaRPr>
          </a:p>
          <a:p>
            <a:pPr marL="0" lvl="0" indent="0" algn="l">
              <a:lnSpc>
                <a:spcPts val="5732"/>
              </a:lnSpc>
            </a:pPr>
            <a:r>
              <a:rPr lang="pt-BR" sz="3674" spc="-99" dirty="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ANALISE DA IA</a:t>
            </a:r>
          </a:p>
          <a:p>
            <a:pPr marL="0" lvl="0" indent="0" algn="l">
              <a:lnSpc>
                <a:spcPts val="5732"/>
              </a:lnSpc>
            </a:pPr>
            <a:r>
              <a:rPr lang="pt-BR" sz="3674" spc="-99" dirty="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CONCLUNSÃO</a:t>
            </a:r>
            <a:endParaRPr lang="pt-BR" sz="3674" u="none" strike="noStrike" spc="-99" noProof="0" dirty="0">
              <a:solidFill>
                <a:srgbClr val="000000"/>
              </a:solidFill>
              <a:latin typeface="Arial MT Pro"/>
              <a:ea typeface="Arial MT Pro"/>
              <a:cs typeface="Arial MT Pro"/>
              <a:sym typeface="Arial MT Pro"/>
            </a:endParaRP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B48AE84-35EF-0795-F3BC-E4EA07693497}"/>
              </a:ext>
            </a:extLst>
          </p:cNvPr>
          <p:cNvSpPr txBox="1"/>
          <p:nvPr/>
        </p:nvSpPr>
        <p:spPr>
          <a:xfrm>
            <a:off x="1717257" y="3094376"/>
            <a:ext cx="990917" cy="50631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732"/>
              </a:lnSpc>
            </a:pPr>
            <a:r>
              <a:rPr lang="pt-BR" sz="3674" b="1" spc="-99" noProof="0" dirty="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01</a:t>
            </a:r>
          </a:p>
          <a:p>
            <a:pPr algn="r">
              <a:lnSpc>
                <a:spcPts val="5732"/>
              </a:lnSpc>
            </a:pPr>
            <a:r>
              <a:rPr lang="pt-BR" sz="3674" b="1" spc="-99" noProof="0" dirty="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02</a:t>
            </a:r>
          </a:p>
          <a:p>
            <a:pPr algn="r">
              <a:lnSpc>
                <a:spcPts val="5732"/>
              </a:lnSpc>
            </a:pPr>
            <a:r>
              <a:rPr lang="pt-BR" sz="3674" b="1" spc="-99" noProof="0" dirty="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03</a:t>
            </a:r>
          </a:p>
          <a:p>
            <a:pPr algn="r">
              <a:lnSpc>
                <a:spcPts val="5732"/>
              </a:lnSpc>
            </a:pPr>
            <a:r>
              <a:rPr lang="pt-BR" sz="3674" b="1" spc="-99" noProof="0" dirty="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04</a:t>
            </a:r>
          </a:p>
          <a:p>
            <a:pPr algn="r">
              <a:lnSpc>
                <a:spcPts val="5732"/>
              </a:lnSpc>
            </a:pPr>
            <a:r>
              <a:rPr lang="pt-BR" sz="3674" b="1" spc="-99" noProof="0" dirty="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05</a:t>
            </a:r>
          </a:p>
          <a:p>
            <a:pPr marL="0" lvl="0" indent="0" algn="r">
              <a:lnSpc>
                <a:spcPts val="5732"/>
              </a:lnSpc>
            </a:pPr>
            <a:r>
              <a:rPr lang="pt-BR" sz="3674" b="1" spc="-99" dirty="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06</a:t>
            </a:r>
            <a:endParaRPr lang="pt-BR" sz="3674" b="1" spc="-99" noProof="0" dirty="0">
              <a:solidFill>
                <a:srgbClr val="000000"/>
              </a:solidFill>
              <a:latin typeface="Arial MT Pro Bold"/>
              <a:ea typeface="Arial MT Pro Bold"/>
              <a:cs typeface="Arial MT Pro Bold"/>
              <a:sym typeface="Arial MT Pro Bold"/>
            </a:endParaRPr>
          </a:p>
          <a:p>
            <a:pPr marL="0" lvl="0" indent="0" algn="r">
              <a:lnSpc>
                <a:spcPts val="5732"/>
              </a:lnSpc>
            </a:pPr>
            <a:r>
              <a:rPr lang="pt-BR" sz="3674" b="1" spc="-99" noProof="0" dirty="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6720725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4FD1DE-208E-315F-9046-2ABB23B64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B649D46-4457-8348-E29C-9B5AAC70719A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pt-BR" noProof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ACC98CEE-6DB6-30EE-E87E-32EAEBDF92E6}"/>
              </a:ext>
            </a:extLst>
          </p:cNvPr>
          <p:cNvSpPr/>
          <p:nvPr/>
        </p:nvSpPr>
        <p:spPr>
          <a:xfrm rot="-7580195">
            <a:off x="14295836" y="-2703698"/>
            <a:ext cx="8344483" cy="8344483"/>
          </a:xfrm>
          <a:custGeom>
            <a:avLst/>
            <a:gdLst/>
            <a:ahLst/>
            <a:cxnLst/>
            <a:rect l="l" t="t" r="r" b="b"/>
            <a:pathLst>
              <a:path w="8344483" h="8344483">
                <a:moveTo>
                  <a:pt x="0" y="0"/>
                </a:moveTo>
                <a:lnTo>
                  <a:pt x="8344483" y="0"/>
                </a:lnTo>
                <a:lnTo>
                  <a:pt x="8344483" y="8344483"/>
                </a:lnTo>
                <a:lnTo>
                  <a:pt x="0" y="83444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 noProof="0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8E87A478-A19A-C37C-3624-8911378D31E1}"/>
              </a:ext>
            </a:extLst>
          </p:cNvPr>
          <p:cNvSpPr/>
          <p:nvPr/>
        </p:nvSpPr>
        <p:spPr>
          <a:xfrm>
            <a:off x="13743336" y="2570964"/>
            <a:ext cx="3015432" cy="3015432"/>
          </a:xfrm>
          <a:custGeom>
            <a:avLst/>
            <a:gdLst/>
            <a:ahLst/>
            <a:cxnLst/>
            <a:rect l="l" t="t" r="r" b="b"/>
            <a:pathLst>
              <a:path w="3015432" h="3015432">
                <a:moveTo>
                  <a:pt x="0" y="0"/>
                </a:moveTo>
                <a:lnTo>
                  <a:pt x="3015433" y="0"/>
                </a:lnTo>
                <a:lnTo>
                  <a:pt x="3015433" y="3015432"/>
                </a:lnTo>
                <a:lnTo>
                  <a:pt x="0" y="30154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 noProof="0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4BDBE4E8-0EE3-A913-69E1-5FDBD3E09A3B}"/>
              </a:ext>
            </a:extLst>
          </p:cNvPr>
          <p:cNvSpPr txBox="1"/>
          <p:nvPr/>
        </p:nvSpPr>
        <p:spPr>
          <a:xfrm>
            <a:off x="12634960" y="5882732"/>
            <a:ext cx="5043440" cy="18641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pt-BR" sz="5400" b="1" kern="100" noProof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Por que falar de testes com IA?</a:t>
            </a:r>
            <a:endParaRPr lang="pt-BR" sz="5400" kern="100" noProof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EC0D6E39-7617-17D0-A61A-B9B38C5AEA9F}"/>
              </a:ext>
            </a:extLst>
          </p:cNvPr>
          <p:cNvSpPr txBox="1"/>
          <p:nvPr/>
        </p:nvSpPr>
        <p:spPr>
          <a:xfrm>
            <a:off x="1427739" y="1739149"/>
            <a:ext cx="6933264" cy="12856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590"/>
              </a:lnSpc>
              <a:spcBef>
                <a:spcPct val="0"/>
              </a:spcBef>
            </a:pPr>
            <a:r>
              <a:rPr lang="pt-BR" sz="10312" b="1" spc="-721" noProof="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Cenário</a:t>
            </a:r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5A0B4B64-8261-D316-07BF-AA0BDE9308C0}"/>
              </a:ext>
            </a:extLst>
          </p:cNvPr>
          <p:cNvSpPr/>
          <p:nvPr/>
        </p:nvSpPr>
        <p:spPr>
          <a:xfrm>
            <a:off x="1236620" y="3019720"/>
            <a:ext cx="6204398" cy="0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 noProof="0"/>
          </a:p>
        </p:txBody>
      </p:sp>
      <p:grpSp>
        <p:nvGrpSpPr>
          <p:cNvPr id="9" name="Agrupar 8">
            <a:extLst>
              <a:ext uri="{FF2B5EF4-FFF2-40B4-BE49-F238E27FC236}">
                <a16:creationId xmlns:a16="http://schemas.microsoft.com/office/drawing/2014/main" id="{2A63EF13-94F6-FFAB-E1F0-08F07943793B}"/>
              </a:ext>
            </a:extLst>
          </p:cNvPr>
          <p:cNvGrpSpPr/>
          <p:nvPr/>
        </p:nvGrpSpPr>
        <p:grpSpPr>
          <a:xfrm>
            <a:off x="817076" y="3535577"/>
            <a:ext cx="9277220" cy="1780478"/>
            <a:chOff x="1266086" y="1312347"/>
            <a:chExt cx="9277220" cy="1780478"/>
          </a:xfrm>
        </p:grpSpPr>
        <p:sp>
          <p:nvSpPr>
            <p:cNvPr id="10" name="TextBox 3">
              <a:extLst>
                <a:ext uri="{FF2B5EF4-FFF2-40B4-BE49-F238E27FC236}">
                  <a16:creationId xmlns:a16="http://schemas.microsoft.com/office/drawing/2014/main" id="{5FDDD3DE-8D1F-A755-65C8-15D78B6756A1}"/>
                </a:ext>
              </a:extLst>
            </p:cNvPr>
            <p:cNvSpPr txBox="1"/>
            <p:nvPr/>
          </p:nvSpPr>
          <p:spPr>
            <a:xfrm>
              <a:off x="2036467" y="2073507"/>
              <a:ext cx="6142683" cy="101931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0">
                <a:lnSpc>
                  <a:spcPts val="4060"/>
                </a:lnSpc>
              </a:pPr>
              <a:r>
                <a:rPr lang="pt-BR" sz="2800" kern="100" noProof="0"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rPr>
                <a:t>A arquitetura moderna exige validações que superam a capacidade manual</a:t>
              </a:r>
              <a:endParaRPr lang="pt-BR" sz="2900" noProof="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endParaRPr>
            </a:p>
          </p:txBody>
        </p:sp>
        <p:sp>
          <p:nvSpPr>
            <p:cNvPr id="11" name="TextBox 4">
              <a:extLst>
                <a:ext uri="{FF2B5EF4-FFF2-40B4-BE49-F238E27FC236}">
                  <a16:creationId xmlns:a16="http://schemas.microsoft.com/office/drawing/2014/main" id="{B0A43E4A-6032-1EFC-CD34-BEDDF7592647}"/>
                </a:ext>
              </a:extLst>
            </p:cNvPr>
            <p:cNvSpPr txBox="1"/>
            <p:nvPr/>
          </p:nvSpPr>
          <p:spPr>
            <a:xfrm>
              <a:off x="2248894" y="1322031"/>
              <a:ext cx="8294412" cy="50013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3905"/>
                </a:lnSpc>
              </a:pPr>
              <a:r>
                <a:rPr lang="pt-BR" sz="3550" b="1" noProof="0">
                  <a:solidFill>
                    <a:srgbClr val="000000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Crescimento de sistemas complexos</a:t>
              </a:r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1743FE61-3400-3933-FA6D-F2CF943A5E87}"/>
                </a:ext>
              </a:extLst>
            </p:cNvPr>
            <p:cNvSpPr/>
            <p:nvPr/>
          </p:nvSpPr>
          <p:spPr>
            <a:xfrm>
              <a:off x="1266086" y="1312347"/>
              <a:ext cx="707209" cy="655006"/>
            </a:xfrm>
            <a:custGeom>
              <a:avLst/>
              <a:gdLst/>
              <a:ahLst/>
              <a:cxnLst/>
              <a:rect l="l" t="t" r="r" b="b"/>
              <a:pathLst>
                <a:path w="707209" h="655006">
                  <a:moveTo>
                    <a:pt x="0" y="0"/>
                  </a:moveTo>
                  <a:lnTo>
                    <a:pt x="707209" y="0"/>
                  </a:lnTo>
                  <a:lnTo>
                    <a:pt x="707209" y="655005"/>
                  </a:lnTo>
                  <a:lnTo>
                    <a:pt x="0" y="655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 noProof="0"/>
            </a:p>
          </p:txBody>
        </p:sp>
      </p:grp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64B3FC69-5D08-C188-DF4A-B7FD0D987DD6}"/>
              </a:ext>
            </a:extLst>
          </p:cNvPr>
          <p:cNvGrpSpPr/>
          <p:nvPr/>
        </p:nvGrpSpPr>
        <p:grpSpPr>
          <a:xfrm>
            <a:off x="817076" y="5586396"/>
            <a:ext cx="9277220" cy="1727771"/>
            <a:chOff x="1266086" y="1312347"/>
            <a:chExt cx="9277220" cy="1727771"/>
          </a:xfrm>
        </p:grpSpPr>
        <p:sp>
          <p:nvSpPr>
            <p:cNvPr id="14" name="TextBox 3">
              <a:extLst>
                <a:ext uri="{FF2B5EF4-FFF2-40B4-BE49-F238E27FC236}">
                  <a16:creationId xmlns:a16="http://schemas.microsoft.com/office/drawing/2014/main" id="{62940B6E-379B-E55D-9D8C-DC5B943BCB2C}"/>
                </a:ext>
              </a:extLst>
            </p:cNvPr>
            <p:cNvSpPr txBox="1"/>
            <p:nvPr/>
          </p:nvSpPr>
          <p:spPr>
            <a:xfrm>
              <a:off x="2036467" y="2073507"/>
              <a:ext cx="7251743" cy="96661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0">
                <a:lnSpc>
                  <a:spcPct val="115000"/>
                </a:lnSpc>
                <a:spcAft>
                  <a:spcPts val="800"/>
                </a:spcAft>
                <a:buSzPts val="1000"/>
                <a:tabLst>
                  <a:tab pos="457200" algn="l"/>
                </a:tabLst>
              </a:pPr>
              <a:r>
                <a:rPr lang="pt-BR" sz="2800" kern="100" noProof="0"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rPr>
                <a:t>Falhas críticas impactam diretamente a receita e a experiência do usuário.</a:t>
              </a:r>
            </a:p>
          </p:txBody>
        </p:sp>
        <p:sp>
          <p:nvSpPr>
            <p:cNvPr id="15" name="TextBox 4">
              <a:extLst>
                <a:ext uri="{FF2B5EF4-FFF2-40B4-BE49-F238E27FC236}">
                  <a16:creationId xmlns:a16="http://schemas.microsoft.com/office/drawing/2014/main" id="{530F5665-E505-F072-7E01-7664FE589DEF}"/>
                </a:ext>
              </a:extLst>
            </p:cNvPr>
            <p:cNvSpPr txBox="1"/>
            <p:nvPr/>
          </p:nvSpPr>
          <p:spPr>
            <a:xfrm>
              <a:off x="2248894" y="1322031"/>
              <a:ext cx="8294412" cy="50013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3905"/>
                </a:lnSpc>
              </a:pPr>
              <a:r>
                <a:rPr lang="pt-BR" sz="3600" b="1" kern="100" noProof="0"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rPr>
                <a:t>Aumento de Bugs em Produção </a:t>
              </a:r>
              <a:endParaRPr lang="pt-BR" sz="3550" b="1" noProof="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endParaRPr>
            </a:p>
          </p:txBody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1D8F836F-A658-E867-4F48-1C00D5469B99}"/>
                </a:ext>
              </a:extLst>
            </p:cNvPr>
            <p:cNvSpPr/>
            <p:nvPr/>
          </p:nvSpPr>
          <p:spPr>
            <a:xfrm>
              <a:off x="1266086" y="1312347"/>
              <a:ext cx="707209" cy="655006"/>
            </a:xfrm>
            <a:custGeom>
              <a:avLst/>
              <a:gdLst/>
              <a:ahLst/>
              <a:cxnLst/>
              <a:rect l="l" t="t" r="r" b="b"/>
              <a:pathLst>
                <a:path w="707209" h="655006">
                  <a:moveTo>
                    <a:pt x="0" y="0"/>
                  </a:moveTo>
                  <a:lnTo>
                    <a:pt x="707209" y="0"/>
                  </a:lnTo>
                  <a:lnTo>
                    <a:pt x="707209" y="655005"/>
                  </a:lnTo>
                  <a:lnTo>
                    <a:pt x="0" y="655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 noProof="0"/>
            </a:p>
          </p:txBody>
        </p:sp>
      </p:grpSp>
      <p:grpSp>
        <p:nvGrpSpPr>
          <p:cNvPr id="17" name="Agrupar 16">
            <a:extLst>
              <a:ext uri="{FF2B5EF4-FFF2-40B4-BE49-F238E27FC236}">
                <a16:creationId xmlns:a16="http://schemas.microsoft.com/office/drawing/2014/main" id="{AD4816E9-29C2-C0D1-6198-5BA3CF839ED8}"/>
              </a:ext>
            </a:extLst>
          </p:cNvPr>
          <p:cNvGrpSpPr/>
          <p:nvPr/>
        </p:nvGrpSpPr>
        <p:grpSpPr>
          <a:xfrm>
            <a:off x="817076" y="7691272"/>
            <a:ext cx="9774724" cy="1232251"/>
            <a:chOff x="1266086" y="1312347"/>
            <a:chExt cx="9774724" cy="1232251"/>
          </a:xfrm>
        </p:grpSpPr>
        <p:sp>
          <p:nvSpPr>
            <p:cNvPr id="18" name="TextBox 3">
              <a:extLst>
                <a:ext uri="{FF2B5EF4-FFF2-40B4-BE49-F238E27FC236}">
                  <a16:creationId xmlns:a16="http://schemas.microsoft.com/office/drawing/2014/main" id="{179863CF-7DC3-2502-BB5E-7C4461434D82}"/>
                </a:ext>
              </a:extLst>
            </p:cNvPr>
            <p:cNvSpPr txBox="1"/>
            <p:nvPr/>
          </p:nvSpPr>
          <p:spPr>
            <a:xfrm>
              <a:off x="2036467" y="2073507"/>
              <a:ext cx="9004343" cy="47109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0">
                <a:lnSpc>
                  <a:spcPct val="115000"/>
                </a:lnSpc>
                <a:spcAft>
                  <a:spcPts val="800"/>
                </a:spcAft>
                <a:buSzPts val="1000"/>
                <a:tabLst>
                  <a:tab pos="457200" algn="l"/>
                </a:tabLst>
              </a:pPr>
              <a:r>
                <a:rPr lang="pt-BR" sz="2800" kern="100" noProof="0"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rPr>
                <a:t>Ir além de scripts fixos para lidar com interfaces dinâmicas</a:t>
              </a:r>
            </a:p>
          </p:txBody>
        </p:sp>
        <p:sp>
          <p:nvSpPr>
            <p:cNvPr id="19" name="TextBox 4">
              <a:extLst>
                <a:ext uri="{FF2B5EF4-FFF2-40B4-BE49-F238E27FC236}">
                  <a16:creationId xmlns:a16="http://schemas.microsoft.com/office/drawing/2014/main" id="{1A5E027D-DF17-EDB9-ACC6-E6CD7426B0D6}"/>
                </a:ext>
              </a:extLst>
            </p:cNvPr>
            <p:cNvSpPr txBox="1"/>
            <p:nvPr/>
          </p:nvSpPr>
          <p:spPr>
            <a:xfrm>
              <a:off x="2248893" y="1322031"/>
              <a:ext cx="8626773" cy="50295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3905"/>
                </a:lnSpc>
              </a:pPr>
              <a:r>
                <a:rPr lang="pt-BR" sz="3600" b="1" kern="100" noProof="0"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rPr>
                <a:t>Necessidade de Automação Inteligente</a:t>
              </a:r>
              <a:endParaRPr lang="pt-BR" sz="3550" b="1" noProof="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endParaRPr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1CDA1EF6-C729-3267-2C4E-15CE227A133A}"/>
                </a:ext>
              </a:extLst>
            </p:cNvPr>
            <p:cNvSpPr/>
            <p:nvPr/>
          </p:nvSpPr>
          <p:spPr>
            <a:xfrm>
              <a:off x="1266086" y="1312347"/>
              <a:ext cx="707209" cy="655006"/>
            </a:xfrm>
            <a:custGeom>
              <a:avLst/>
              <a:gdLst/>
              <a:ahLst/>
              <a:cxnLst/>
              <a:rect l="l" t="t" r="r" b="b"/>
              <a:pathLst>
                <a:path w="707209" h="655006">
                  <a:moveTo>
                    <a:pt x="0" y="0"/>
                  </a:moveTo>
                  <a:lnTo>
                    <a:pt x="707209" y="0"/>
                  </a:lnTo>
                  <a:lnTo>
                    <a:pt x="707209" y="655005"/>
                  </a:lnTo>
                  <a:lnTo>
                    <a:pt x="0" y="655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 noProof="0"/>
            </a:p>
          </p:txBody>
        </p:sp>
      </p:grpSp>
    </p:spTree>
    <p:extLst>
      <p:ext uri="{BB962C8B-B14F-4D97-AF65-F5344CB8AC3E}">
        <p14:creationId xmlns:p14="http://schemas.microsoft.com/office/powerpoint/2010/main" val="1325145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D3DA9C-D6D3-BA7D-C4C1-4D38C9E97D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0D13E91-C893-7323-2A84-5A87E36250AD}"/>
              </a:ext>
            </a:extLst>
          </p:cNvPr>
          <p:cNvSpPr/>
          <p:nvPr/>
        </p:nvSpPr>
        <p:spPr>
          <a:xfrm>
            <a:off x="0" y="57624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pt-BR" noProof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4943ECB6-6C75-BA0C-89B3-AB87B3049D44}"/>
              </a:ext>
            </a:extLst>
          </p:cNvPr>
          <p:cNvSpPr/>
          <p:nvPr/>
        </p:nvSpPr>
        <p:spPr>
          <a:xfrm rot="-7580195">
            <a:off x="14295836" y="-2703698"/>
            <a:ext cx="8344483" cy="8344483"/>
          </a:xfrm>
          <a:custGeom>
            <a:avLst/>
            <a:gdLst/>
            <a:ahLst/>
            <a:cxnLst/>
            <a:rect l="l" t="t" r="r" b="b"/>
            <a:pathLst>
              <a:path w="8344483" h="8344483">
                <a:moveTo>
                  <a:pt x="0" y="0"/>
                </a:moveTo>
                <a:lnTo>
                  <a:pt x="8344483" y="0"/>
                </a:lnTo>
                <a:lnTo>
                  <a:pt x="8344483" y="8344483"/>
                </a:lnTo>
                <a:lnTo>
                  <a:pt x="0" y="83444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 noProof="0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52D245D7-5470-572C-D212-97F87952E746}"/>
              </a:ext>
            </a:extLst>
          </p:cNvPr>
          <p:cNvSpPr/>
          <p:nvPr/>
        </p:nvSpPr>
        <p:spPr>
          <a:xfrm>
            <a:off x="13743336" y="2570964"/>
            <a:ext cx="3015432" cy="3015432"/>
          </a:xfrm>
          <a:custGeom>
            <a:avLst/>
            <a:gdLst/>
            <a:ahLst/>
            <a:cxnLst/>
            <a:rect l="l" t="t" r="r" b="b"/>
            <a:pathLst>
              <a:path w="3015432" h="3015432">
                <a:moveTo>
                  <a:pt x="0" y="0"/>
                </a:moveTo>
                <a:lnTo>
                  <a:pt x="3015433" y="0"/>
                </a:lnTo>
                <a:lnTo>
                  <a:pt x="3015433" y="3015432"/>
                </a:lnTo>
                <a:lnTo>
                  <a:pt x="0" y="30154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 noProof="0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707714B7-0575-E430-AA50-451AE0EE5771}"/>
              </a:ext>
            </a:extLst>
          </p:cNvPr>
          <p:cNvSpPr txBox="1"/>
          <p:nvPr/>
        </p:nvSpPr>
        <p:spPr>
          <a:xfrm>
            <a:off x="12634960" y="5882732"/>
            <a:ext cx="5043440" cy="18641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pt-BR" sz="5400" b="1" kern="100" noProof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Por que falar de testes com IA?</a:t>
            </a:r>
            <a:endParaRPr lang="pt-BR" sz="5400" kern="100" noProof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D0505AE1-C846-2207-BC9C-35582FDC3CB8}"/>
              </a:ext>
            </a:extLst>
          </p:cNvPr>
          <p:cNvSpPr txBox="1"/>
          <p:nvPr/>
        </p:nvSpPr>
        <p:spPr>
          <a:xfrm>
            <a:off x="1427739" y="1739149"/>
            <a:ext cx="6933264" cy="12856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590"/>
              </a:lnSpc>
              <a:spcBef>
                <a:spcPct val="0"/>
              </a:spcBef>
            </a:pPr>
            <a:r>
              <a:rPr lang="pt-BR" sz="10312" b="1" spc="-721" noProof="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Cenário</a:t>
            </a:r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D90A90C8-80A1-E82A-B1EE-0FBF81CB23D4}"/>
              </a:ext>
            </a:extLst>
          </p:cNvPr>
          <p:cNvSpPr/>
          <p:nvPr/>
        </p:nvSpPr>
        <p:spPr>
          <a:xfrm>
            <a:off x="1236620" y="3019720"/>
            <a:ext cx="6204398" cy="0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 noProof="0"/>
          </a:p>
        </p:txBody>
      </p:sp>
      <p:grpSp>
        <p:nvGrpSpPr>
          <p:cNvPr id="9" name="Agrupar 8">
            <a:extLst>
              <a:ext uri="{FF2B5EF4-FFF2-40B4-BE49-F238E27FC236}">
                <a16:creationId xmlns:a16="http://schemas.microsoft.com/office/drawing/2014/main" id="{4855CA54-C3A8-016D-105A-43F869DB654C}"/>
              </a:ext>
            </a:extLst>
          </p:cNvPr>
          <p:cNvGrpSpPr/>
          <p:nvPr/>
        </p:nvGrpSpPr>
        <p:grpSpPr>
          <a:xfrm>
            <a:off x="817076" y="3535577"/>
            <a:ext cx="9277220" cy="2306263"/>
            <a:chOff x="1266086" y="1312347"/>
            <a:chExt cx="9277220" cy="2306263"/>
          </a:xfrm>
        </p:grpSpPr>
        <p:sp>
          <p:nvSpPr>
            <p:cNvPr id="10" name="TextBox 3">
              <a:extLst>
                <a:ext uri="{FF2B5EF4-FFF2-40B4-BE49-F238E27FC236}">
                  <a16:creationId xmlns:a16="http://schemas.microsoft.com/office/drawing/2014/main" id="{C95D6D7C-1FF9-1556-C7DC-DB312D5B52BD}"/>
                </a:ext>
              </a:extLst>
            </p:cNvPr>
            <p:cNvSpPr txBox="1"/>
            <p:nvPr/>
          </p:nvSpPr>
          <p:spPr>
            <a:xfrm>
              <a:off x="2036467" y="2073507"/>
              <a:ext cx="7785143" cy="154510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0" algn="ctr">
                <a:lnSpc>
                  <a:spcPts val="4060"/>
                </a:lnSpc>
              </a:pPr>
              <a:r>
                <a:rPr lang="pt-BR" sz="2800" kern="100" noProof="0"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rPr>
                <a:t>Empresas como </a:t>
              </a:r>
              <a:r>
                <a:rPr lang="pt-BR" sz="2800" b="1" kern="100" noProof="0"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rPr>
                <a:t>Google</a:t>
              </a:r>
              <a:r>
                <a:rPr lang="pt-BR" sz="2800" kern="100" noProof="0"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rPr>
                <a:t> e </a:t>
              </a:r>
              <a:r>
                <a:rPr lang="pt-BR" sz="2800" b="1" kern="100" noProof="0"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rPr>
                <a:t>Microsoft</a:t>
              </a:r>
              <a:r>
                <a:rPr lang="pt-BR" sz="2800" kern="100" noProof="0"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rPr>
                <a:t> já utilizam modelos generativos para otimizar seus ciclos de entrega.</a:t>
              </a:r>
              <a:endParaRPr lang="pt-BR" sz="2900" noProof="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endParaRPr>
            </a:p>
          </p:txBody>
        </p:sp>
        <p:sp>
          <p:nvSpPr>
            <p:cNvPr id="11" name="TextBox 4">
              <a:extLst>
                <a:ext uri="{FF2B5EF4-FFF2-40B4-BE49-F238E27FC236}">
                  <a16:creationId xmlns:a16="http://schemas.microsoft.com/office/drawing/2014/main" id="{2141872B-433A-C46D-3626-25591A6A5F15}"/>
                </a:ext>
              </a:extLst>
            </p:cNvPr>
            <p:cNvSpPr txBox="1"/>
            <p:nvPr/>
          </p:nvSpPr>
          <p:spPr>
            <a:xfrm>
              <a:off x="2248894" y="1322031"/>
              <a:ext cx="8294412" cy="50013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3905"/>
                </a:lnSpc>
              </a:pPr>
              <a:r>
                <a:rPr lang="pt-BR" sz="3600" b="1" kern="100" noProof="0"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rPr>
                <a:t>Referência de Mercado</a:t>
              </a:r>
              <a:r>
                <a:rPr lang="pt-BR" sz="3550" b="1" noProof="0">
                  <a:solidFill>
                    <a:srgbClr val="000000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:</a:t>
              </a:r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B6AF636D-C8C4-5C93-CDC4-064B903EA564}"/>
                </a:ext>
              </a:extLst>
            </p:cNvPr>
            <p:cNvSpPr/>
            <p:nvPr/>
          </p:nvSpPr>
          <p:spPr>
            <a:xfrm>
              <a:off x="1266086" y="1312347"/>
              <a:ext cx="707209" cy="655006"/>
            </a:xfrm>
            <a:custGeom>
              <a:avLst/>
              <a:gdLst/>
              <a:ahLst/>
              <a:cxnLst/>
              <a:rect l="l" t="t" r="r" b="b"/>
              <a:pathLst>
                <a:path w="707209" h="655006">
                  <a:moveTo>
                    <a:pt x="0" y="0"/>
                  </a:moveTo>
                  <a:lnTo>
                    <a:pt x="707209" y="0"/>
                  </a:lnTo>
                  <a:lnTo>
                    <a:pt x="707209" y="655005"/>
                  </a:lnTo>
                  <a:lnTo>
                    <a:pt x="0" y="655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 noProof="0"/>
            </a:p>
          </p:txBody>
        </p:sp>
      </p:grpSp>
      <p:sp>
        <p:nvSpPr>
          <p:cNvPr id="4" name="Retângulo 3">
            <a:extLst>
              <a:ext uri="{FF2B5EF4-FFF2-40B4-BE49-F238E27FC236}">
                <a16:creationId xmlns:a16="http://schemas.microsoft.com/office/drawing/2014/main" id="{71ABBB2B-0FAF-C667-8597-BCC9F759BD72}"/>
              </a:ext>
            </a:extLst>
          </p:cNvPr>
          <p:cNvSpPr/>
          <p:nvPr/>
        </p:nvSpPr>
        <p:spPr>
          <a:xfrm>
            <a:off x="1427739" y="6819900"/>
            <a:ext cx="3468111" cy="21998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30746DE8-A1CC-5445-ADE1-0041FA88401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7629" y="6878672"/>
            <a:ext cx="3128329" cy="2082294"/>
          </a:xfrm>
          <a:prstGeom prst="rect">
            <a:avLst/>
          </a:prstGeom>
        </p:spPr>
      </p:pic>
      <p:sp>
        <p:nvSpPr>
          <p:cNvPr id="17" name="Retângulo 16">
            <a:extLst>
              <a:ext uri="{FF2B5EF4-FFF2-40B4-BE49-F238E27FC236}">
                <a16:creationId xmlns:a16="http://schemas.microsoft.com/office/drawing/2014/main" id="{766524CC-3F28-D79B-794E-FA9CA7F29EA3}"/>
              </a:ext>
            </a:extLst>
          </p:cNvPr>
          <p:cNvSpPr/>
          <p:nvPr/>
        </p:nvSpPr>
        <p:spPr>
          <a:xfrm>
            <a:off x="5904489" y="6814814"/>
            <a:ext cx="3468111" cy="219983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noProof="0" dirty="0"/>
          </a:p>
        </p:txBody>
      </p:sp>
      <p:pic>
        <p:nvPicPr>
          <p:cNvPr id="19" name="Imagem 18">
            <a:extLst>
              <a:ext uri="{FF2B5EF4-FFF2-40B4-BE49-F238E27FC236}">
                <a16:creationId xmlns:a16="http://schemas.microsoft.com/office/drawing/2014/main" id="{98E20738-5BAF-6293-4E7E-ABA62BF3B55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8759" y="6887394"/>
            <a:ext cx="2739569" cy="2054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9145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4AEDB-A997-5A2F-D1B8-7334B20B8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A444AE9-EB8A-6F0B-EB1A-0F9E5718D833}"/>
              </a:ext>
            </a:extLst>
          </p:cNvPr>
          <p:cNvGrpSpPr/>
          <p:nvPr/>
        </p:nvGrpSpPr>
        <p:grpSpPr>
          <a:xfrm>
            <a:off x="-764128" y="-548696"/>
            <a:ext cx="1792828" cy="11019359"/>
            <a:chOff x="0" y="0"/>
            <a:chExt cx="472185" cy="290221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422FE85-CEB9-CE74-8F92-68B8933B0278}"/>
                </a:ext>
              </a:extLst>
            </p:cNvPr>
            <p:cNvSpPr/>
            <p:nvPr/>
          </p:nvSpPr>
          <p:spPr>
            <a:xfrm>
              <a:off x="0" y="0"/>
              <a:ext cx="472185" cy="2902218"/>
            </a:xfrm>
            <a:custGeom>
              <a:avLst/>
              <a:gdLst/>
              <a:ahLst/>
              <a:cxnLst/>
              <a:rect l="l" t="t" r="r" b="b"/>
              <a:pathLst>
                <a:path w="472185" h="2902218">
                  <a:moveTo>
                    <a:pt x="0" y="0"/>
                  </a:moveTo>
                  <a:lnTo>
                    <a:pt x="472185" y="0"/>
                  </a:lnTo>
                  <a:lnTo>
                    <a:pt x="472185" y="2902218"/>
                  </a:lnTo>
                  <a:lnTo>
                    <a:pt x="0" y="290221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pt-BR" noProof="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D1C32715-4D19-95D7-803C-49D72733A1C6}"/>
                </a:ext>
              </a:extLst>
            </p:cNvPr>
            <p:cNvSpPr txBox="1"/>
            <p:nvPr/>
          </p:nvSpPr>
          <p:spPr>
            <a:xfrm>
              <a:off x="0" y="-76200"/>
              <a:ext cx="472185" cy="2978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lang="pt-BR" noProof="0"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937553B1-ED10-6F90-C5AF-07C1C4BC1C2A}"/>
              </a:ext>
            </a:extLst>
          </p:cNvPr>
          <p:cNvSpPr/>
          <p:nvPr/>
        </p:nvSpPr>
        <p:spPr>
          <a:xfrm rot="-10477754">
            <a:off x="13912687" y="-237062"/>
            <a:ext cx="7062925" cy="7062925"/>
          </a:xfrm>
          <a:custGeom>
            <a:avLst/>
            <a:gdLst/>
            <a:ahLst/>
            <a:cxnLst/>
            <a:rect l="l" t="t" r="r" b="b"/>
            <a:pathLst>
              <a:path w="7062925" h="7062925">
                <a:moveTo>
                  <a:pt x="0" y="0"/>
                </a:moveTo>
                <a:lnTo>
                  <a:pt x="7062925" y="0"/>
                </a:lnTo>
                <a:lnTo>
                  <a:pt x="7062925" y="7062925"/>
                </a:lnTo>
                <a:lnTo>
                  <a:pt x="0" y="70629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 noProof="0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614E769B-B3AF-392E-BAC7-506D55B77417}"/>
              </a:ext>
            </a:extLst>
          </p:cNvPr>
          <p:cNvSpPr txBox="1"/>
          <p:nvPr/>
        </p:nvSpPr>
        <p:spPr>
          <a:xfrm>
            <a:off x="2024847" y="3488044"/>
            <a:ext cx="4645128" cy="52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099"/>
              </a:lnSpc>
            </a:pPr>
            <a:r>
              <a:rPr lang="pt-BR" sz="3700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</a:rPr>
              <a:t>Limitações </a:t>
            </a:r>
            <a:endParaRPr lang="pt-BR" sz="3700" b="1" noProof="0">
              <a:solidFill>
                <a:srgbClr val="000000"/>
              </a:solidFill>
              <a:latin typeface="Arial MT Pro Bold"/>
              <a:ea typeface="Arial MT Pro Bold"/>
              <a:cs typeface="Arial MT Pro Bold"/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A82912E5-5223-D83B-4702-B6C7C20F575F}"/>
              </a:ext>
            </a:extLst>
          </p:cNvPr>
          <p:cNvSpPr txBox="1"/>
          <p:nvPr/>
        </p:nvSpPr>
        <p:spPr>
          <a:xfrm>
            <a:off x="8991600" y="1616710"/>
            <a:ext cx="8884030" cy="12856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9590"/>
              </a:lnSpc>
              <a:spcBef>
                <a:spcPct val="0"/>
              </a:spcBef>
            </a:pPr>
            <a:r>
              <a:rPr lang="pt-BR" sz="10312" b="1" spc="-721" noProof="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Problema Atual </a:t>
            </a:r>
          </a:p>
        </p:txBody>
      </p:sp>
      <p:sp>
        <p:nvSpPr>
          <p:cNvPr id="9" name="AutoShape 9">
            <a:extLst>
              <a:ext uri="{FF2B5EF4-FFF2-40B4-BE49-F238E27FC236}">
                <a16:creationId xmlns:a16="http://schemas.microsoft.com/office/drawing/2014/main" id="{D05A4BEE-E490-D51D-8ACC-8F160CCC18F6}"/>
              </a:ext>
            </a:extLst>
          </p:cNvPr>
          <p:cNvSpPr/>
          <p:nvPr/>
        </p:nvSpPr>
        <p:spPr>
          <a:xfrm>
            <a:off x="9601200" y="2864283"/>
            <a:ext cx="6204398" cy="0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 noProof="0"/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5BC9C4BE-F23D-D8E8-01D5-EDDFEED8CC67}"/>
              </a:ext>
            </a:extLst>
          </p:cNvPr>
          <p:cNvGrpSpPr/>
          <p:nvPr/>
        </p:nvGrpSpPr>
        <p:grpSpPr>
          <a:xfrm>
            <a:off x="1528581" y="4983756"/>
            <a:ext cx="15230838" cy="1968478"/>
            <a:chOff x="1266086" y="1312347"/>
            <a:chExt cx="15230838" cy="1968478"/>
          </a:xfrm>
        </p:grpSpPr>
        <p:sp>
          <p:nvSpPr>
            <p:cNvPr id="13" name="TextBox 3">
              <a:extLst>
                <a:ext uri="{FF2B5EF4-FFF2-40B4-BE49-F238E27FC236}">
                  <a16:creationId xmlns:a16="http://schemas.microsoft.com/office/drawing/2014/main" id="{064A8371-0203-A29D-235D-5A1B9960FD1F}"/>
                </a:ext>
              </a:extLst>
            </p:cNvPr>
            <p:cNvSpPr txBox="1"/>
            <p:nvPr/>
          </p:nvSpPr>
          <p:spPr>
            <a:xfrm>
              <a:off x="2036467" y="2073507"/>
              <a:ext cx="14460457" cy="12073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ct val="114999"/>
                </a:lnSpc>
                <a:spcAft>
                  <a:spcPts val="800"/>
                </a:spcAft>
                <a:tabLst>
                  <a:tab pos="457200" algn="l"/>
                </a:tabLst>
              </a:pPr>
              <a:r>
                <a:rPr lang="pt-BR" sz="3200" kern="100">
                  <a:latin typeface="Calibri"/>
                  <a:ea typeface="Calibri"/>
                  <a:cs typeface="Calibri"/>
                </a:rPr>
                <a:t>Criação e execução de testes exigem muito tempo </a:t>
              </a:r>
              <a:r>
                <a:rPr lang="pt-BR" sz="3200" kern="100" noProof="0">
                  <a:latin typeface="Calibri"/>
                  <a:ea typeface="Calibri"/>
                  <a:cs typeface="Calibri"/>
                </a:rPr>
                <a:t>e </a:t>
              </a:r>
              <a:r>
                <a:rPr lang="pt-BR" sz="3200" kern="100">
                  <a:latin typeface="Calibri"/>
                  <a:ea typeface="Calibri"/>
                  <a:cs typeface="Calibri"/>
                </a:rPr>
                <a:t>trabalho manual</a:t>
              </a:r>
              <a:r>
                <a:rPr lang="pt-BR" sz="3200" kern="100" noProof="0">
                  <a:latin typeface="Calibri"/>
                  <a:ea typeface="Calibri"/>
                  <a:cs typeface="Calibri"/>
                </a:rPr>
                <a:t>.</a:t>
              </a:r>
              <a:endParaRPr lang="pt-BR" sz="3200" kern="100">
                <a:latin typeface="Calibri"/>
                <a:ea typeface="Calibri"/>
                <a:cs typeface="Calibri"/>
              </a:endParaRPr>
            </a:p>
            <a:p>
              <a:pPr lvl="0">
                <a:lnSpc>
                  <a:spcPct val="114999"/>
                </a:lnSpc>
                <a:spcAft>
                  <a:spcPts val="800"/>
                </a:spcAft>
                <a:buSzPts val="1000"/>
                <a:tabLst>
                  <a:tab pos="457200" algn="l"/>
                </a:tabLst>
              </a:pPr>
              <a:endParaRPr lang="pt-BR" sz="3200" kern="100" noProof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TextBox 4">
              <a:extLst>
                <a:ext uri="{FF2B5EF4-FFF2-40B4-BE49-F238E27FC236}">
                  <a16:creationId xmlns:a16="http://schemas.microsoft.com/office/drawing/2014/main" id="{3B5F73B4-7A15-D872-4206-C306AC3F25BC}"/>
                </a:ext>
              </a:extLst>
            </p:cNvPr>
            <p:cNvSpPr txBox="1"/>
            <p:nvPr/>
          </p:nvSpPr>
          <p:spPr>
            <a:xfrm>
              <a:off x="2248894" y="1322031"/>
              <a:ext cx="5396449" cy="96045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904"/>
                </a:lnSpc>
              </a:pPr>
              <a:r>
                <a:rPr lang="pt-BR" sz="2400" b="1" kern="100" dirty="0">
                  <a:solidFill>
                    <a:srgbClr val="000000"/>
                  </a:solidFill>
                  <a:latin typeface="Aptos"/>
                  <a:ea typeface="Arial MT Pro Bold"/>
                  <a:cs typeface="Times New Roman" panose="02020603050405020304" pitchFamily="18" charset="0"/>
                  <a:sym typeface="Arial MT Pro Bold"/>
                </a:rPr>
                <a:t>Dependência de esforço humano </a:t>
              </a:r>
              <a:endParaRPr lang="en-US" sz="2400" kern="100" dirty="0">
                <a:solidFill>
                  <a:srgbClr val="000000"/>
                </a:solidFill>
                <a:latin typeface="Aptos"/>
                <a:ea typeface="Arial MT Pro Bold"/>
                <a:cs typeface="Times New Roman" panose="02020603050405020304" pitchFamily="18" charset="0"/>
                <a:sym typeface="Arial MT Pro Bold"/>
              </a:endParaRPr>
            </a:p>
            <a:p>
              <a:pPr>
                <a:lnSpc>
                  <a:spcPts val="3904"/>
                </a:lnSpc>
              </a:pPr>
              <a:endParaRPr lang="pt-BR" sz="2400" b="1" kern="100" noProof="0" dirty="0">
                <a:solidFill>
                  <a:srgbClr val="000000"/>
                </a:solidFill>
                <a:latin typeface="Aptos"/>
                <a:ea typeface="Arial MT Pro Bold"/>
                <a:cs typeface="Times New Roman"/>
              </a:endParaRPr>
            </a:p>
          </p:txBody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40FC394B-F983-917C-82FA-A57076802231}"/>
                </a:ext>
              </a:extLst>
            </p:cNvPr>
            <p:cNvSpPr/>
            <p:nvPr/>
          </p:nvSpPr>
          <p:spPr>
            <a:xfrm>
              <a:off x="1266086" y="1312347"/>
              <a:ext cx="707209" cy="655006"/>
            </a:xfrm>
            <a:custGeom>
              <a:avLst/>
              <a:gdLst/>
              <a:ahLst/>
              <a:cxnLst/>
              <a:rect l="l" t="t" r="r" b="b"/>
              <a:pathLst>
                <a:path w="707209" h="655006">
                  <a:moveTo>
                    <a:pt x="0" y="0"/>
                  </a:moveTo>
                  <a:lnTo>
                    <a:pt x="707209" y="0"/>
                  </a:lnTo>
                  <a:lnTo>
                    <a:pt x="707209" y="655005"/>
                  </a:lnTo>
                  <a:lnTo>
                    <a:pt x="0" y="655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 sz="1600" noProof="0"/>
            </a:p>
          </p:txBody>
        </p:sp>
      </p:grp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D5385937-565C-B474-A265-99EC45C9AADC}"/>
              </a:ext>
            </a:extLst>
          </p:cNvPr>
          <p:cNvGrpSpPr/>
          <p:nvPr/>
        </p:nvGrpSpPr>
        <p:grpSpPr>
          <a:xfrm>
            <a:off x="1528581" y="6754914"/>
            <a:ext cx="15230838" cy="1794969"/>
            <a:chOff x="1266086" y="1312347"/>
            <a:chExt cx="15230838" cy="1794969"/>
          </a:xfrm>
        </p:grpSpPr>
        <p:sp>
          <p:nvSpPr>
            <p:cNvPr id="19" name="TextBox 3">
              <a:extLst>
                <a:ext uri="{FF2B5EF4-FFF2-40B4-BE49-F238E27FC236}">
                  <a16:creationId xmlns:a16="http://schemas.microsoft.com/office/drawing/2014/main" id="{12D7A995-6A93-CAB4-7C7E-93885E1C7C38}"/>
                </a:ext>
              </a:extLst>
            </p:cNvPr>
            <p:cNvSpPr txBox="1"/>
            <p:nvPr/>
          </p:nvSpPr>
          <p:spPr>
            <a:xfrm>
              <a:off x="2036467" y="2073507"/>
              <a:ext cx="14460457" cy="10338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060"/>
                </a:lnSpc>
              </a:pPr>
              <a:r>
                <a:rPr lang="pt-BR" sz="3200" kern="100">
                  <a:latin typeface="Calibri"/>
                  <a:ea typeface="Calibri"/>
                  <a:cs typeface="Calibri"/>
                </a:rPr>
                <a:t>Identificar erros manualmente em grandes volumes </a:t>
              </a:r>
              <a:r>
                <a:rPr lang="pt-BR" sz="3200" kern="100" noProof="0">
                  <a:latin typeface="Calibri"/>
                  <a:ea typeface="Calibri"/>
                  <a:cs typeface="Calibri"/>
                </a:rPr>
                <a:t>de </a:t>
              </a:r>
              <a:r>
                <a:rPr lang="pt-BR" sz="3200" kern="100">
                  <a:latin typeface="Calibri"/>
                  <a:ea typeface="Calibri"/>
                  <a:cs typeface="Calibri"/>
                </a:rPr>
                <a:t>dados é demorado</a:t>
              </a:r>
              <a:r>
                <a:rPr lang="pt-BR" sz="3200" kern="100" noProof="0">
                  <a:latin typeface="Calibri"/>
                  <a:ea typeface="Calibri"/>
                  <a:cs typeface="Calibri"/>
                </a:rPr>
                <a:t>.</a:t>
              </a:r>
              <a:endParaRPr lang="pt-BR" sz="3200" kern="100">
                <a:latin typeface="Calibri"/>
                <a:ea typeface="Calibri"/>
                <a:cs typeface="Calibri"/>
              </a:endParaRPr>
            </a:p>
            <a:p>
              <a:pPr>
                <a:lnSpc>
                  <a:spcPts val="4060"/>
                </a:lnSpc>
              </a:pPr>
              <a:endParaRPr lang="pt-BR" sz="3200" kern="100" noProof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TextBox 4">
              <a:extLst>
                <a:ext uri="{FF2B5EF4-FFF2-40B4-BE49-F238E27FC236}">
                  <a16:creationId xmlns:a16="http://schemas.microsoft.com/office/drawing/2014/main" id="{67D9503D-A033-A5B8-8B83-9637D0736E95}"/>
                </a:ext>
              </a:extLst>
            </p:cNvPr>
            <p:cNvSpPr txBox="1"/>
            <p:nvPr/>
          </p:nvSpPr>
          <p:spPr>
            <a:xfrm>
              <a:off x="2248894" y="1322031"/>
              <a:ext cx="5396449" cy="96045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904"/>
                </a:lnSpc>
              </a:pPr>
              <a:r>
                <a:rPr lang="pt-BR" sz="2400" kern="1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Arial MT Pro Bold"/>
                </a:rPr>
                <a:t>Análise de logs lenta</a:t>
              </a:r>
            </a:p>
            <a:p>
              <a:pPr>
                <a:lnSpc>
                  <a:spcPts val="3904"/>
                </a:lnSpc>
              </a:pPr>
              <a:endParaRPr lang="pt-BR" sz="2400" b="1" kern="100" noProof="0">
                <a:solidFill>
                  <a:srgbClr val="000000"/>
                </a:solidFill>
                <a:latin typeface="Aptos"/>
                <a:ea typeface="Arial MT Pro Bold"/>
                <a:cs typeface="Times New Roman"/>
              </a:endParaRPr>
            </a:p>
          </p:txBody>
        </p:sp>
        <p:sp>
          <p:nvSpPr>
            <p:cNvPr id="21" name="Freeform 8">
              <a:extLst>
                <a:ext uri="{FF2B5EF4-FFF2-40B4-BE49-F238E27FC236}">
                  <a16:creationId xmlns:a16="http://schemas.microsoft.com/office/drawing/2014/main" id="{E7382AA9-E65C-BAE7-71EF-F7121F9C2065}"/>
                </a:ext>
              </a:extLst>
            </p:cNvPr>
            <p:cNvSpPr/>
            <p:nvPr/>
          </p:nvSpPr>
          <p:spPr>
            <a:xfrm>
              <a:off x="1266086" y="1312347"/>
              <a:ext cx="707209" cy="655006"/>
            </a:xfrm>
            <a:custGeom>
              <a:avLst/>
              <a:gdLst/>
              <a:ahLst/>
              <a:cxnLst/>
              <a:rect l="l" t="t" r="r" b="b"/>
              <a:pathLst>
                <a:path w="707209" h="655006">
                  <a:moveTo>
                    <a:pt x="0" y="0"/>
                  </a:moveTo>
                  <a:lnTo>
                    <a:pt x="707209" y="0"/>
                  </a:lnTo>
                  <a:lnTo>
                    <a:pt x="707209" y="655005"/>
                  </a:lnTo>
                  <a:lnTo>
                    <a:pt x="0" y="655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 sz="1600" noProof="0"/>
            </a:p>
          </p:txBody>
        </p:sp>
      </p:grpSp>
      <p:grpSp>
        <p:nvGrpSpPr>
          <p:cNvPr id="17" name="Agrupar 16">
            <a:extLst>
              <a:ext uri="{FF2B5EF4-FFF2-40B4-BE49-F238E27FC236}">
                <a16:creationId xmlns:a16="http://schemas.microsoft.com/office/drawing/2014/main" id="{853AED91-8065-0D9B-CAF8-A8B5296683F3}"/>
              </a:ext>
            </a:extLst>
          </p:cNvPr>
          <p:cNvGrpSpPr/>
          <p:nvPr/>
        </p:nvGrpSpPr>
        <p:grpSpPr>
          <a:xfrm>
            <a:off x="1530019" y="8543589"/>
            <a:ext cx="15230838" cy="1299577"/>
            <a:chOff x="1266086" y="1312347"/>
            <a:chExt cx="15230838" cy="1299577"/>
          </a:xfrm>
        </p:grpSpPr>
        <p:sp>
          <p:nvSpPr>
            <p:cNvPr id="10" name="TextBox 3">
              <a:extLst>
                <a:ext uri="{FF2B5EF4-FFF2-40B4-BE49-F238E27FC236}">
                  <a16:creationId xmlns:a16="http://schemas.microsoft.com/office/drawing/2014/main" id="{2AC30D04-A66A-81B0-4743-0FFA81B95584}"/>
                </a:ext>
              </a:extLst>
            </p:cNvPr>
            <p:cNvSpPr txBox="1"/>
            <p:nvPr/>
          </p:nvSpPr>
          <p:spPr>
            <a:xfrm>
              <a:off x="2036467" y="2073507"/>
              <a:ext cx="14460457" cy="5384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ct val="114999"/>
                </a:lnSpc>
                <a:spcAft>
                  <a:spcPts val="800"/>
                </a:spcAft>
                <a:tabLst>
                  <a:tab pos="457200" algn="l"/>
                </a:tabLst>
              </a:pPr>
              <a:r>
                <a:rPr lang="pt-BR" sz="3200" kern="100">
                  <a:ea typeface="+mn-lt"/>
                  <a:cs typeface="+mn-lt"/>
                </a:rPr>
                <a:t>Nem todos os cenários são testados, aumentando o risco de falhas</a:t>
              </a:r>
              <a:r>
                <a:rPr lang="pt-BR" sz="3200" kern="100" noProof="0">
                  <a:ea typeface="+mn-lt"/>
                  <a:cs typeface="+mn-lt"/>
                </a:rPr>
                <a:t>.</a:t>
              </a:r>
              <a:endParaRPr lang="pt-BR">
                <a:ea typeface="+mn-lt"/>
                <a:cs typeface="+mn-lt"/>
              </a:endParaRPr>
            </a:p>
          </p:txBody>
        </p:sp>
        <p:sp>
          <p:nvSpPr>
            <p:cNvPr id="11" name="TextBox 4">
              <a:extLst>
                <a:ext uri="{FF2B5EF4-FFF2-40B4-BE49-F238E27FC236}">
                  <a16:creationId xmlns:a16="http://schemas.microsoft.com/office/drawing/2014/main" id="{521A8086-0473-5980-FF37-0F30531B53E7}"/>
                </a:ext>
              </a:extLst>
            </p:cNvPr>
            <p:cNvSpPr txBox="1"/>
            <p:nvPr/>
          </p:nvSpPr>
          <p:spPr>
            <a:xfrm>
              <a:off x="2248894" y="1322031"/>
              <a:ext cx="5396449" cy="4601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905"/>
                </a:lnSpc>
              </a:pPr>
              <a:r>
                <a:rPr lang="pt-BR" sz="2400" b="1" kern="100">
                  <a:solidFill>
                    <a:srgbClr val="000000"/>
                  </a:solidFill>
                  <a:latin typeface="Aptos"/>
                  <a:ea typeface="Arial MT Pro Bold"/>
                  <a:cs typeface="Times New Roman"/>
                </a:rPr>
                <a:t>Cobertura de testes limitada </a:t>
              </a:r>
              <a:endParaRPr lang="pt-BR" sz="2400" b="1" kern="100" noProof="0">
                <a:solidFill>
                  <a:srgbClr val="000000"/>
                </a:solidFill>
                <a:latin typeface="Aptos"/>
                <a:ea typeface="Arial MT Pro Bold"/>
                <a:cs typeface="Times New Roman"/>
              </a:endParaRPr>
            </a:p>
          </p:txBody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F454BCD8-9EB6-2C56-53C0-DEAD32682AB8}"/>
                </a:ext>
              </a:extLst>
            </p:cNvPr>
            <p:cNvSpPr/>
            <p:nvPr/>
          </p:nvSpPr>
          <p:spPr>
            <a:xfrm>
              <a:off x="1266086" y="1312347"/>
              <a:ext cx="707209" cy="655006"/>
            </a:xfrm>
            <a:custGeom>
              <a:avLst/>
              <a:gdLst/>
              <a:ahLst/>
              <a:cxnLst/>
              <a:rect l="l" t="t" r="r" b="b"/>
              <a:pathLst>
                <a:path w="707209" h="655006">
                  <a:moveTo>
                    <a:pt x="0" y="0"/>
                  </a:moveTo>
                  <a:lnTo>
                    <a:pt x="707209" y="0"/>
                  </a:lnTo>
                  <a:lnTo>
                    <a:pt x="707209" y="655005"/>
                  </a:lnTo>
                  <a:lnTo>
                    <a:pt x="0" y="655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 sz="1600" noProof="0"/>
            </a:p>
          </p:txBody>
        </p:sp>
      </p:grpSp>
    </p:spTree>
    <p:extLst>
      <p:ext uri="{BB962C8B-B14F-4D97-AF65-F5344CB8AC3E}">
        <p14:creationId xmlns:p14="http://schemas.microsoft.com/office/powerpoint/2010/main" val="586481519"/>
      </p:ext>
    </p:extLst>
  </p:cSld>
  <p:clrMapOvr>
    <a:masterClrMapping/>
  </p:clrMapOvr>
  <p:transition spd="med">
    <p:cover dir="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1782EA-3828-BB3D-A6C8-B10BCFF43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A7E36C1-049E-6F2E-8787-4044D58AAA6F}"/>
              </a:ext>
            </a:extLst>
          </p:cNvPr>
          <p:cNvGrpSpPr/>
          <p:nvPr/>
        </p:nvGrpSpPr>
        <p:grpSpPr>
          <a:xfrm>
            <a:off x="-764128" y="-548696"/>
            <a:ext cx="1792828" cy="11019359"/>
            <a:chOff x="0" y="0"/>
            <a:chExt cx="472185" cy="290221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27499D6-B5B0-AF75-BB7B-D02AE1B2E7C8}"/>
                </a:ext>
              </a:extLst>
            </p:cNvPr>
            <p:cNvSpPr/>
            <p:nvPr/>
          </p:nvSpPr>
          <p:spPr>
            <a:xfrm>
              <a:off x="0" y="0"/>
              <a:ext cx="472185" cy="2902218"/>
            </a:xfrm>
            <a:custGeom>
              <a:avLst/>
              <a:gdLst/>
              <a:ahLst/>
              <a:cxnLst/>
              <a:rect l="l" t="t" r="r" b="b"/>
              <a:pathLst>
                <a:path w="472185" h="2902218">
                  <a:moveTo>
                    <a:pt x="0" y="0"/>
                  </a:moveTo>
                  <a:lnTo>
                    <a:pt x="472185" y="0"/>
                  </a:lnTo>
                  <a:lnTo>
                    <a:pt x="472185" y="2902218"/>
                  </a:lnTo>
                  <a:lnTo>
                    <a:pt x="0" y="290221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pt-BR" noProof="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E1210F77-29F6-9800-C34C-149E4F89F659}"/>
                </a:ext>
              </a:extLst>
            </p:cNvPr>
            <p:cNvSpPr txBox="1"/>
            <p:nvPr/>
          </p:nvSpPr>
          <p:spPr>
            <a:xfrm>
              <a:off x="0" y="-76200"/>
              <a:ext cx="472185" cy="2978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lang="pt-BR" noProof="0"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DE9F658C-661C-0D68-D7C9-F470CFE064FE}"/>
              </a:ext>
            </a:extLst>
          </p:cNvPr>
          <p:cNvSpPr/>
          <p:nvPr/>
        </p:nvSpPr>
        <p:spPr>
          <a:xfrm rot="-10477754">
            <a:off x="13912687" y="-237062"/>
            <a:ext cx="7062925" cy="7062925"/>
          </a:xfrm>
          <a:custGeom>
            <a:avLst/>
            <a:gdLst/>
            <a:ahLst/>
            <a:cxnLst/>
            <a:rect l="l" t="t" r="r" b="b"/>
            <a:pathLst>
              <a:path w="7062925" h="7062925">
                <a:moveTo>
                  <a:pt x="0" y="0"/>
                </a:moveTo>
                <a:lnTo>
                  <a:pt x="7062925" y="0"/>
                </a:lnTo>
                <a:lnTo>
                  <a:pt x="7062925" y="7062925"/>
                </a:lnTo>
                <a:lnTo>
                  <a:pt x="0" y="70629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 noProof="0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E561B4DF-1789-6F35-6DD2-670DE9D42AF6}"/>
              </a:ext>
            </a:extLst>
          </p:cNvPr>
          <p:cNvSpPr txBox="1"/>
          <p:nvPr/>
        </p:nvSpPr>
        <p:spPr>
          <a:xfrm>
            <a:off x="2024847" y="3488044"/>
            <a:ext cx="4645128" cy="525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099"/>
              </a:lnSpc>
            </a:pPr>
            <a:r>
              <a:rPr lang="pt-BR" sz="3700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</a:rPr>
              <a:t>Limitações</a:t>
            </a:r>
            <a:endParaRPr lang="pt-BR" sz="3700" b="1" noProof="0">
              <a:solidFill>
                <a:srgbClr val="000000"/>
              </a:solidFill>
              <a:latin typeface="Arial MT Pro Bold"/>
              <a:ea typeface="Arial MT Pro Bold"/>
              <a:cs typeface="Arial MT Pro Bold"/>
            </a:endParaRP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265BB46E-CF4C-1178-1B54-87816DDFCB63}"/>
              </a:ext>
            </a:extLst>
          </p:cNvPr>
          <p:cNvSpPr txBox="1"/>
          <p:nvPr/>
        </p:nvSpPr>
        <p:spPr>
          <a:xfrm>
            <a:off x="8991600" y="1616710"/>
            <a:ext cx="8884030" cy="12856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9590"/>
              </a:lnSpc>
              <a:spcBef>
                <a:spcPct val="0"/>
              </a:spcBef>
            </a:pPr>
            <a:r>
              <a:rPr lang="pt-BR" sz="10312" b="1" spc="-721" noProof="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Problema Atual </a:t>
            </a:r>
          </a:p>
        </p:txBody>
      </p:sp>
      <p:sp>
        <p:nvSpPr>
          <p:cNvPr id="9" name="AutoShape 9">
            <a:extLst>
              <a:ext uri="{FF2B5EF4-FFF2-40B4-BE49-F238E27FC236}">
                <a16:creationId xmlns:a16="http://schemas.microsoft.com/office/drawing/2014/main" id="{17F0CFE0-A193-31A1-4AAB-DA77B3C49771}"/>
              </a:ext>
            </a:extLst>
          </p:cNvPr>
          <p:cNvSpPr/>
          <p:nvPr/>
        </p:nvSpPr>
        <p:spPr>
          <a:xfrm>
            <a:off x="9601200" y="2864283"/>
            <a:ext cx="6204398" cy="0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 noProof="0"/>
          </a:p>
        </p:txBody>
      </p: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9328BD13-C3E3-85E8-8F4B-5BE59C7C3884}"/>
              </a:ext>
            </a:extLst>
          </p:cNvPr>
          <p:cNvGrpSpPr/>
          <p:nvPr/>
        </p:nvGrpSpPr>
        <p:grpSpPr>
          <a:xfrm>
            <a:off x="1528581" y="4983756"/>
            <a:ext cx="15230838" cy="2494263"/>
            <a:chOff x="1266086" y="1312347"/>
            <a:chExt cx="15230838" cy="2494263"/>
          </a:xfrm>
        </p:grpSpPr>
        <p:sp>
          <p:nvSpPr>
            <p:cNvPr id="22" name="TextBox 3">
              <a:extLst>
                <a:ext uri="{FF2B5EF4-FFF2-40B4-BE49-F238E27FC236}">
                  <a16:creationId xmlns:a16="http://schemas.microsoft.com/office/drawing/2014/main" id="{C6DA61B4-4A74-B506-299A-3986EB2A6DBC}"/>
                </a:ext>
              </a:extLst>
            </p:cNvPr>
            <p:cNvSpPr txBox="1"/>
            <p:nvPr/>
          </p:nvSpPr>
          <p:spPr>
            <a:xfrm>
              <a:off x="2036467" y="2073507"/>
              <a:ext cx="14460457" cy="17331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060"/>
                </a:lnSpc>
                <a:tabLst>
                  <a:tab pos="457200" algn="l"/>
                </a:tabLst>
              </a:pPr>
              <a:r>
                <a:rPr lang="pt-BR" sz="3200" kern="100">
                  <a:latin typeface="Calibri"/>
                  <a:ea typeface="Calibri"/>
                  <a:cs typeface="Calibri"/>
                </a:rPr>
                <a:t>Testes precisam ser atualizados constantemente conforme o sistema evolui</a:t>
              </a:r>
              <a:r>
                <a:rPr lang="pt-BR" sz="3200" kern="100" noProof="0">
                  <a:latin typeface="Calibri"/>
                  <a:ea typeface="Calibri"/>
                  <a:cs typeface="Calibri"/>
                </a:rPr>
                <a:t>.</a:t>
              </a:r>
              <a:endParaRPr lang="pt-BR" sz="3200" kern="100">
                <a:latin typeface="Calibri"/>
                <a:ea typeface="Calibri"/>
                <a:cs typeface="Calibri"/>
              </a:endParaRPr>
            </a:p>
            <a:p>
              <a:pPr>
                <a:lnSpc>
                  <a:spcPct val="114999"/>
                </a:lnSpc>
                <a:spcAft>
                  <a:spcPts val="800"/>
                </a:spcAft>
                <a:tabLst>
                  <a:tab pos="457200" algn="l"/>
                </a:tabLst>
              </a:pPr>
              <a:endParaRPr lang="pt-BR" sz="3200" kern="100">
                <a:latin typeface="Calibri"/>
                <a:ea typeface="Calibri"/>
                <a:cs typeface="Calibri"/>
              </a:endParaRPr>
            </a:p>
            <a:p>
              <a:pPr lvl="0">
                <a:lnSpc>
                  <a:spcPct val="114999"/>
                </a:lnSpc>
                <a:spcAft>
                  <a:spcPts val="800"/>
                </a:spcAft>
                <a:buSzPts val="1000"/>
                <a:tabLst>
                  <a:tab pos="457200" algn="l"/>
                </a:tabLst>
              </a:pPr>
              <a:endParaRPr lang="pt-BR" sz="3200" kern="100" noProof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TextBox 4">
              <a:extLst>
                <a:ext uri="{FF2B5EF4-FFF2-40B4-BE49-F238E27FC236}">
                  <a16:creationId xmlns:a16="http://schemas.microsoft.com/office/drawing/2014/main" id="{4CB81984-32AE-983F-A6F9-456791BAB6B0}"/>
                </a:ext>
              </a:extLst>
            </p:cNvPr>
            <p:cNvSpPr txBox="1"/>
            <p:nvPr/>
          </p:nvSpPr>
          <p:spPr>
            <a:xfrm>
              <a:off x="2248894" y="1322031"/>
              <a:ext cx="5396449" cy="96045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904"/>
                </a:lnSpc>
              </a:pPr>
              <a:r>
                <a:rPr lang="pt-BR" sz="2400" b="1" kern="100">
                  <a:solidFill>
                    <a:srgbClr val="000000"/>
                  </a:solidFill>
                  <a:latin typeface="Aptos"/>
                  <a:ea typeface="Arial MT Pro Bold"/>
                  <a:cs typeface="Times New Roman"/>
                  <a:sym typeface="Arial MT Pro Bold"/>
                </a:rPr>
                <a:t> Manutenção de teste </a:t>
              </a:r>
              <a:endParaRPr lang="en-US" sz="2400" kern="100">
                <a:solidFill>
                  <a:srgbClr val="000000"/>
                </a:solidFill>
                <a:latin typeface="Aptos"/>
                <a:ea typeface="Arial MT Pro Bold"/>
                <a:cs typeface="Times New Roman"/>
                <a:sym typeface="Arial MT Pro Bold"/>
              </a:endParaRPr>
            </a:p>
            <a:p>
              <a:pPr>
                <a:lnSpc>
                  <a:spcPts val="3904"/>
                </a:lnSpc>
              </a:pPr>
              <a:endParaRPr lang="pt-BR" sz="2400" b="1" kern="100" noProof="0">
                <a:solidFill>
                  <a:srgbClr val="000000"/>
                </a:solidFill>
                <a:latin typeface="Aptos"/>
                <a:ea typeface="Arial MT Pro Bold"/>
                <a:cs typeface="Times New Roman"/>
              </a:endParaRPr>
            </a:p>
          </p:txBody>
        </p:sp>
        <p:sp>
          <p:nvSpPr>
            <p:cNvPr id="24" name="Freeform 8">
              <a:extLst>
                <a:ext uri="{FF2B5EF4-FFF2-40B4-BE49-F238E27FC236}">
                  <a16:creationId xmlns:a16="http://schemas.microsoft.com/office/drawing/2014/main" id="{5D5CCE8E-36C3-489C-A127-2E205381DFDC}"/>
                </a:ext>
              </a:extLst>
            </p:cNvPr>
            <p:cNvSpPr/>
            <p:nvPr/>
          </p:nvSpPr>
          <p:spPr>
            <a:xfrm>
              <a:off x="1266086" y="1312347"/>
              <a:ext cx="707209" cy="655006"/>
            </a:xfrm>
            <a:custGeom>
              <a:avLst/>
              <a:gdLst/>
              <a:ahLst/>
              <a:cxnLst/>
              <a:rect l="l" t="t" r="r" b="b"/>
              <a:pathLst>
                <a:path w="707209" h="655006">
                  <a:moveTo>
                    <a:pt x="0" y="0"/>
                  </a:moveTo>
                  <a:lnTo>
                    <a:pt x="707209" y="0"/>
                  </a:lnTo>
                  <a:lnTo>
                    <a:pt x="707209" y="655005"/>
                  </a:lnTo>
                  <a:lnTo>
                    <a:pt x="0" y="655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 sz="1600" noProof="0"/>
            </a:p>
          </p:txBody>
        </p:sp>
      </p:grpSp>
      <p:grpSp>
        <p:nvGrpSpPr>
          <p:cNvPr id="30" name="Agrupar 29">
            <a:extLst>
              <a:ext uri="{FF2B5EF4-FFF2-40B4-BE49-F238E27FC236}">
                <a16:creationId xmlns:a16="http://schemas.microsoft.com/office/drawing/2014/main" id="{8DB4EEE0-D88B-DBF5-7247-D5D5ADD34CD1}"/>
              </a:ext>
            </a:extLst>
          </p:cNvPr>
          <p:cNvGrpSpPr/>
          <p:nvPr/>
        </p:nvGrpSpPr>
        <p:grpSpPr>
          <a:xfrm>
            <a:off x="1528581" y="6754914"/>
            <a:ext cx="15230838" cy="1794969"/>
            <a:chOff x="1266086" y="1312347"/>
            <a:chExt cx="15230838" cy="1794969"/>
          </a:xfrm>
        </p:grpSpPr>
        <p:sp>
          <p:nvSpPr>
            <p:cNvPr id="27" name="TextBox 3">
              <a:extLst>
                <a:ext uri="{FF2B5EF4-FFF2-40B4-BE49-F238E27FC236}">
                  <a16:creationId xmlns:a16="http://schemas.microsoft.com/office/drawing/2014/main" id="{A7C1E2BA-EDAD-A32F-38D4-5A43DBC1A4FF}"/>
                </a:ext>
              </a:extLst>
            </p:cNvPr>
            <p:cNvSpPr txBox="1"/>
            <p:nvPr/>
          </p:nvSpPr>
          <p:spPr>
            <a:xfrm>
              <a:off x="2036467" y="2073507"/>
              <a:ext cx="14460457" cy="10338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060"/>
                </a:lnSpc>
              </a:pPr>
              <a:r>
                <a:rPr lang="pt-BR" sz="3200" kern="100">
                  <a:ea typeface="+mn-lt"/>
                  <a:cs typeface="+mn-lt"/>
                </a:rPr>
                <a:t>Sistemas grandes tornam o processo </a:t>
              </a:r>
              <a:r>
                <a:rPr lang="pt-BR" sz="3200" kern="100" noProof="0">
                  <a:ea typeface="+mn-lt"/>
                  <a:cs typeface="+mn-lt"/>
                </a:rPr>
                <a:t>de </a:t>
              </a:r>
              <a:r>
                <a:rPr lang="pt-BR" sz="3200" kern="100">
                  <a:ea typeface="+mn-lt"/>
                  <a:cs typeface="+mn-lt"/>
                </a:rPr>
                <a:t>teste mais complexo e lento</a:t>
              </a:r>
              <a:r>
                <a:rPr lang="pt-BR" sz="3200" kern="100" noProof="0">
                  <a:ea typeface="+mn-lt"/>
                  <a:cs typeface="+mn-lt"/>
                </a:rPr>
                <a:t>.</a:t>
              </a:r>
              <a:endParaRPr lang="pt-BR">
                <a:ea typeface="+mn-lt"/>
                <a:cs typeface="+mn-lt"/>
              </a:endParaRPr>
            </a:p>
            <a:p>
              <a:pPr>
                <a:lnSpc>
                  <a:spcPts val="4060"/>
                </a:lnSpc>
              </a:pPr>
              <a:endParaRPr lang="pt-BR" sz="3200" kern="100" noProof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TextBox 4">
              <a:extLst>
                <a:ext uri="{FF2B5EF4-FFF2-40B4-BE49-F238E27FC236}">
                  <a16:creationId xmlns:a16="http://schemas.microsoft.com/office/drawing/2014/main" id="{B8C47B16-5555-3249-7E78-770D6AE61CDB}"/>
                </a:ext>
              </a:extLst>
            </p:cNvPr>
            <p:cNvSpPr txBox="1"/>
            <p:nvPr/>
          </p:nvSpPr>
          <p:spPr>
            <a:xfrm>
              <a:off x="2248894" y="1322031"/>
              <a:ext cx="5396449" cy="96045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904"/>
                </a:lnSpc>
              </a:pPr>
              <a:r>
                <a:rPr lang="pt-BR" sz="2400" kern="100">
                  <a:solidFill>
                    <a:srgbClr val="000000"/>
                  </a:solidFill>
                  <a:latin typeface="Calibri"/>
                  <a:ea typeface="Calibri"/>
                  <a:cs typeface="Calibri"/>
                </a:rPr>
                <a:t>Dificuldade de Escalar </a:t>
              </a:r>
            </a:p>
            <a:p>
              <a:pPr>
                <a:lnSpc>
                  <a:spcPts val="3904"/>
                </a:lnSpc>
              </a:pPr>
              <a:endParaRPr lang="pt-BR" sz="2400" b="1" kern="100" noProof="0">
                <a:solidFill>
                  <a:srgbClr val="000000"/>
                </a:solidFill>
                <a:latin typeface="Aptos"/>
                <a:ea typeface="Arial MT Pro Bold"/>
                <a:cs typeface="Times New Roman"/>
              </a:endParaRPr>
            </a:p>
          </p:txBody>
        </p:sp>
        <p:sp>
          <p:nvSpPr>
            <p:cNvPr id="29" name="Freeform 8">
              <a:extLst>
                <a:ext uri="{FF2B5EF4-FFF2-40B4-BE49-F238E27FC236}">
                  <a16:creationId xmlns:a16="http://schemas.microsoft.com/office/drawing/2014/main" id="{97F4B133-478E-D109-591E-BE0713A742E2}"/>
                </a:ext>
              </a:extLst>
            </p:cNvPr>
            <p:cNvSpPr/>
            <p:nvPr/>
          </p:nvSpPr>
          <p:spPr>
            <a:xfrm>
              <a:off x="1266086" y="1312347"/>
              <a:ext cx="707209" cy="655006"/>
            </a:xfrm>
            <a:custGeom>
              <a:avLst/>
              <a:gdLst/>
              <a:ahLst/>
              <a:cxnLst/>
              <a:rect l="l" t="t" r="r" b="b"/>
              <a:pathLst>
                <a:path w="707209" h="655006">
                  <a:moveTo>
                    <a:pt x="0" y="0"/>
                  </a:moveTo>
                  <a:lnTo>
                    <a:pt x="707209" y="0"/>
                  </a:lnTo>
                  <a:lnTo>
                    <a:pt x="707209" y="655005"/>
                  </a:lnTo>
                  <a:lnTo>
                    <a:pt x="0" y="655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 sz="1600" noProof="0"/>
            </a:p>
          </p:txBody>
        </p:sp>
      </p:grpSp>
    </p:spTree>
    <p:extLst>
      <p:ext uri="{BB962C8B-B14F-4D97-AF65-F5344CB8AC3E}">
        <p14:creationId xmlns:p14="http://schemas.microsoft.com/office/powerpoint/2010/main" val="1354897087"/>
      </p:ext>
    </p:extLst>
  </p:cSld>
  <p:clrMapOvr>
    <a:masterClrMapping/>
  </p:clrMapOvr>
  <p:transition spd="med">
    <p:cover dir="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11C90-EDF2-160A-3675-86B220C05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F396F8D-C13C-C584-DF91-0FC4FADE7801}"/>
              </a:ext>
            </a:extLst>
          </p:cNvPr>
          <p:cNvGrpSpPr/>
          <p:nvPr/>
        </p:nvGrpSpPr>
        <p:grpSpPr>
          <a:xfrm>
            <a:off x="-764128" y="-548696"/>
            <a:ext cx="1792828" cy="11019359"/>
            <a:chOff x="0" y="0"/>
            <a:chExt cx="472185" cy="290221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CA5C896-8685-55D7-1EBB-5140F26AC7E3}"/>
                </a:ext>
              </a:extLst>
            </p:cNvPr>
            <p:cNvSpPr/>
            <p:nvPr/>
          </p:nvSpPr>
          <p:spPr>
            <a:xfrm>
              <a:off x="0" y="0"/>
              <a:ext cx="472185" cy="2902218"/>
            </a:xfrm>
            <a:custGeom>
              <a:avLst/>
              <a:gdLst/>
              <a:ahLst/>
              <a:cxnLst/>
              <a:rect l="l" t="t" r="r" b="b"/>
              <a:pathLst>
                <a:path w="472185" h="2902218">
                  <a:moveTo>
                    <a:pt x="0" y="0"/>
                  </a:moveTo>
                  <a:lnTo>
                    <a:pt x="472185" y="0"/>
                  </a:lnTo>
                  <a:lnTo>
                    <a:pt x="472185" y="2902218"/>
                  </a:lnTo>
                  <a:lnTo>
                    <a:pt x="0" y="290221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pt-BR" noProof="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BC67211D-5BA1-2AB0-555F-B56853B64AFB}"/>
                </a:ext>
              </a:extLst>
            </p:cNvPr>
            <p:cNvSpPr txBox="1"/>
            <p:nvPr/>
          </p:nvSpPr>
          <p:spPr>
            <a:xfrm>
              <a:off x="0" y="-76200"/>
              <a:ext cx="472185" cy="2978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lang="pt-BR" noProof="0"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19B212E5-7805-3BE7-3AF4-C6741A9D61FC}"/>
              </a:ext>
            </a:extLst>
          </p:cNvPr>
          <p:cNvSpPr/>
          <p:nvPr/>
        </p:nvSpPr>
        <p:spPr>
          <a:xfrm rot="-10477754">
            <a:off x="13912687" y="-237062"/>
            <a:ext cx="7062925" cy="7062925"/>
          </a:xfrm>
          <a:custGeom>
            <a:avLst/>
            <a:gdLst/>
            <a:ahLst/>
            <a:cxnLst/>
            <a:rect l="l" t="t" r="r" b="b"/>
            <a:pathLst>
              <a:path w="7062925" h="7062925">
                <a:moveTo>
                  <a:pt x="0" y="0"/>
                </a:moveTo>
                <a:lnTo>
                  <a:pt x="7062925" y="0"/>
                </a:lnTo>
                <a:lnTo>
                  <a:pt x="7062925" y="7062925"/>
                </a:lnTo>
                <a:lnTo>
                  <a:pt x="0" y="70629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 noProof="0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25560F03-E1B1-EAB0-596B-9D3B053EE6E3}"/>
              </a:ext>
            </a:extLst>
          </p:cNvPr>
          <p:cNvSpPr txBox="1"/>
          <p:nvPr/>
        </p:nvSpPr>
        <p:spPr>
          <a:xfrm>
            <a:off x="2024847" y="3488044"/>
            <a:ext cx="4645128" cy="1051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9"/>
              </a:lnSpc>
            </a:pPr>
            <a:r>
              <a:rPr lang="pt-BR" sz="3726" b="1" noProof="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Desafios em sistemas grandes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D86B9174-D1F4-D4AA-FDB3-EE92CEB0518B}"/>
              </a:ext>
            </a:extLst>
          </p:cNvPr>
          <p:cNvSpPr txBox="1"/>
          <p:nvPr/>
        </p:nvSpPr>
        <p:spPr>
          <a:xfrm>
            <a:off x="8991600" y="1616710"/>
            <a:ext cx="8884030" cy="12856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9590"/>
              </a:lnSpc>
              <a:spcBef>
                <a:spcPct val="0"/>
              </a:spcBef>
            </a:pPr>
            <a:r>
              <a:rPr lang="pt-BR" sz="10312" b="1" spc="-721" noProof="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Problema Atual </a:t>
            </a:r>
          </a:p>
        </p:txBody>
      </p:sp>
      <p:sp>
        <p:nvSpPr>
          <p:cNvPr id="9" name="AutoShape 9">
            <a:extLst>
              <a:ext uri="{FF2B5EF4-FFF2-40B4-BE49-F238E27FC236}">
                <a16:creationId xmlns:a16="http://schemas.microsoft.com/office/drawing/2014/main" id="{1C810C18-55C0-EC44-4708-40C36C8CCB9A}"/>
              </a:ext>
            </a:extLst>
          </p:cNvPr>
          <p:cNvSpPr/>
          <p:nvPr/>
        </p:nvSpPr>
        <p:spPr>
          <a:xfrm>
            <a:off x="9601200" y="2864283"/>
            <a:ext cx="6204398" cy="0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 noProof="0"/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A5CC9F05-2BF5-20EC-1B1A-777D8EBD2594}"/>
              </a:ext>
            </a:extLst>
          </p:cNvPr>
          <p:cNvGrpSpPr/>
          <p:nvPr/>
        </p:nvGrpSpPr>
        <p:grpSpPr>
          <a:xfrm>
            <a:off x="1528581" y="4983756"/>
            <a:ext cx="15230838" cy="1268928"/>
            <a:chOff x="1266086" y="1312347"/>
            <a:chExt cx="15230838" cy="1268928"/>
          </a:xfrm>
        </p:grpSpPr>
        <p:sp>
          <p:nvSpPr>
            <p:cNvPr id="13" name="TextBox 3">
              <a:extLst>
                <a:ext uri="{FF2B5EF4-FFF2-40B4-BE49-F238E27FC236}">
                  <a16:creationId xmlns:a16="http://schemas.microsoft.com/office/drawing/2014/main" id="{2336DBE1-5670-F1A2-E4FB-168DBA38CB19}"/>
                </a:ext>
              </a:extLst>
            </p:cNvPr>
            <p:cNvSpPr txBox="1"/>
            <p:nvPr/>
          </p:nvSpPr>
          <p:spPr>
            <a:xfrm>
              <a:off x="2036467" y="2073507"/>
              <a:ext cx="14460457" cy="5077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ts val="4060"/>
                </a:lnSpc>
              </a:pPr>
              <a:r>
                <a:rPr lang="pt-BR" sz="3200" kern="100" noProof="0"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rPr>
                <a:t>Milhares de combinações possíveis tornam o teste manual inviável</a:t>
              </a:r>
              <a:endParaRPr lang="pt-BR" sz="2900" noProof="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endParaRPr>
            </a:p>
          </p:txBody>
        </p:sp>
        <p:sp>
          <p:nvSpPr>
            <p:cNvPr id="14" name="TextBox 4">
              <a:extLst>
                <a:ext uri="{FF2B5EF4-FFF2-40B4-BE49-F238E27FC236}">
                  <a16:creationId xmlns:a16="http://schemas.microsoft.com/office/drawing/2014/main" id="{1C6FC5B6-2E0A-F387-7BB6-D755A15DD903}"/>
                </a:ext>
              </a:extLst>
            </p:cNvPr>
            <p:cNvSpPr txBox="1"/>
            <p:nvPr/>
          </p:nvSpPr>
          <p:spPr>
            <a:xfrm>
              <a:off x="2248894" y="1322031"/>
              <a:ext cx="5396449" cy="4601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905"/>
                </a:lnSpc>
              </a:pPr>
              <a:r>
                <a:rPr lang="pt-BR" sz="2400" b="1" kern="100" noProof="0"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rPr>
                <a:t>Explosão de Cenários</a:t>
              </a:r>
              <a:endParaRPr lang="pt-BR" sz="2400" b="1" noProof="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endParaRPr>
            </a:p>
          </p:txBody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2592D791-6B49-3A02-30EC-2391547F55D3}"/>
                </a:ext>
              </a:extLst>
            </p:cNvPr>
            <p:cNvSpPr/>
            <p:nvPr/>
          </p:nvSpPr>
          <p:spPr>
            <a:xfrm>
              <a:off x="1266086" y="1312347"/>
              <a:ext cx="707209" cy="655006"/>
            </a:xfrm>
            <a:custGeom>
              <a:avLst/>
              <a:gdLst/>
              <a:ahLst/>
              <a:cxnLst/>
              <a:rect l="l" t="t" r="r" b="b"/>
              <a:pathLst>
                <a:path w="707209" h="655006">
                  <a:moveTo>
                    <a:pt x="0" y="0"/>
                  </a:moveTo>
                  <a:lnTo>
                    <a:pt x="707209" y="0"/>
                  </a:lnTo>
                  <a:lnTo>
                    <a:pt x="707209" y="655005"/>
                  </a:lnTo>
                  <a:lnTo>
                    <a:pt x="0" y="655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 sz="1600" noProof="0"/>
            </a:p>
          </p:txBody>
        </p:sp>
      </p:grp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53189772-8CA8-7279-08FF-AB2234BCEA68}"/>
              </a:ext>
            </a:extLst>
          </p:cNvPr>
          <p:cNvGrpSpPr/>
          <p:nvPr/>
        </p:nvGrpSpPr>
        <p:grpSpPr>
          <a:xfrm>
            <a:off x="1528581" y="6754914"/>
            <a:ext cx="15230838" cy="1269184"/>
            <a:chOff x="1266086" y="1312347"/>
            <a:chExt cx="15230838" cy="1269184"/>
          </a:xfrm>
        </p:grpSpPr>
        <p:sp>
          <p:nvSpPr>
            <p:cNvPr id="19" name="TextBox 3">
              <a:extLst>
                <a:ext uri="{FF2B5EF4-FFF2-40B4-BE49-F238E27FC236}">
                  <a16:creationId xmlns:a16="http://schemas.microsoft.com/office/drawing/2014/main" id="{D71019EF-B581-BACC-BD69-8AB18B6950DE}"/>
                </a:ext>
              </a:extLst>
            </p:cNvPr>
            <p:cNvSpPr txBox="1"/>
            <p:nvPr/>
          </p:nvSpPr>
          <p:spPr>
            <a:xfrm>
              <a:off x="2036467" y="2073507"/>
              <a:ext cx="14460457" cy="5080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060"/>
                </a:lnSpc>
              </a:pPr>
              <a:r>
                <a:rPr lang="pt-BR" sz="3200" kern="100" noProof="0"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rPr>
                <a:t>Testes manuais criam gargalos no lançamento de novas funcionalidades.</a:t>
              </a:r>
            </a:p>
          </p:txBody>
        </p:sp>
        <p:sp>
          <p:nvSpPr>
            <p:cNvPr id="20" name="TextBox 4">
              <a:extLst>
                <a:ext uri="{FF2B5EF4-FFF2-40B4-BE49-F238E27FC236}">
                  <a16:creationId xmlns:a16="http://schemas.microsoft.com/office/drawing/2014/main" id="{9B9BEAE3-13AB-EC3F-CD9B-188146B3FABE}"/>
                </a:ext>
              </a:extLst>
            </p:cNvPr>
            <p:cNvSpPr txBox="1"/>
            <p:nvPr/>
          </p:nvSpPr>
          <p:spPr>
            <a:xfrm>
              <a:off x="2248894" y="1322031"/>
              <a:ext cx="5396449" cy="4601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905"/>
                </a:lnSpc>
              </a:pPr>
              <a:r>
                <a:rPr lang="pt-BR" sz="2400" b="1" kern="100" noProof="0">
                  <a:solidFill>
                    <a:srgbClr val="000000"/>
                  </a:solidFill>
                  <a:latin typeface="Aptos" panose="020B0004020202020204" pitchFamily="34" charset="0"/>
                  <a:ea typeface="Arial MT Pro Bold"/>
                  <a:cs typeface="Times New Roman" panose="02020603050405020304" pitchFamily="18" charset="0"/>
                  <a:sym typeface="Arial MT Pro Bold"/>
                </a:rPr>
                <a:t>Lentidão</a:t>
              </a:r>
              <a:endParaRPr lang="pt-BR" sz="2400" b="1" noProof="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endParaRPr>
            </a:p>
          </p:txBody>
        </p:sp>
        <p:sp>
          <p:nvSpPr>
            <p:cNvPr id="21" name="Freeform 8">
              <a:extLst>
                <a:ext uri="{FF2B5EF4-FFF2-40B4-BE49-F238E27FC236}">
                  <a16:creationId xmlns:a16="http://schemas.microsoft.com/office/drawing/2014/main" id="{AFFC2213-AD0D-EDD4-A85F-0AF0F70A350B}"/>
                </a:ext>
              </a:extLst>
            </p:cNvPr>
            <p:cNvSpPr/>
            <p:nvPr/>
          </p:nvSpPr>
          <p:spPr>
            <a:xfrm>
              <a:off x="1266086" y="1312347"/>
              <a:ext cx="707209" cy="655006"/>
            </a:xfrm>
            <a:custGeom>
              <a:avLst/>
              <a:gdLst/>
              <a:ahLst/>
              <a:cxnLst/>
              <a:rect l="l" t="t" r="r" b="b"/>
              <a:pathLst>
                <a:path w="707209" h="655006">
                  <a:moveTo>
                    <a:pt x="0" y="0"/>
                  </a:moveTo>
                  <a:lnTo>
                    <a:pt x="707209" y="0"/>
                  </a:lnTo>
                  <a:lnTo>
                    <a:pt x="707209" y="655005"/>
                  </a:lnTo>
                  <a:lnTo>
                    <a:pt x="0" y="655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 sz="1600" noProof="0"/>
            </a:p>
          </p:txBody>
        </p:sp>
      </p:grpSp>
    </p:spTree>
    <p:extLst>
      <p:ext uri="{BB962C8B-B14F-4D97-AF65-F5344CB8AC3E}">
        <p14:creationId xmlns:p14="http://schemas.microsoft.com/office/powerpoint/2010/main" val="2127742765"/>
      </p:ext>
    </p:extLst>
  </p:cSld>
  <p:clrMapOvr>
    <a:masterClrMapping/>
  </p:clrMapOvr>
  <p:transition spd="med">
    <p:cover dir="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37565F-8E34-4C1B-13AE-0734DB2FF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935D734-97FF-68BB-3834-36D9DC4DEBCB}"/>
              </a:ext>
            </a:extLst>
          </p:cNvPr>
          <p:cNvGrpSpPr/>
          <p:nvPr/>
        </p:nvGrpSpPr>
        <p:grpSpPr>
          <a:xfrm>
            <a:off x="-764128" y="-548696"/>
            <a:ext cx="1792828" cy="11019359"/>
            <a:chOff x="0" y="0"/>
            <a:chExt cx="472185" cy="290221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EFCF2406-5C16-245D-26C4-E09BE7B3F020}"/>
                </a:ext>
              </a:extLst>
            </p:cNvPr>
            <p:cNvSpPr/>
            <p:nvPr/>
          </p:nvSpPr>
          <p:spPr>
            <a:xfrm>
              <a:off x="0" y="0"/>
              <a:ext cx="472185" cy="2902218"/>
            </a:xfrm>
            <a:custGeom>
              <a:avLst/>
              <a:gdLst/>
              <a:ahLst/>
              <a:cxnLst/>
              <a:rect l="l" t="t" r="r" b="b"/>
              <a:pathLst>
                <a:path w="472185" h="2902218">
                  <a:moveTo>
                    <a:pt x="0" y="0"/>
                  </a:moveTo>
                  <a:lnTo>
                    <a:pt x="472185" y="0"/>
                  </a:lnTo>
                  <a:lnTo>
                    <a:pt x="472185" y="2902218"/>
                  </a:lnTo>
                  <a:lnTo>
                    <a:pt x="0" y="290221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pt-BR" noProof="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E657CD3A-D505-1807-3D1D-581F29C176D9}"/>
                </a:ext>
              </a:extLst>
            </p:cNvPr>
            <p:cNvSpPr txBox="1"/>
            <p:nvPr/>
          </p:nvSpPr>
          <p:spPr>
            <a:xfrm>
              <a:off x="0" y="-76200"/>
              <a:ext cx="472185" cy="2978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lang="pt-BR" noProof="0"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97DD0D31-E49A-6638-C320-8278A3A26647}"/>
              </a:ext>
            </a:extLst>
          </p:cNvPr>
          <p:cNvSpPr/>
          <p:nvPr/>
        </p:nvSpPr>
        <p:spPr>
          <a:xfrm rot="-10477754">
            <a:off x="13912687" y="-237062"/>
            <a:ext cx="7062925" cy="7062925"/>
          </a:xfrm>
          <a:custGeom>
            <a:avLst/>
            <a:gdLst/>
            <a:ahLst/>
            <a:cxnLst/>
            <a:rect l="l" t="t" r="r" b="b"/>
            <a:pathLst>
              <a:path w="7062925" h="7062925">
                <a:moveTo>
                  <a:pt x="0" y="0"/>
                </a:moveTo>
                <a:lnTo>
                  <a:pt x="7062925" y="0"/>
                </a:lnTo>
                <a:lnTo>
                  <a:pt x="7062925" y="7062925"/>
                </a:lnTo>
                <a:lnTo>
                  <a:pt x="0" y="70629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 noProof="0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7A4E9522-F6E9-7383-FF02-97B43446756C}"/>
              </a:ext>
            </a:extLst>
          </p:cNvPr>
          <p:cNvSpPr txBox="1"/>
          <p:nvPr/>
        </p:nvSpPr>
        <p:spPr>
          <a:xfrm>
            <a:off x="2024847" y="3488044"/>
            <a:ext cx="4645128" cy="1051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9"/>
              </a:lnSpc>
            </a:pPr>
            <a:r>
              <a:rPr lang="pt-BR" sz="3726" b="1" noProof="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Desafios em sistemas grandes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9964D88-9BB9-58C1-454C-89ABB0C4B650}"/>
              </a:ext>
            </a:extLst>
          </p:cNvPr>
          <p:cNvSpPr txBox="1"/>
          <p:nvPr/>
        </p:nvSpPr>
        <p:spPr>
          <a:xfrm>
            <a:off x="8991600" y="1616710"/>
            <a:ext cx="8884030" cy="12856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9590"/>
              </a:lnSpc>
              <a:spcBef>
                <a:spcPct val="0"/>
              </a:spcBef>
            </a:pPr>
            <a:r>
              <a:rPr lang="pt-BR" sz="10312" b="1" spc="-721" noProof="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Problema Atual </a:t>
            </a:r>
          </a:p>
        </p:txBody>
      </p:sp>
      <p:sp>
        <p:nvSpPr>
          <p:cNvPr id="9" name="AutoShape 9">
            <a:extLst>
              <a:ext uri="{FF2B5EF4-FFF2-40B4-BE49-F238E27FC236}">
                <a16:creationId xmlns:a16="http://schemas.microsoft.com/office/drawing/2014/main" id="{6BED8930-7FC5-A1B1-E62D-C4AA3EFD5F4D}"/>
              </a:ext>
            </a:extLst>
          </p:cNvPr>
          <p:cNvSpPr/>
          <p:nvPr/>
        </p:nvSpPr>
        <p:spPr>
          <a:xfrm>
            <a:off x="9601200" y="2864283"/>
            <a:ext cx="6204398" cy="0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 noProof="0"/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F5754FE3-42F6-2852-2EF0-F2C35A5956EE}"/>
              </a:ext>
            </a:extLst>
          </p:cNvPr>
          <p:cNvGrpSpPr/>
          <p:nvPr/>
        </p:nvGrpSpPr>
        <p:grpSpPr>
          <a:xfrm>
            <a:off x="1528581" y="4983756"/>
            <a:ext cx="15230838" cy="1299577"/>
            <a:chOff x="1266086" y="1312347"/>
            <a:chExt cx="15230838" cy="1299577"/>
          </a:xfrm>
        </p:grpSpPr>
        <p:sp>
          <p:nvSpPr>
            <p:cNvPr id="13" name="TextBox 3">
              <a:extLst>
                <a:ext uri="{FF2B5EF4-FFF2-40B4-BE49-F238E27FC236}">
                  <a16:creationId xmlns:a16="http://schemas.microsoft.com/office/drawing/2014/main" id="{C5943363-3C78-942C-8981-7DEB50AF7082}"/>
                </a:ext>
              </a:extLst>
            </p:cNvPr>
            <p:cNvSpPr txBox="1"/>
            <p:nvPr/>
          </p:nvSpPr>
          <p:spPr>
            <a:xfrm>
              <a:off x="2036467" y="2073507"/>
              <a:ext cx="14460457" cy="5384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ct val="115000"/>
                </a:lnSpc>
                <a:spcAft>
                  <a:spcPts val="800"/>
                </a:spcAft>
                <a:buSzPts val="1000"/>
                <a:tabLst>
                  <a:tab pos="457200" algn="l"/>
                </a:tabLst>
              </a:pPr>
              <a:r>
                <a:rPr lang="pt-BR" sz="3200" kern="100" noProof="0"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rPr>
                <a:t>Dificuldade em priorizar "o quê" e "onde" testar primeiro.</a:t>
              </a:r>
            </a:p>
          </p:txBody>
        </p:sp>
        <p:sp>
          <p:nvSpPr>
            <p:cNvPr id="14" name="TextBox 4">
              <a:extLst>
                <a:ext uri="{FF2B5EF4-FFF2-40B4-BE49-F238E27FC236}">
                  <a16:creationId xmlns:a16="http://schemas.microsoft.com/office/drawing/2014/main" id="{C637CBC4-2641-C8A5-68F6-D8374674885C}"/>
                </a:ext>
              </a:extLst>
            </p:cNvPr>
            <p:cNvSpPr txBox="1"/>
            <p:nvPr/>
          </p:nvSpPr>
          <p:spPr>
            <a:xfrm>
              <a:off x="2248894" y="1322031"/>
              <a:ext cx="5396449" cy="4601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905"/>
                </a:lnSpc>
              </a:pPr>
              <a:r>
                <a:rPr lang="pt-BR" sz="2400" b="1" kern="100" noProof="0">
                  <a:solidFill>
                    <a:srgbClr val="000000"/>
                  </a:solidFill>
                  <a:latin typeface="Aptos" panose="020B0004020202020204" pitchFamily="34" charset="0"/>
                  <a:ea typeface="Arial MT Pro Bold"/>
                  <a:cs typeface="Times New Roman" panose="02020603050405020304" pitchFamily="18" charset="0"/>
                  <a:sym typeface="Arial MT Pro Bold"/>
                </a:rPr>
                <a:t>Ponto Cego</a:t>
              </a:r>
              <a:endParaRPr lang="pt-BR" sz="2400" b="1" noProof="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endParaRPr>
            </a:p>
          </p:txBody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0E2F4E57-BA7E-95F3-F03E-62E7956B395D}"/>
                </a:ext>
              </a:extLst>
            </p:cNvPr>
            <p:cNvSpPr/>
            <p:nvPr/>
          </p:nvSpPr>
          <p:spPr>
            <a:xfrm>
              <a:off x="1266086" y="1312347"/>
              <a:ext cx="707209" cy="655006"/>
            </a:xfrm>
            <a:custGeom>
              <a:avLst/>
              <a:gdLst/>
              <a:ahLst/>
              <a:cxnLst/>
              <a:rect l="l" t="t" r="r" b="b"/>
              <a:pathLst>
                <a:path w="707209" h="655006">
                  <a:moveTo>
                    <a:pt x="0" y="0"/>
                  </a:moveTo>
                  <a:lnTo>
                    <a:pt x="707209" y="0"/>
                  </a:lnTo>
                  <a:lnTo>
                    <a:pt x="707209" y="655005"/>
                  </a:lnTo>
                  <a:lnTo>
                    <a:pt x="0" y="655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 sz="1600" noProof="0"/>
            </a:p>
          </p:txBody>
        </p:sp>
      </p:grp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8045BEB6-EEAE-4243-482D-60495060C416}"/>
              </a:ext>
            </a:extLst>
          </p:cNvPr>
          <p:cNvGrpSpPr/>
          <p:nvPr/>
        </p:nvGrpSpPr>
        <p:grpSpPr>
          <a:xfrm>
            <a:off x="1528581" y="6754914"/>
            <a:ext cx="15230838" cy="1269184"/>
            <a:chOff x="1266086" y="1312347"/>
            <a:chExt cx="15230838" cy="1269184"/>
          </a:xfrm>
        </p:grpSpPr>
        <p:sp>
          <p:nvSpPr>
            <p:cNvPr id="19" name="TextBox 3">
              <a:extLst>
                <a:ext uri="{FF2B5EF4-FFF2-40B4-BE49-F238E27FC236}">
                  <a16:creationId xmlns:a16="http://schemas.microsoft.com/office/drawing/2014/main" id="{B3C24700-FD22-DC1F-559C-60848F07F5E7}"/>
                </a:ext>
              </a:extLst>
            </p:cNvPr>
            <p:cNvSpPr txBox="1"/>
            <p:nvPr/>
          </p:nvSpPr>
          <p:spPr>
            <a:xfrm>
              <a:off x="2036467" y="2073507"/>
              <a:ext cx="14460457" cy="5080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060"/>
                </a:lnSpc>
              </a:pPr>
              <a:r>
                <a:rPr lang="pt-BR" sz="3200" kern="100" noProof="0"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rPr>
                <a:t>Forte dependência da experiência específica de poucos analistas.</a:t>
              </a:r>
            </a:p>
          </p:txBody>
        </p:sp>
        <p:sp>
          <p:nvSpPr>
            <p:cNvPr id="20" name="TextBox 4">
              <a:extLst>
                <a:ext uri="{FF2B5EF4-FFF2-40B4-BE49-F238E27FC236}">
                  <a16:creationId xmlns:a16="http://schemas.microsoft.com/office/drawing/2014/main" id="{0E626644-E389-783E-F540-184A90881275}"/>
                </a:ext>
              </a:extLst>
            </p:cNvPr>
            <p:cNvSpPr txBox="1"/>
            <p:nvPr/>
          </p:nvSpPr>
          <p:spPr>
            <a:xfrm>
              <a:off x="2248894" y="1322031"/>
              <a:ext cx="5396449" cy="4601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905"/>
                </a:lnSpc>
              </a:pPr>
              <a:r>
                <a:rPr lang="pt-BR" sz="2400" b="1" kern="100" noProof="0">
                  <a:solidFill>
                    <a:srgbClr val="000000"/>
                  </a:solidFill>
                  <a:latin typeface="Aptos" panose="020B0004020202020204" pitchFamily="34" charset="0"/>
                  <a:ea typeface="Arial MT Pro Bold"/>
                  <a:cs typeface="Times New Roman" panose="02020603050405020304" pitchFamily="18" charset="0"/>
                  <a:sym typeface="Arial MT Pro Bold"/>
                </a:rPr>
                <a:t>Gargalo Humano</a:t>
              </a:r>
              <a:endParaRPr lang="pt-BR" sz="2400" b="1" noProof="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endParaRPr>
            </a:p>
          </p:txBody>
        </p:sp>
        <p:sp>
          <p:nvSpPr>
            <p:cNvPr id="21" name="Freeform 8">
              <a:extLst>
                <a:ext uri="{FF2B5EF4-FFF2-40B4-BE49-F238E27FC236}">
                  <a16:creationId xmlns:a16="http://schemas.microsoft.com/office/drawing/2014/main" id="{0E5A232E-D70D-D8B9-20A4-8359E840A114}"/>
                </a:ext>
              </a:extLst>
            </p:cNvPr>
            <p:cNvSpPr/>
            <p:nvPr/>
          </p:nvSpPr>
          <p:spPr>
            <a:xfrm>
              <a:off x="1266086" y="1312347"/>
              <a:ext cx="707209" cy="655006"/>
            </a:xfrm>
            <a:custGeom>
              <a:avLst/>
              <a:gdLst/>
              <a:ahLst/>
              <a:cxnLst/>
              <a:rect l="l" t="t" r="r" b="b"/>
              <a:pathLst>
                <a:path w="707209" h="655006">
                  <a:moveTo>
                    <a:pt x="0" y="0"/>
                  </a:moveTo>
                  <a:lnTo>
                    <a:pt x="707209" y="0"/>
                  </a:lnTo>
                  <a:lnTo>
                    <a:pt x="707209" y="655005"/>
                  </a:lnTo>
                  <a:lnTo>
                    <a:pt x="0" y="655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 sz="1600" noProof="0"/>
            </a:p>
          </p:txBody>
        </p:sp>
      </p:grpSp>
    </p:spTree>
    <p:extLst>
      <p:ext uri="{BB962C8B-B14F-4D97-AF65-F5344CB8AC3E}">
        <p14:creationId xmlns:p14="http://schemas.microsoft.com/office/powerpoint/2010/main" val="2154657957"/>
      </p:ext>
    </p:extLst>
  </p:cSld>
  <p:clrMapOvr>
    <a:masterClrMapping/>
  </p:clrMapOvr>
  <p:transition spd="med">
    <p:cover dir="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B297FD-71B1-B80E-8389-4EB002BDF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86A14C1-FD2D-A298-8BAA-BC1C7D322581}"/>
              </a:ext>
            </a:extLst>
          </p:cNvPr>
          <p:cNvGrpSpPr/>
          <p:nvPr/>
        </p:nvGrpSpPr>
        <p:grpSpPr>
          <a:xfrm>
            <a:off x="-764128" y="-548696"/>
            <a:ext cx="1792828" cy="11019359"/>
            <a:chOff x="0" y="0"/>
            <a:chExt cx="472185" cy="290221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7A73B89-5CD1-A686-848D-35E933A73B19}"/>
                </a:ext>
              </a:extLst>
            </p:cNvPr>
            <p:cNvSpPr/>
            <p:nvPr/>
          </p:nvSpPr>
          <p:spPr>
            <a:xfrm>
              <a:off x="0" y="0"/>
              <a:ext cx="472185" cy="2902218"/>
            </a:xfrm>
            <a:custGeom>
              <a:avLst/>
              <a:gdLst/>
              <a:ahLst/>
              <a:cxnLst/>
              <a:rect l="l" t="t" r="r" b="b"/>
              <a:pathLst>
                <a:path w="472185" h="2902218">
                  <a:moveTo>
                    <a:pt x="0" y="0"/>
                  </a:moveTo>
                  <a:lnTo>
                    <a:pt x="472185" y="0"/>
                  </a:lnTo>
                  <a:lnTo>
                    <a:pt x="472185" y="2902218"/>
                  </a:lnTo>
                  <a:lnTo>
                    <a:pt x="0" y="290221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pt-BR" noProof="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5ADCFEC8-BC11-1375-80D8-19812DB15ADD}"/>
                </a:ext>
              </a:extLst>
            </p:cNvPr>
            <p:cNvSpPr txBox="1"/>
            <p:nvPr/>
          </p:nvSpPr>
          <p:spPr>
            <a:xfrm>
              <a:off x="0" y="-76200"/>
              <a:ext cx="472185" cy="2978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lang="pt-BR" noProof="0"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A289C031-B896-A8BE-543A-D445C49A7000}"/>
              </a:ext>
            </a:extLst>
          </p:cNvPr>
          <p:cNvSpPr/>
          <p:nvPr/>
        </p:nvSpPr>
        <p:spPr>
          <a:xfrm rot="-10477754">
            <a:off x="13912687" y="-237062"/>
            <a:ext cx="7062925" cy="7062925"/>
          </a:xfrm>
          <a:custGeom>
            <a:avLst/>
            <a:gdLst/>
            <a:ahLst/>
            <a:cxnLst/>
            <a:rect l="l" t="t" r="r" b="b"/>
            <a:pathLst>
              <a:path w="7062925" h="7062925">
                <a:moveTo>
                  <a:pt x="0" y="0"/>
                </a:moveTo>
                <a:lnTo>
                  <a:pt x="7062925" y="0"/>
                </a:lnTo>
                <a:lnTo>
                  <a:pt x="7062925" y="7062925"/>
                </a:lnTo>
                <a:lnTo>
                  <a:pt x="0" y="70629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 noProof="0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60B573F2-C887-51E0-24EE-39BAB8DAF2F2}"/>
              </a:ext>
            </a:extLst>
          </p:cNvPr>
          <p:cNvSpPr txBox="1"/>
          <p:nvPr/>
        </p:nvSpPr>
        <p:spPr>
          <a:xfrm>
            <a:off x="2024847" y="5029200"/>
            <a:ext cx="13287548" cy="31316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just">
              <a:lnSpc>
                <a:spcPts val="4060"/>
              </a:lnSpc>
            </a:pPr>
            <a:r>
              <a:rPr lang="pt-BR" sz="3200" noProof="0"/>
              <a:t>Teste de software é o processo de verificar e validar se um sistema funciona corretamente, atendendo aos requisitos definidos e garantindo qualidade antes de chegar ao usuário final. </a:t>
            </a:r>
          </a:p>
          <a:p>
            <a:pPr lvl="0" algn="just">
              <a:lnSpc>
                <a:spcPts val="4060"/>
              </a:lnSpc>
            </a:pPr>
            <a:endParaRPr lang="pt-BR" sz="3200" noProof="0"/>
          </a:p>
          <a:p>
            <a:pPr lvl="0" algn="just">
              <a:lnSpc>
                <a:spcPts val="4060"/>
              </a:lnSpc>
            </a:pPr>
            <a:r>
              <a:rPr lang="pt-BR" sz="3200" noProof="0"/>
              <a:t>Envolve a criação e execução de cenários de teste para identificar erros, falhas ou comportamentos inesperados</a:t>
            </a:r>
            <a:r>
              <a:rPr lang="pt-BR" sz="2900" noProof="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.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379608A-9340-9049-CCA8-345DB6777EB0}"/>
              </a:ext>
            </a:extLst>
          </p:cNvPr>
          <p:cNvSpPr txBox="1"/>
          <p:nvPr/>
        </p:nvSpPr>
        <p:spPr>
          <a:xfrm>
            <a:off x="2024847" y="3488044"/>
            <a:ext cx="4645128" cy="1051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9"/>
              </a:lnSpc>
            </a:pPr>
            <a:r>
              <a:rPr lang="pt-BR" sz="3726" b="1" noProof="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O que e Teste de Software? 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D39464E9-1096-9ADF-B6D7-3D2F7A40A3BE}"/>
              </a:ext>
            </a:extLst>
          </p:cNvPr>
          <p:cNvSpPr txBox="1"/>
          <p:nvPr/>
        </p:nvSpPr>
        <p:spPr>
          <a:xfrm>
            <a:off x="9677400" y="971265"/>
            <a:ext cx="6273431" cy="25167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9590"/>
              </a:lnSpc>
              <a:spcBef>
                <a:spcPct val="0"/>
              </a:spcBef>
            </a:pPr>
            <a:r>
              <a:rPr lang="pt-BR" sz="10312" b="1" spc="-721" noProof="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Teste de software</a:t>
            </a:r>
          </a:p>
        </p:txBody>
      </p:sp>
      <p:sp>
        <p:nvSpPr>
          <p:cNvPr id="9" name="AutoShape 9">
            <a:extLst>
              <a:ext uri="{FF2B5EF4-FFF2-40B4-BE49-F238E27FC236}">
                <a16:creationId xmlns:a16="http://schemas.microsoft.com/office/drawing/2014/main" id="{47CE9D86-4C77-67DF-025F-F4C39F06E41E}"/>
              </a:ext>
            </a:extLst>
          </p:cNvPr>
          <p:cNvSpPr/>
          <p:nvPr/>
        </p:nvSpPr>
        <p:spPr>
          <a:xfrm>
            <a:off x="9746433" y="3208165"/>
            <a:ext cx="6204398" cy="0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292549815"/>
      </p:ext>
    </p:extLst>
  </p:cSld>
  <p:clrMapOvr>
    <a:masterClrMapping/>
  </p:clrMapOvr>
  <p:transition spd="med">
    <p:cover dir="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A4F589-A41C-3B38-B90D-0BE075148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6D49078-97BE-D415-0F4C-84F0D0A6CFCE}"/>
              </a:ext>
            </a:extLst>
          </p:cNvPr>
          <p:cNvGrpSpPr/>
          <p:nvPr/>
        </p:nvGrpSpPr>
        <p:grpSpPr>
          <a:xfrm>
            <a:off x="-764128" y="-548696"/>
            <a:ext cx="1792828" cy="11019359"/>
            <a:chOff x="0" y="0"/>
            <a:chExt cx="472185" cy="2902218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5580C9A-7FD5-4DA3-278E-FF7CE910B63F}"/>
                </a:ext>
              </a:extLst>
            </p:cNvPr>
            <p:cNvSpPr/>
            <p:nvPr/>
          </p:nvSpPr>
          <p:spPr>
            <a:xfrm>
              <a:off x="0" y="0"/>
              <a:ext cx="472185" cy="2902218"/>
            </a:xfrm>
            <a:custGeom>
              <a:avLst/>
              <a:gdLst/>
              <a:ahLst/>
              <a:cxnLst/>
              <a:rect l="l" t="t" r="r" b="b"/>
              <a:pathLst>
                <a:path w="472185" h="2902218">
                  <a:moveTo>
                    <a:pt x="0" y="0"/>
                  </a:moveTo>
                  <a:lnTo>
                    <a:pt x="472185" y="0"/>
                  </a:lnTo>
                  <a:lnTo>
                    <a:pt x="472185" y="2902218"/>
                  </a:lnTo>
                  <a:lnTo>
                    <a:pt x="0" y="290221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pt-BR" noProof="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E2004B23-B93B-B9AD-CD00-AEB1104DAADE}"/>
                </a:ext>
              </a:extLst>
            </p:cNvPr>
            <p:cNvSpPr txBox="1"/>
            <p:nvPr/>
          </p:nvSpPr>
          <p:spPr>
            <a:xfrm>
              <a:off x="0" y="-76200"/>
              <a:ext cx="472185" cy="2978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lang="pt-BR" noProof="0"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FF270D71-8EE1-4350-F36D-9FEE462746A6}"/>
              </a:ext>
            </a:extLst>
          </p:cNvPr>
          <p:cNvSpPr/>
          <p:nvPr/>
        </p:nvSpPr>
        <p:spPr>
          <a:xfrm rot="-10477754">
            <a:off x="13912687" y="-237062"/>
            <a:ext cx="7062925" cy="7062925"/>
          </a:xfrm>
          <a:custGeom>
            <a:avLst/>
            <a:gdLst/>
            <a:ahLst/>
            <a:cxnLst/>
            <a:rect l="l" t="t" r="r" b="b"/>
            <a:pathLst>
              <a:path w="7062925" h="7062925">
                <a:moveTo>
                  <a:pt x="0" y="0"/>
                </a:moveTo>
                <a:lnTo>
                  <a:pt x="7062925" y="0"/>
                </a:lnTo>
                <a:lnTo>
                  <a:pt x="7062925" y="7062925"/>
                </a:lnTo>
                <a:lnTo>
                  <a:pt x="0" y="70629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 noProof="0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720047EC-34F1-1CAE-3FA1-9B59F86B5D22}"/>
              </a:ext>
            </a:extLst>
          </p:cNvPr>
          <p:cNvSpPr txBox="1"/>
          <p:nvPr/>
        </p:nvSpPr>
        <p:spPr>
          <a:xfrm>
            <a:off x="2024847" y="3488044"/>
            <a:ext cx="4645128" cy="1051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9"/>
              </a:lnSpc>
            </a:pPr>
            <a:r>
              <a:rPr lang="pt-BR" sz="3726" b="1" noProof="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Importâncias dos testes</a:t>
            </a: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816C47EE-405A-A030-0F7C-562AFEA72844}"/>
              </a:ext>
            </a:extLst>
          </p:cNvPr>
          <p:cNvGrpSpPr/>
          <p:nvPr/>
        </p:nvGrpSpPr>
        <p:grpSpPr>
          <a:xfrm>
            <a:off x="1528581" y="4983756"/>
            <a:ext cx="15230838" cy="1299577"/>
            <a:chOff x="1266086" y="1312347"/>
            <a:chExt cx="15230838" cy="1299577"/>
          </a:xfrm>
        </p:grpSpPr>
        <p:sp>
          <p:nvSpPr>
            <p:cNvPr id="13" name="TextBox 3">
              <a:extLst>
                <a:ext uri="{FF2B5EF4-FFF2-40B4-BE49-F238E27FC236}">
                  <a16:creationId xmlns:a16="http://schemas.microsoft.com/office/drawing/2014/main" id="{A8C01C90-D356-A8F4-E4D1-2E357B3CB1A1}"/>
                </a:ext>
              </a:extLst>
            </p:cNvPr>
            <p:cNvSpPr txBox="1"/>
            <p:nvPr/>
          </p:nvSpPr>
          <p:spPr>
            <a:xfrm>
              <a:off x="2036467" y="2073507"/>
              <a:ext cx="14460457" cy="5384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ct val="115000"/>
                </a:lnSpc>
                <a:spcAft>
                  <a:spcPts val="800"/>
                </a:spcAft>
                <a:buSzPts val="1000"/>
                <a:tabLst>
                  <a:tab pos="457200" algn="l"/>
                </a:tabLst>
              </a:pPr>
              <a:r>
                <a:rPr lang="pt-BR" sz="3200" kern="100" noProof="0"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rPr>
                <a:t>Processo contínuo para assegurar que o sistema atenda aos requisitos.</a:t>
              </a:r>
            </a:p>
          </p:txBody>
        </p:sp>
        <p:sp>
          <p:nvSpPr>
            <p:cNvPr id="14" name="TextBox 4">
              <a:extLst>
                <a:ext uri="{FF2B5EF4-FFF2-40B4-BE49-F238E27FC236}">
                  <a16:creationId xmlns:a16="http://schemas.microsoft.com/office/drawing/2014/main" id="{D01CBA48-A8C8-7087-4F5D-98D80DAF726F}"/>
                </a:ext>
              </a:extLst>
            </p:cNvPr>
            <p:cNvSpPr txBox="1"/>
            <p:nvPr/>
          </p:nvSpPr>
          <p:spPr>
            <a:xfrm>
              <a:off x="2248894" y="1322031"/>
              <a:ext cx="5396449" cy="4601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905"/>
                </a:lnSpc>
              </a:pPr>
              <a:r>
                <a:rPr lang="pt-BR" sz="2400" b="1" kern="100" noProof="0"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rPr>
                <a:t>Garantia de Qualidade</a:t>
              </a:r>
              <a:endParaRPr lang="pt-BR" sz="2400" b="1" noProof="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endParaRPr>
            </a:p>
          </p:txBody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EEC72C5D-524D-386F-3544-C897F81D96C9}"/>
                </a:ext>
              </a:extLst>
            </p:cNvPr>
            <p:cNvSpPr/>
            <p:nvPr/>
          </p:nvSpPr>
          <p:spPr>
            <a:xfrm>
              <a:off x="1266086" y="1312347"/>
              <a:ext cx="707209" cy="655006"/>
            </a:xfrm>
            <a:custGeom>
              <a:avLst/>
              <a:gdLst/>
              <a:ahLst/>
              <a:cxnLst/>
              <a:rect l="l" t="t" r="r" b="b"/>
              <a:pathLst>
                <a:path w="707209" h="655006">
                  <a:moveTo>
                    <a:pt x="0" y="0"/>
                  </a:moveTo>
                  <a:lnTo>
                    <a:pt x="707209" y="0"/>
                  </a:lnTo>
                  <a:lnTo>
                    <a:pt x="707209" y="655005"/>
                  </a:lnTo>
                  <a:lnTo>
                    <a:pt x="0" y="655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 sz="1600" noProof="0"/>
            </a:p>
          </p:txBody>
        </p:sp>
      </p:grp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DA992732-6FEE-DE59-DAD9-59AC1E173939}"/>
              </a:ext>
            </a:extLst>
          </p:cNvPr>
          <p:cNvGrpSpPr/>
          <p:nvPr/>
        </p:nvGrpSpPr>
        <p:grpSpPr>
          <a:xfrm>
            <a:off x="1528581" y="6754914"/>
            <a:ext cx="15230838" cy="1269184"/>
            <a:chOff x="1266086" y="1312347"/>
            <a:chExt cx="15230838" cy="1269184"/>
          </a:xfrm>
        </p:grpSpPr>
        <p:sp>
          <p:nvSpPr>
            <p:cNvPr id="19" name="TextBox 3">
              <a:extLst>
                <a:ext uri="{FF2B5EF4-FFF2-40B4-BE49-F238E27FC236}">
                  <a16:creationId xmlns:a16="http://schemas.microsoft.com/office/drawing/2014/main" id="{713E3AAF-36DD-CFA1-BAD3-B21460A3DF63}"/>
                </a:ext>
              </a:extLst>
            </p:cNvPr>
            <p:cNvSpPr txBox="1"/>
            <p:nvPr/>
          </p:nvSpPr>
          <p:spPr>
            <a:xfrm>
              <a:off x="2036467" y="2073507"/>
              <a:ext cx="14460457" cy="5080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060"/>
                </a:lnSpc>
              </a:pPr>
              <a:r>
                <a:rPr lang="pt-BR" sz="3200" kern="100" noProof="0"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rPr>
                <a:t>Localizar erros antes que cheguem ao cliente final.</a:t>
              </a:r>
            </a:p>
          </p:txBody>
        </p:sp>
        <p:sp>
          <p:nvSpPr>
            <p:cNvPr id="20" name="TextBox 4">
              <a:extLst>
                <a:ext uri="{FF2B5EF4-FFF2-40B4-BE49-F238E27FC236}">
                  <a16:creationId xmlns:a16="http://schemas.microsoft.com/office/drawing/2014/main" id="{8875532E-B268-7966-5BBE-F93F2FE1D463}"/>
                </a:ext>
              </a:extLst>
            </p:cNvPr>
            <p:cNvSpPr txBox="1"/>
            <p:nvPr/>
          </p:nvSpPr>
          <p:spPr>
            <a:xfrm>
              <a:off x="2248894" y="1322031"/>
              <a:ext cx="5396449" cy="4601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905"/>
                </a:lnSpc>
              </a:pPr>
              <a:r>
                <a:rPr lang="pt-BR" sz="2400" b="1" kern="100" noProof="0"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rPr>
                <a:t>Identificação de Falhas</a:t>
              </a:r>
              <a:endParaRPr lang="pt-BR" sz="2400" b="1" noProof="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endParaRPr>
            </a:p>
          </p:txBody>
        </p:sp>
        <p:sp>
          <p:nvSpPr>
            <p:cNvPr id="21" name="Freeform 8">
              <a:extLst>
                <a:ext uri="{FF2B5EF4-FFF2-40B4-BE49-F238E27FC236}">
                  <a16:creationId xmlns:a16="http://schemas.microsoft.com/office/drawing/2014/main" id="{27FA4961-1F8E-55BA-083C-05F74BFFA6E1}"/>
                </a:ext>
              </a:extLst>
            </p:cNvPr>
            <p:cNvSpPr/>
            <p:nvPr/>
          </p:nvSpPr>
          <p:spPr>
            <a:xfrm>
              <a:off x="1266086" y="1312347"/>
              <a:ext cx="707209" cy="655006"/>
            </a:xfrm>
            <a:custGeom>
              <a:avLst/>
              <a:gdLst/>
              <a:ahLst/>
              <a:cxnLst/>
              <a:rect l="l" t="t" r="r" b="b"/>
              <a:pathLst>
                <a:path w="707209" h="655006">
                  <a:moveTo>
                    <a:pt x="0" y="0"/>
                  </a:moveTo>
                  <a:lnTo>
                    <a:pt x="707209" y="0"/>
                  </a:lnTo>
                  <a:lnTo>
                    <a:pt x="707209" y="655005"/>
                  </a:lnTo>
                  <a:lnTo>
                    <a:pt x="0" y="655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 sz="1600" noProof="0"/>
            </a:p>
          </p:txBody>
        </p:sp>
      </p:grpSp>
      <p:sp>
        <p:nvSpPr>
          <p:cNvPr id="10" name="TextBox 8">
            <a:extLst>
              <a:ext uri="{FF2B5EF4-FFF2-40B4-BE49-F238E27FC236}">
                <a16:creationId xmlns:a16="http://schemas.microsoft.com/office/drawing/2014/main" id="{58346999-1C2D-7BEC-DAB2-788C4EA9ED45}"/>
              </a:ext>
            </a:extLst>
          </p:cNvPr>
          <p:cNvSpPr txBox="1"/>
          <p:nvPr/>
        </p:nvSpPr>
        <p:spPr>
          <a:xfrm>
            <a:off x="9677400" y="971265"/>
            <a:ext cx="6273431" cy="25167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9590"/>
              </a:lnSpc>
              <a:spcBef>
                <a:spcPct val="0"/>
              </a:spcBef>
            </a:pPr>
            <a:r>
              <a:rPr lang="pt-BR" sz="10312" b="1" spc="-721" noProof="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Teste de software</a:t>
            </a:r>
          </a:p>
        </p:txBody>
      </p:sp>
      <p:sp>
        <p:nvSpPr>
          <p:cNvPr id="11" name="AutoShape 9">
            <a:extLst>
              <a:ext uri="{FF2B5EF4-FFF2-40B4-BE49-F238E27FC236}">
                <a16:creationId xmlns:a16="http://schemas.microsoft.com/office/drawing/2014/main" id="{4A57C24A-0FD1-9245-D74F-5D83F5910FDA}"/>
              </a:ext>
            </a:extLst>
          </p:cNvPr>
          <p:cNvSpPr/>
          <p:nvPr/>
        </p:nvSpPr>
        <p:spPr>
          <a:xfrm>
            <a:off x="9746433" y="3208165"/>
            <a:ext cx="6204398" cy="0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3937818836"/>
      </p:ext>
    </p:extLst>
  </p:cSld>
  <p:clrMapOvr>
    <a:masterClrMapping/>
  </p:clrMapOvr>
  <p:transition spd="med">
    <p:cover dir="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D79D81-ECBB-27CC-93E9-FB1E680F1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2">
            <a:extLst>
              <a:ext uri="{FF2B5EF4-FFF2-40B4-BE49-F238E27FC236}">
                <a16:creationId xmlns:a16="http://schemas.microsoft.com/office/drawing/2014/main" id="{97C350E7-F022-0D5A-E894-F8103D9FA0A8}"/>
              </a:ext>
            </a:extLst>
          </p:cNvPr>
          <p:cNvSpPr/>
          <p:nvPr/>
        </p:nvSpPr>
        <p:spPr>
          <a:xfrm>
            <a:off x="0" y="-58269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pt-BR" noProof="0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FF882B7C-97D2-C975-390C-2758F138B5C1}"/>
              </a:ext>
            </a:extLst>
          </p:cNvPr>
          <p:cNvSpPr/>
          <p:nvPr/>
        </p:nvSpPr>
        <p:spPr>
          <a:xfrm rot="-10477754">
            <a:off x="13912687" y="-237062"/>
            <a:ext cx="7062925" cy="7062925"/>
          </a:xfrm>
          <a:custGeom>
            <a:avLst/>
            <a:gdLst/>
            <a:ahLst/>
            <a:cxnLst/>
            <a:rect l="l" t="t" r="r" b="b"/>
            <a:pathLst>
              <a:path w="7062925" h="7062925">
                <a:moveTo>
                  <a:pt x="0" y="0"/>
                </a:moveTo>
                <a:lnTo>
                  <a:pt x="7062925" y="0"/>
                </a:lnTo>
                <a:lnTo>
                  <a:pt x="7062925" y="7062925"/>
                </a:lnTo>
                <a:lnTo>
                  <a:pt x="0" y="70629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 noProof="0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A4702981-440C-6B42-1723-FAC02465D2FF}"/>
              </a:ext>
            </a:extLst>
          </p:cNvPr>
          <p:cNvSpPr txBox="1"/>
          <p:nvPr/>
        </p:nvSpPr>
        <p:spPr>
          <a:xfrm>
            <a:off x="1152287" y="4803117"/>
            <a:ext cx="15306913" cy="1663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just">
              <a:lnSpc>
                <a:spcPts val="4424"/>
              </a:lnSpc>
            </a:pPr>
            <a:r>
              <a:rPr lang="pt-BR" sz="3200"/>
              <a:t>Pirâmide de testes é um modelo que orienta a distribuição ideal dos testes em um sistema. Essa estrutura ajuda a garantir eficiência, rapidez na execução e maior confiabilidade na detecção de erros.</a:t>
            </a:r>
            <a:endParaRPr lang="pt-BR" sz="3160" noProof="0">
              <a:solidFill>
                <a:srgbClr val="000000"/>
              </a:solidFill>
              <a:latin typeface="Arial MT Pro"/>
              <a:ea typeface="Arial MT Pro"/>
              <a:cs typeface="Arial MT Pro"/>
              <a:sym typeface="Arial MT Pro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1B2A2261-84CA-A6EE-1EF7-8AA18F77066B}"/>
              </a:ext>
            </a:extLst>
          </p:cNvPr>
          <p:cNvSpPr txBox="1"/>
          <p:nvPr/>
        </p:nvSpPr>
        <p:spPr>
          <a:xfrm>
            <a:off x="4872920" y="2386495"/>
            <a:ext cx="4850179" cy="1282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10"/>
              </a:lnSpc>
            </a:pPr>
            <a:r>
              <a:rPr lang="pt-BR" sz="4554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Pirâmide de </a:t>
            </a:r>
            <a:r>
              <a:rPr lang="pt-BR" sz="4554" b="1" noProof="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Testes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BA506D-21A2-7302-4864-4678858A92FA}"/>
              </a:ext>
            </a:extLst>
          </p:cNvPr>
          <p:cNvSpPr txBox="1"/>
          <p:nvPr/>
        </p:nvSpPr>
        <p:spPr>
          <a:xfrm>
            <a:off x="9677400" y="971265"/>
            <a:ext cx="6273431" cy="25167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9590"/>
              </a:lnSpc>
              <a:spcBef>
                <a:spcPct val="0"/>
              </a:spcBef>
            </a:pPr>
            <a:r>
              <a:rPr lang="pt-BR" sz="10312" b="1" spc="-721" noProof="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Teste de software</a:t>
            </a:r>
          </a:p>
        </p:txBody>
      </p:sp>
      <p:sp>
        <p:nvSpPr>
          <p:cNvPr id="10" name="AutoShape 9">
            <a:extLst>
              <a:ext uri="{FF2B5EF4-FFF2-40B4-BE49-F238E27FC236}">
                <a16:creationId xmlns:a16="http://schemas.microsoft.com/office/drawing/2014/main" id="{F553B5D3-C858-5517-C457-E87CED798E7B}"/>
              </a:ext>
            </a:extLst>
          </p:cNvPr>
          <p:cNvSpPr/>
          <p:nvPr/>
        </p:nvSpPr>
        <p:spPr>
          <a:xfrm>
            <a:off x="9746433" y="3208165"/>
            <a:ext cx="6204398" cy="0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 noProof="0"/>
          </a:p>
        </p:txBody>
      </p:sp>
      <p:grpSp>
        <p:nvGrpSpPr>
          <p:cNvPr id="21" name="Agrupar 20">
            <a:extLst>
              <a:ext uri="{FF2B5EF4-FFF2-40B4-BE49-F238E27FC236}">
                <a16:creationId xmlns:a16="http://schemas.microsoft.com/office/drawing/2014/main" id="{A0773A8C-BEF5-37C4-117F-BDD000424B4C}"/>
              </a:ext>
            </a:extLst>
          </p:cNvPr>
          <p:cNvGrpSpPr/>
          <p:nvPr/>
        </p:nvGrpSpPr>
        <p:grpSpPr>
          <a:xfrm>
            <a:off x="1152287" y="6919263"/>
            <a:ext cx="15230838" cy="1299577"/>
            <a:chOff x="1266086" y="1312347"/>
            <a:chExt cx="15230838" cy="1299577"/>
          </a:xfrm>
        </p:grpSpPr>
        <p:sp>
          <p:nvSpPr>
            <p:cNvPr id="22" name="TextBox 3">
              <a:extLst>
                <a:ext uri="{FF2B5EF4-FFF2-40B4-BE49-F238E27FC236}">
                  <a16:creationId xmlns:a16="http://schemas.microsoft.com/office/drawing/2014/main" id="{76DE96D5-9371-09F3-D3FB-9BDE90184B8E}"/>
                </a:ext>
              </a:extLst>
            </p:cNvPr>
            <p:cNvSpPr txBox="1"/>
            <p:nvPr/>
          </p:nvSpPr>
          <p:spPr>
            <a:xfrm>
              <a:off x="2036467" y="2073507"/>
              <a:ext cx="14460457" cy="5384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ct val="115000"/>
                </a:lnSpc>
                <a:spcAft>
                  <a:spcPts val="800"/>
                </a:spcAft>
                <a:buSzPts val="1000"/>
                <a:tabLst>
                  <a:tab pos="457200" algn="l"/>
                </a:tabLst>
              </a:pPr>
              <a:r>
                <a:rPr lang="pt-BR" sz="3200" kern="100" dirty="0"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rPr>
                <a:t>Validação de pequenas partes do código.</a:t>
              </a:r>
            </a:p>
          </p:txBody>
        </p:sp>
        <p:sp>
          <p:nvSpPr>
            <p:cNvPr id="23" name="TextBox 4">
              <a:extLst>
                <a:ext uri="{FF2B5EF4-FFF2-40B4-BE49-F238E27FC236}">
                  <a16:creationId xmlns:a16="http://schemas.microsoft.com/office/drawing/2014/main" id="{466125E2-644D-78AB-0674-B9C001C1EF09}"/>
                </a:ext>
              </a:extLst>
            </p:cNvPr>
            <p:cNvSpPr txBox="1"/>
            <p:nvPr/>
          </p:nvSpPr>
          <p:spPr>
            <a:xfrm>
              <a:off x="2248894" y="1322031"/>
              <a:ext cx="5396449" cy="4601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905"/>
                </a:lnSpc>
              </a:pPr>
              <a:r>
                <a:rPr lang="pt-BR" sz="2400" b="1" kern="100">
                  <a:solidFill>
                    <a:srgbClr val="000000"/>
                  </a:solidFill>
                  <a:latin typeface="Aptos" panose="020B0004020202020204" pitchFamily="34" charset="0"/>
                  <a:ea typeface="Arial MT Pro Bold"/>
                  <a:cs typeface="Times New Roman" panose="02020603050405020304" pitchFamily="18" charset="0"/>
                  <a:sym typeface="Arial MT Pro Bold"/>
                </a:rPr>
                <a:t> Teste Unitário ( Base ) </a:t>
              </a:r>
              <a:endParaRPr lang="pt-BR" sz="2400" b="1" noProof="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endParaRPr>
            </a:p>
          </p:txBody>
        </p:sp>
        <p:sp>
          <p:nvSpPr>
            <p:cNvPr id="24" name="Freeform 8">
              <a:extLst>
                <a:ext uri="{FF2B5EF4-FFF2-40B4-BE49-F238E27FC236}">
                  <a16:creationId xmlns:a16="http://schemas.microsoft.com/office/drawing/2014/main" id="{E7E6CAC1-9916-E86F-5498-7E740E4D87BE}"/>
                </a:ext>
              </a:extLst>
            </p:cNvPr>
            <p:cNvSpPr/>
            <p:nvPr/>
          </p:nvSpPr>
          <p:spPr>
            <a:xfrm>
              <a:off x="1266086" y="1312347"/>
              <a:ext cx="707209" cy="655006"/>
            </a:xfrm>
            <a:custGeom>
              <a:avLst/>
              <a:gdLst/>
              <a:ahLst/>
              <a:cxnLst/>
              <a:rect l="l" t="t" r="r" b="b"/>
              <a:pathLst>
                <a:path w="707209" h="655006">
                  <a:moveTo>
                    <a:pt x="0" y="0"/>
                  </a:moveTo>
                  <a:lnTo>
                    <a:pt x="707209" y="0"/>
                  </a:lnTo>
                  <a:lnTo>
                    <a:pt x="707209" y="655005"/>
                  </a:lnTo>
                  <a:lnTo>
                    <a:pt x="0" y="655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 sz="1600" noProof="0"/>
            </a:p>
          </p:txBody>
        </p:sp>
      </p:grpSp>
      <p:sp>
        <p:nvSpPr>
          <p:cNvPr id="12" name="explica">
            <a:extLst>
              <a:ext uri="{FF2B5EF4-FFF2-40B4-BE49-F238E27FC236}">
                <a16:creationId xmlns:a16="http://schemas.microsoft.com/office/drawing/2014/main" id="{DF5DA972-7AA0-2660-A69B-10C51726637C}"/>
              </a:ext>
            </a:extLst>
          </p:cNvPr>
          <p:cNvSpPr txBox="1"/>
          <p:nvPr/>
        </p:nvSpPr>
        <p:spPr>
          <a:xfrm>
            <a:off x="1922668" y="8404920"/>
            <a:ext cx="14460457" cy="5384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pt-BR" sz="3200" b="1" kern="100" dirty="0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Maior parte dos teste, são rápidos e baratos. </a:t>
            </a:r>
          </a:p>
        </p:txBody>
      </p: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C040822B-A0B8-3622-9C52-AA675E028E0D}"/>
              </a:ext>
            </a:extLst>
          </p:cNvPr>
          <p:cNvGrpSpPr/>
          <p:nvPr/>
        </p:nvGrpSpPr>
        <p:grpSpPr>
          <a:xfrm>
            <a:off x="1020758" y="1196789"/>
            <a:ext cx="4129466" cy="3314978"/>
            <a:chOff x="1020758" y="1196789"/>
            <a:chExt cx="4129466" cy="3314978"/>
          </a:xfrm>
        </p:grpSpPr>
        <p:sp>
          <p:nvSpPr>
            <p:cNvPr id="11" name="Retângulo 10">
              <a:extLst>
                <a:ext uri="{FF2B5EF4-FFF2-40B4-BE49-F238E27FC236}">
                  <a16:creationId xmlns:a16="http://schemas.microsoft.com/office/drawing/2014/main" id="{699467DC-F326-E20F-DA1C-C979358825B7}"/>
                </a:ext>
              </a:extLst>
            </p:cNvPr>
            <p:cNvSpPr/>
            <p:nvPr/>
          </p:nvSpPr>
          <p:spPr>
            <a:xfrm>
              <a:off x="1020758" y="1196789"/>
              <a:ext cx="4129466" cy="331497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3076" name="Picture 4" descr="A pirâmide de testes. Um desenho maroto pra pensarmos em… | by Camila  Campos | Creditas Tech | Medium">
              <a:extLst>
                <a:ext uri="{FF2B5EF4-FFF2-40B4-BE49-F238E27FC236}">
                  <a16:creationId xmlns:a16="http://schemas.microsoft.com/office/drawing/2014/main" id="{F874180E-F100-3175-D7BA-4193BB03448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5721" y="1420806"/>
              <a:ext cx="4039540" cy="28152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138833350"/>
      </p:ext>
    </p:extLst>
  </p:cSld>
  <p:clrMapOvr>
    <a:masterClrMapping/>
  </p:clrMapOvr>
  <p:transition spd="med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9FA94C-0005-13B2-D0F1-67A2D7DE8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3E00DDC-3BF6-57BA-8CF6-6C8C40BC5772}"/>
              </a:ext>
            </a:extLst>
          </p:cNvPr>
          <p:cNvSpPr/>
          <p:nvPr/>
        </p:nvSpPr>
        <p:spPr>
          <a:xfrm>
            <a:off x="0" y="-58269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8888" b="-38888"/>
            </a:stretch>
          </a:blipFill>
        </p:spPr>
        <p:txBody>
          <a:bodyPr/>
          <a:lstStyle/>
          <a:p>
            <a:endParaRPr lang="pt-BR" noProof="0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6FEE8989-9AB7-55DB-405B-493AD8770E58}"/>
              </a:ext>
            </a:extLst>
          </p:cNvPr>
          <p:cNvSpPr/>
          <p:nvPr/>
        </p:nvSpPr>
        <p:spPr>
          <a:xfrm rot="-10477754">
            <a:off x="13912687" y="-237062"/>
            <a:ext cx="7062925" cy="7062925"/>
          </a:xfrm>
          <a:custGeom>
            <a:avLst/>
            <a:gdLst/>
            <a:ahLst/>
            <a:cxnLst/>
            <a:rect l="l" t="t" r="r" b="b"/>
            <a:pathLst>
              <a:path w="7062925" h="7062925">
                <a:moveTo>
                  <a:pt x="0" y="0"/>
                </a:moveTo>
                <a:lnTo>
                  <a:pt x="7062925" y="0"/>
                </a:lnTo>
                <a:lnTo>
                  <a:pt x="7062925" y="7062925"/>
                </a:lnTo>
                <a:lnTo>
                  <a:pt x="0" y="70629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 noProof="0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504E55F-0200-5D7D-A791-3B03B9B662C6}"/>
              </a:ext>
            </a:extLst>
          </p:cNvPr>
          <p:cNvSpPr txBox="1"/>
          <p:nvPr/>
        </p:nvSpPr>
        <p:spPr>
          <a:xfrm>
            <a:off x="4872920" y="2386495"/>
            <a:ext cx="4850179" cy="1282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10"/>
              </a:lnSpc>
            </a:pPr>
            <a:r>
              <a:rPr lang="pt-BR" sz="4554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Pirâmide de </a:t>
            </a:r>
            <a:r>
              <a:rPr lang="pt-BR" sz="4554" b="1" noProof="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Testes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39EB9B-54B4-1260-8137-303436B546A6}"/>
              </a:ext>
            </a:extLst>
          </p:cNvPr>
          <p:cNvSpPr txBox="1"/>
          <p:nvPr/>
        </p:nvSpPr>
        <p:spPr>
          <a:xfrm>
            <a:off x="9677400" y="971265"/>
            <a:ext cx="6273431" cy="25167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9590"/>
              </a:lnSpc>
              <a:spcBef>
                <a:spcPct val="0"/>
              </a:spcBef>
            </a:pPr>
            <a:r>
              <a:rPr lang="pt-BR" sz="10312" b="1" spc="-721" noProof="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Teste de software</a:t>
            </a:r>
          </a:p>
        </p:txBody>
      </p:sp>
      <p:sp>
        <p:nvSpPr>
          <p:cNvPr id="10" name="AutoShape 9">
            <a:extLst>
              <a:ext uri="{FF2B5EF4-FFF2-40B4-BE49-F238E27FC236}">
                <a16:creationId xmlns:a16="http://schemas.microsoft.com/office/drawing/2014/main" id="{25A39A0C-48A9-14B9-FCF8-A4E448F9034F}"/>
              </a:ext>
            </a:extLst>
          </p:cNvPr>
          <p:cNvSpPr/>
          <p:nvPr/>
        </p:nvSpPr>
        <p:spPr>
          <a:xfrm>
            <a:off x="9746433" y="3208165"/>
            <a:ext cx="6204398" cy="0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 noProof="0"/>
          </a:p>
        </p:txBody>
      </p: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69031470-A0D8-965B-D0B4-AF0EB6AC4CA2}"/>
              </a:ext>
            </a:extLst>
          </p:cNvPr>
          <p:cNvGrpSpPr/>
          <p:nvPr/>
        </p:nvGrpSpPr>
        <p:grpSpPr>
          <a:xfrm>
            <a:off x="1152287" y="7325208"/>
            <a:ext cx="14240114" cy="1294255"/>
            <a:chOff x="1266086" y="1312347"/>
            <a:chExt cx="14240114" cy="1294255"/>
          </a:xfrm>
        </p:grpSpPr>
        <p:sp>
          <p:nvSpPr>
            <p:cNvPr id="17" name="TextBox 3">
              <a:extLst>
                <a:ext uri="{FF2B5EF4-FFF2-40B4-BE49-F238E27FC236}">
                  <a16:creationId xmlns:a16="http://schemas.microsoft.com/office/drawing/2014/main" id="{13AFB3C0-5B60-E54F-1F89-F32F54A70A1A}"/>
                </a:ext>
              </a:extLst>
            </p:cNvPr>
            <p:cNvSpPr txBox="1"/>
            <p:nvPr/>
          </p:nvSpPr>
          <p:spPr>
            <a:xfrm>
              <a:off x="2036468" y="2073507"/>
              <a:ext cx="13469732" cy="53309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ct val="115000"/>
                </a:lnSpc>
                <a:spcAft>
                  <a:spcPts val="800"/>
                </a:spcAft>
                <a:buSzPts val="1000"/>
                <a:tabLst>
                  <a:tab pos="457200" algn="l"/>
                </a:tabLst>
              </a:pPr>
              <a:r>
                <a:rPr lang="pt-BR" sz="3200" dirty="0"/>
                <a:t>Simulação da jornada completa do usuário.</a:t>
              </a:r>
            </a:p>
          </p:txBody>
        </p:sp>
        <p:sp>
          <p:nvSpPr>
            <p:cNvPr id="18" name="TextBox 4">
              <a:extLst>
                <a:ext uri="{FF2B5EF4-FFF2-40B4-BE49-F238E27FC236}">
                  <a16:creationId xmlns:a16="http://schemas.microsoft.com/office/drawing/2014/main" id="{36CCC17C-94BA-823C-8277-50DDFEE37733}"/>
                </a:ext>
              </a:extLst>
            </p:cNvPr>
            <p:cNvSpPr txBox="1"/>
            <p:nvPr/>
          </p:nvSpPr>
          <p:spPr>
            <a:xfrm>
              <a:off x="2248894" y="1322031"/>
              <a:ext cx="5396449" cy="4601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905"/>
                </a:lnSpc>
              </a:pPr>
              <a:r>
                <a:rPr lang="pt-BR" sz="2400" b="1" kern="100"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rPr>
                <a:t>Teste de E2E ( Topo ) </a:t>
              </a:r>
              <a:r>
                <a:rPr lang="pt-BR" sz="2400" b="1" kern="100" noProof="0"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rPr>
                <a:t> </a:t>
              </a:r>
              <a:endParaRPr lang="pt-BR" sz="2400" b="1" noProof="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endParaRPr>
            </a:p>
          </p:txBody>
        </p:sp>
        <p:sp>
          <p:nvSpPr>
            <p:cNvPr id="19" name="Freeform 8">
              <a:extLst>
                <a:ext uri="{FF2B5EF4-FFF2-40B4-BE49-F238E27FC236}">
                  <a16:creationId xmlns:a16="http://schemas.microsoft.com/office/drawing/2014/main" id="{4D267953-E1D8-5FD9-6A70-49B44F20A837}"/>
                </a:ext>
              </a:extLst>
            </p:cNvPr>
            <p:cNvSpPr/>
            <p:nvPr/>
          </p:nvSpPr>
          <p:spPr>
            <a:xfrm>
              <a:off x="1266086" y="1312347"/>
              <a:ext cx="707209" cy="655006"/>
            </a:xfrm>
            <a:custGeom>
              <a:avLst/>
              <a:gdLst/>
              <a:ahLst/>
              <a:cxnLst/>
              <a:rect l="l" t="t" r="r" b="b"/>
              <a:pathLst>
                <a:path w="707209" h="655006">
                  <a:moveTo>
                    <a:pt x="0" y="0"/>
                  </a:moveTo>
                  <a:lnTo>
                    <a:pt x="707209" y="0"/>
                  </a:lnTo>
                  <a:lnTo>
                    <a:pt x="707209" y="655005"/>
                  </a:lnTo>
                  <a:lnTo>
                    <a:pt x="0" y="655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 sz="1600" noProof="0"/>
            </a:p>
          </p:txBody>
        </p:sp>
      </p:grpSp>
      <p:grpSp>
        <p:nvGrpSpPr>
          <p:cNvPr id="21" name="Agrupar 20">
            <a:extLst>
              <a:ext uri="{FF2B5EF4-FFF2-40B4-BE49-F238E27FC236}">
                <a16:creationId xmlns:a16="http://schemas.microsoft.com/office/drawing/2014/main" id="{4DCB42F5-54B8-48F0-D2EA-E5E64BB20208}"/>
              </a:ext>
            </a:extLst>
          </p:cNvPr>
          <p:cNvGrpSpPr/>
          <p:nvPr/>
        </p:nvGrpSpPr>
        <p:grpSpPr>
          <a:xfrm>
            <a:off x="1152287" y="4906974"/>
            <a:ext cx="15230838" cy="1298358"/>
            <a:chOff x="1266086" y="1312347"/>
            <a:chExt cx="15230838" cy="1298358"/>
          </a:xfrm>
        </p:grpSpPr>
        <p:sp>
          <p:nvSpPr>
            <p:cNvPr id="22" name="TextBox 3">
              <a:extLst>
                <a:ext uri="{FF2B5EF4-FFF2-40B4-BE49-F238E27FC236}">
                  <a16:creationId xmlns:a16="http://schemas.microsoft.com/office/drawing/2014/main" id="{C6764533-FE2A-ED2C-E391-B5B11BB73494}"/>
                </a:ext>
              </a:extLst>
            </p:cNvPr>
            <p:cNvSpPr txBox="1"/>
            <p:nvPr/>
          </p:nvSpPr>
          <p:spPr>
            <a:xfrm>
              <a:off x="2036467" y="2073507"/>
              <a:ext cx="14460457" cy="53719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ct val="115000"/>
                </a:lnSpc>
                <a:spcAft>
                  <a:spcPts val="800"/>
                </a:spcAft>
                <a:buSzPts val="1000"/>
                <a:tabLst>
                  <a:tab pos="457200" algn="l"/>
                </a:tabLst>
              </a:pPr>
              <a:r>
                <a:rPr lang="pt-BR" sz="3200" dirty="0"/>
                <a:t>Verificam se diferentes partes do sistema funcionam corretamente juntas</a:t>
              </a:r>
              <a:r>
                <a:rPr lang="pt-BR" sz="3200" kern="100" dirty="0">
                  <a:latin typeface="Aptos" panose="020B0004020202020204" pitchFamily="34" charset="0"/>
                  <a:cs typeface="Times New Roman" panose="02020603050405020304" pitchFamily="18" charset="0"/>
                </a:rPr>
                <a:t>. </a:t>
              </a:r>
            </a:p>
          </p:txBody>
        </p:sp>
        <p:sp>
          <p:nvSpPr>
            <p:cNvPr id="23" name="TextBox 4">
              <a:extLst>
                <a:ext uri="{FF2B5EF4-FFF2-40B4-BE49-F238E27FC236}">
                  <a16:creationId xmlns:a16="http://schemas.microsoft.com/office/drawing/2014/main" id="{77801847-2E83-31E6-E948-98B295B448BA}"/>
                </a:ext>
              </a:extLst>
            </p:cNvPr>
            <p:cNvSpPr txBox="1"/>
            <p:nvPr/>
          </p:nvSpPr>
          <p:spPr>
            <a:xfrm>
              <a:off x="2248894" y="1322031"/>
              <a:ext cx="5396449" cy="4601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905"/>
                </a:lnSpc>
              </a:pPr>
              <a:r>
                <a:rPr lang="pt-BR" sz="2400" b="1" kern="100"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rPr>
                <a:t>Teste de Integração ( Meio ) </a:t>
              </a:r>
              <a:r>
                <a:rPr lang="pt-BR" sz="2400" b="1" kern="100" noProof="0"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rPr>
                <a:t> </a:t>
              </a:r>
              <a:endParaRPr lang="pt-BR" sz="2400" b="1" noProof="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endParaRPr>
            </a:p>
          </p:txBody>
        </p:sp>
        <p:sp>
          <p:nvSpPr>
            <p:cNvPr id="24" name="Freeform 8">
              <a:extLst>
                <a:ext uri="{FF2B5EF4-FFF2-40B4-BE49-F238E27FC236}">
                  <a16:creationId xmlns:a16="http://schemas.microsoft.com/office/drawing/2014/main" id="{C59DD568-A8E8-2EE1-E7B5-DBD3226DF2FC}"/>
                </a:ext>
              </a:extLst>
            </p:cNvPr>
            <p:cNvSpPr/>
            <p:nvPr/>
          </p:nvSpPr>
          <p:spPr>
            <a:xfrm>
              <a:off x="1266086" y="1312347"/>
              <a:ext cx="707209" cy="655006"/>
            </a:xfrm>
            <a:custGeom>
              <a:avLst/>
              <a:gdLst/>
              <a:ahLst/>
              <a:cxnLst/>
              <a:rect l="l" t="t" r="r" b="b"/>
              <a:pathLst>
                <a:path w="707209" h="655006">
                  <a:moveTo>
                    <a:pt x="0" y="0"/>
                  </a:moveTo>
                  <a:lnTo>
                    <a:pt x="707209" y="0"/>
                  </a:lnTo>
                  <a:lnTo>
                    <a:pt x="707209" y="655005"/>
                  </a:lnTo>
                  <a:lnTo>
                    <a:pt x="0" y="655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 sz="1600" noProof="0"/>
            </a:p>
          </p:txBody>
        </p:sp>
      </p:grpSp>
      <p:sp>
        <p:nvSpPr>
          <p:cNvPr id="8" name="explica1">
            <a:extLst>
              <a:ext uri="{FF2B5EF4-FFF2-40B4-BE49-F238E27FC236}">
                <a16:creationId xmlns:a16="http://schemas.microsoft.com/office/drawing/2014/main" id="{F57DB55D-A6EA-5B24-B9B7-0B5297134FE9}"/>
              </a:ext>
            </a:extLst>
          </p:cNvPr>
          <p:cNvSpPr txBox="1"/>
          <p:nvPr/>
        </p:nvSpPr>
        <p:spPr>
          <a:xfrm>
            <a:off x="1859496" y="6298267"/>
            <a:ext cx="12291933" cy="5384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lvl="0" indent="-45720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pt-BR" sz="3200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Mais lentos,  mais complexos, usam mais recursos que unitário. </a:t>
            </a:r>
          </a:p>
        </p:txBody>
      </p:sp>
      <p:sp>
        <p:nvSpPr>
          <p:cNvPr id="12" name="explica2">
            <a:extLst>
              <a:ext uri="{FF2B5EF4-FFF2-40B4-BE49-F238E27FC236}">
                <a16:creationId xmlns:a16="http://schemas.microsoft.com/office/drawing/2014/main" id="{F081DA54-6D7C-5A5E-0DDD-E7C285C60C71}"/>
              </a:ext>
            </a:extLst>
          </p:cNvPr>
          <p:cNvSpPr txBox="1"/>
          <p:nvPr/>
        </p:nvSpPr>
        <p:spPr>
          <a:xfrm>
            <a:off x="1859496" y="8740480"/>
            <a:ext cx="12291933" cy="11035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pt-BR" sz="3200" b="1" dirty="0"/>
              <a:t>Os mais lentos, complexos e frágeis, devem ser poucos e focados nos fluxos mais críticos. </a:t>
            </a:r>
            <a:endParaRPr lang="pt-BR" sz="3200" b="1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2A2E7745-89B7-E0BC-66A7-BE04B55E3E01}"/>
              </a:ext>
            </a:extLst>
          </p:cNvPr>
          <p:cNvGrpSpPr/>
          <p:nvPr/>
        </p:nvGrpSpPr>
        <p:grpSpPr>
          <a:xfrm>
            <a:off x="1020758" y="1196789"/>
            <a:ext cx="4129466" cy="3314978"/>
            <a:chOff x="1020758" y="1196789"/>
            <a:chExt cx="4129466" cy="3314978"/>
          </a:xfrm>
        </p:grpSpPr>
        <p:sp>
          <p:nvSpPr>
            <p:cNvPr id="14" name="Retângulo 13">
              <a:extLst>
                <a:ext uri="{FF2B5EF4-FFF2-40B4-BE49-F238E27FC236}">
                  <a16:creationId xmlns:a16="http://schemas.microsoft.com/office/drawing/2014/main" id="{24713082-CF0C-4A89-2385-4AA953996329}"/>
                </a:ext>
              </a:extLst>
            </p:cNvPr>
            <p:cNvSpPr/>
            <p:nvPr/>
          </p:nvSpPr>
          <p:spPr>
            <a:xfrm>
              <a:off x="1020758" y="1196789"/>
              <a:ext cx="4129466" cy="331497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15" name="Picture 4" descr="A pirâmide de testes. Um desenho maroto pra pensarmos em… | by Camila  Campos | Creditas Tech | Medium">
              <a:extLst>
                <a:ext uri="{FF2B5EF4-FFF2-40B4-BE49-F238E27FC236}">
                  <a16:creationId xmlns:a16="http://schemas.microsoft.com/office/drawing/2014/main" id="{BF38A308-F581-3B83-1C6F-1A3EEDB10C9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5721" y="1420806"/>
              <a:ext cx="4039540" cy="28152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748062500"/>
      </p:ext>
    </p:extLst>
  </p:cSld>
  <p:clrMapOvr>
    <a:masterClrMapping/>
  </p:clrMapOvr>
  <p:transition spd="med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1B1BD1-E43E-141F-E0F8-D79697412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CA5E234-A354-B44F-5337-E044D485AF75}"/>
              </a:ext>
            </a:extLst>
          </p:cNvPr>
          <p:cNvSpPr/>
          <p:nvPr/>
        </p:nvSpPr>
        <p:spPr>
          <a:xfrm>
            <a:off x="-33714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pt-BR" noProof="0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6C96ED11-30D5-ECE3-0863-06DB027F1AA1}"/>
              </a:ext>
            </a:extLst>
          </p:cNvPr>
          <p:cNvSpPr/>
          <p:nvPr/>
        </p:nvSpPr>
        <p:spPr>
          <a:xfrm rot="-10477754">
            <a:off x="13912687" y="-237062"/>
            <a:ext cx="7062925" cy="7062925"/>
          </a:xfrm>
          <a:custGeom>
            <a:avLst/>
            <a:gdLst/>
            <a:ahLst/>
            <a:cxnLst/>
            <a:rect l="l" t="t" r="r" b="b"/>
            <a:pathLst>
              <a:path w="7062925" h="7062925">
                <a:moveTo>
                  <a:pt x="0" y="0"/>
                </a:moveTo>
                <a:lnTo>
                  <a:pt x="7062925" y="0"/>
                </a:lnTo>
                <a:lnTo>
                  <a:pt x="7062925" y="7062925"/>
                </a:lnTo>
                <a:lnTo>
                  <a:pt x="0" y="70629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 noProof="0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34BD04A3-99CE-F490-2BD2-3170A184E4FD}"/>
              </a:ext>
            </a:extLst>
          </p:cNvPr>
          <p:cNvSpPr txBox="1"/>
          <p:nvPr/>
        </p:nvSpPr>
        <p:spPr>
          <a:xfrm>
            <a:off x="1152287" y="4803117"/>
            <a:ext cx="15306913" cy="10990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424"/>
              </a:lnSpc>
            </a:pPr>
            <a:r>
              <a:rPr lang="pt-BR" sz="3200" dirty="0"/>
              <a:t>Os testes de </a:t>
            </a:r>
            <a:r>
              <a:rPr lang="pt-BR" sz="3200" b="1" dirty="0"/>
              <a:t>caixa preta, caixa branca e caixa cinza</a:t>
            </a:r>
            <a:r>
              <a:rPr lang="pt-BR" sz="3200" dirty="0"/>
              <a:t> representam três abordagens diferentes para validar um sistema, variando pelo nível de conhecimento sobre o código.</a:t>
            </a:r>
            <a:endParaRPr lang="pt-BR" sz="3160" noProof="0" dirty="0">
              <a:solidFill>
                <a:srgbClr val="000000"/>
              </a:solidFill>
              <a:latin typeface="Arial MT Pro"/>
              <a:ea typeface="Arial MT Pro"/>
              <a:cs typeface="Arial MT Pro"/>
              <a:sym typeface="Arial MT Pro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89F32491-0891-E652-2794-73E54F52FC7E}"/>
              </a:ext>
            </a:extLst>
          </p:cNvPr>
          <p:cNvSpPr txBox="1"/>
          <p:nvPr/>
        </p:nvSpPr>
        <p:spPr>
          <a:xfrm>
            <a:off x="4872920" y="2386495"/>
            <a:ext cx="4850179" cy="1282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10"/>
              </a:lnSpc>
            </a:pPr>
            <a:r>
              <a:rPr lang="pt-BR" sz="4554" b="1" dirty="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Teste </a:t>
            </a:r>
          </a:p>
          <a:p>
            <a:pPr algn="ctr">
              <a:lnSpc>
                <a:spcPts val="5010"/>
              </a:lnSpc>
            </a:pPr>
            <a:r>
              <a:rPr lang="pt-BR" sz="4554" b="1" dirty="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das Caixas</a:t>
            </a:r>
            <a:endParaRPr lang="pt-BR" sz="4554" b="1" noProof="0" dirty="0">
              <a:solidFill>
                <a:srgbClr val="000000"/>
              </a:solidFill>
              <a:latin typeface="Arial MT Pro Bold"/>
              <a:ea typeface="Arial MT Pro Bold"/>
              <a:cs typeface="Arial MT Pro Bold"/>
              <a:sym typeface="Arial MT Pro Bold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04635A-42F4-5ECE-EC6D-2727A213CCA8}"/>
              </a:ext>
            </a:extLst>
          </p:cNvPr>
          <p:cNvSpPr txBox="1"/>
          <p:nvPr/>
        </p:nvSpPr>
        <p:spPr>
          <a:xfrm>
            <a:off x="9677400" y="971265"/>
            <a:ext cx="6273431" cy="25167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9590"/>
              </a:lnSpc>
              <a:spcBef>
                <a:spcPct val="0"/>
              </a:spcBef>
            </a:pPr>
            <a:r>
              <a:rPr lang="pt-BR" sz="10312" b="1" spc="-721" noProof="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Teste de software</a:t>
            </a:r>
          </a:p>
        </p:txBody>
      </p:sp>
      <p:sp>
        <p:nvSpPr>
          <p:cNvPr id="10" name="AutoShape 9">
            <a:extLst>
              <a:ext uri="{FF2B5EF4-FFF2-40B4-BE49-F238E27FC236}">
                <a16:creationId xmlns:a16="http://schemas.microsoft.com/office/drawing/2014/main" id="{9D238B84-787F-E9C6-E45D-09E8F20A4C7F}"/>
              </a:ext>
            </a:extLst>
          </p:cNvPr>
          <p:cNvSpPr/>
          <p:nvPr/>
        </p:nvSpPr>
        <p:spPr>
          <a:xfrm>
            <a:off x="9746433" y="3208165"/>
            <a:ext cx="6204398" cy="0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 noProof="0"/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DFACAB25-AE8A-FDC8-8A1B-5DEC4A2CB654}"/>
              </a:ext>
            </a:extLst>
          </p:cNvPr>
          <p:cNvGrpSpPr/>
          <p:nvPr/>
        </p:nvGrpSpPr>
        <p:grpSpPr>
          <a:xfrm>
            <a:off x="1020758" y="6621243"/>
            <a:ext cx="15230838" cy="1864667"/>
            <a:chOff x="1266086" y="1312347"/>
            <a:chExt cx="15230838" cy="1864667"/>
          </a:xfrm>
        </p:grpSpPr>
        <p:sp>
          <p:nvSpPr>
            <p:cNvPr id="8" name="TextBox 3">
              <a:extLst>
                <a:ext uri="{FF2B5EF4-FFF2-40B4-BE49-F238E27FC236}">
                  <a16:creationId xmlns:a16="http://schemas.microsoft.com/office/drawing/2014/main" id="{361F88F9-D185-89E9-01B9-AA4A16F0D252}"/>
                </a:ext>
              </a:extLst>
            </p:cNvPr>
            <p:cNvSpPr txBox="1"/>
            <p:nvPr/>
          </p:nvSpPr>
          <p:spPr>
            <a:xfrm>
              <a:off x="2036467" y="2073507"/>
              <a:ext cx="14460457" cy="110350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ct val="115000"/>
                </a:lnSpc>
                <a:spcAft>
                  <a:spcPts val="800"/>
                </a:spcAft>
                <a:buSzPts val="1000"/>
                <a:tabLst>
                  <a:tab pos="457200" algn="l"/>
                </a:tabLst>
              </a:pPr>
              <a:r>
                <a:rPr lang="pt-BR" sz="3200"/>
                <a:t>Testa a estrutura interna do código. O testador conhece a lógica do sistema e cria testes para cobrir caminhos, condições e decisões do programa</a:t>
              </a:r>
              <a:r>
                <a:rPr lang="pt-BR" sz="3200" kern="100">
                  <a:latin typeface="Aptos" panose="020B0004020202020204" pitchFamily="34" charset="0"/>
                  <a:cs typeface="Times New Roman" panose="02020603050405020304" pitchFamily="18" charset="0"/>
                </a:rPr>
                <a:t>.</a:t>
              </a:r>
              <a:endParaRPr lang="pt-BR" sz="3200" b="1" kern="10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TextBox 4">
              <a:extLst>
                <a:ext uri="{FF2B5EF4-FFF2-40B4-BE49-F238E27FC236}">
                  <a16:creationId xmlns:a16="http://schemas.microsoft.com/office/drawing/2014/main" id="{1F804DD4-20EE-B01A-A038-24DFDFC7A490}"/>
                </a:ext>
              </a:extLst>
            </p:cNvPr>
            <p:cNvSpPr txBox="1"/>
            <p:nvPr/>
          </p:nvSpPr>
          <p:spPr>
            <a:xfrm>
              <a:off x="2248894" y="1322031"/>
              <a:ext cx="5396449" cy="4601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905"/>
                </a:lnSpc>
              </a:pPr>
              <a:r>
                <a:rPr lang="pt-BR" sz="2400" b="1" kern="100"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rPr>
                <a:t> Caixa Branca   </a:t>
              </a:r>
              <a:r>
                <a:rPr lang="pt-BR" sz="2400" b="1" kern="100" noProof="0"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rPr>
                <a:t> </a:t>
              </a:r>
              <a:endParaRPr lang="pt-BR" sz="2400" b="1" noProof="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endParaRPr>
            </a:p>
          </p:txBody>
        </p:sp>
        <p:sp>
          <p:nvSpPr>
            <p:cNvPr id="13" name="Freeform 8">
              <a:extLst>
                <a:ext uri="{FF2B5EF4-FFF2-40B4-BE49-F238E27FC236}">
                  <a16:creationId xmlns:a16="http://schemas.microsoft.com/office/drawing/2014/main" id="{21ED47D7-3EA7-198F-71A8-FC4D4003A6DB}"/>
                </a:ext>
              </a:extLst>
            </p:cNvPr>
            <p:cNvSpPr/>
            <p:nvPr/>
          </p:nvSpPr>
          <p:spPr>
            <a:xfrm>
              <a:off x="1266086" y="1312347"/>
              <a:ext cx="707209" cy="655006"/>
            </a:xfrm>
            <a:custGeom>
              <a:avLst/>
              <a:gdLst/>
              <a:ahLst/>
              <a:cxnLst/>
              <a:rect l="l" t="t" r="r" b="b"/>
              <a:pathLst>
                <a:path w="707209" h="655006">
                  <a:moveTo>
                    <a:pt x="0" y="0"/>
                  </a:moveTo>
                  <a:lnTo>
                    <a:pt x="707209" y="0"/>
                  </a:lnTo>
                  <a:lnTo>
                    <a:pt x="707209" y="655005"/>
                  </a:lnTo>
                  <a:lnTo>
                    <a:pt x="0" y="655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 sz="1600" noProof="0"/>
            </a:p>
          </p:txBody>
        </p:sp>
      </p:grpSp>
      <p:grpSp>
        <p:nvGrpSpPr>
          <p:cNvPr id="17" name="Agrupar 16">
            <a:extLst>
              <a:ext uri="{FF2B5EF4-FFF2-40B4-BE49-F238E27FC236}">
                <a16:creationId xmlns:a16="http://schemas.microsoft.com/office/drawing/2014/main" id="{16B7D3B8-9A88-3BD3-D09C-F306AF071ED5}"/>
              </a:ext>
            </a:extLst>
          </p:cNvPr>
          <p:cNvGrpSpPr/>
          <p:nvPr/>
        </p:nvGrpSpPr>
        <p:grpSpPr>
          <a:xfrm>
            <a:off x="1020757" y="1603691"/>
            <a:ext cx="4325347" cy="2631058"/>
            <a:chOff x="1020757" y="1603691"/>
            <a:chExt cx="4325347" cy="2631058"/>
          </a:xfrm>
        </p:grpSpPr>
        <p:sp>
          <p:nvSpPr>
            <p:cNvPr id="11" name="Retângulo 10">
              <a:extLst>
                <a:ext uri="{FF2B5EF4-FFF2-40B4-BE49-F238E27FC236}">
                  <a16:creationId xmlns:a16="http://schemas.microsoft.com/office/drawing/2014/main" id="{8834FB30-AB1F-672C-A985-708990A71065}"/>
                </a:ext>
              </a:extLst>
            </p:cNvPr>
            <p:cNvSpPr/>
            <p:nvPr/>
          </p:nvSpPr>
          <p:spPr>
            <a:xfrm>
              <a:off x="1020757" y="1603691"/>
              <a:ext cx="4325347" cy="263105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15" name="Imagem 14">
              <a:extLst>
                <a:ext uri="{FF2B5EF4-FFF2-40B4-BE49-F238E27FC236}">
                  <a16:creationId xmlns:a16="http://schemas.microsoft.com/office/drawing/2014/main" id="{F6664A38-B53C-0DF7-C7C4-6454F54C805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4647" y="1664125"/>
              <a:ext cx="4186879" cy="251677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8906857"/>
      </p:ext>
    </p:extLst>
  </p:cSld>
  <p:clrMapOvr>
    <a:masterClrMapping/>
  </p:clrMapOvr>
  <p:transition spd="med">
    <p:cover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DD7A62-80E7-E089-1DAA-624A5D5F6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043BADD-8668-7B05-328D-C0DAD28DB0DD}"/>
              </a:ext>
            </a:extLst>
          </p:cNvPr>
          <p:cNvSpPr/>
          <p:nvPr/>
        </p:nvSpPr>
        <p:spPr>
          <a:xfrm>
            <a:off x="-192145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8888" b="-38888"/>
            </a:stretch>
          </a:blipFill>
        </p:spPr>
        <p:txBody>
          <a:bodyPr/>
          <a:lstStyle/>
          <a:p>
            <a:endParaRPr lang="pt-BR" noProof="0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D37FA253-D88E-491E-403E-8C07A6491E43}"/>
              </a:ext>
            </a:extLst>
          </p:cNvPr>
          <p:cNvSpPr/>
          <p:nvPr/>
        </p:nvSpPr>
        <p:spPr>
          <a:xfrm rot="-10477754">
            <a:off x="13912687" y="-237062"/>
            <a:ext cx="7062925" cy="7062925"/>
          </a:xfrm>
          <a:custGeom>
            <a:avLst/>
            <a:gdLst/>
            <a:ahLst/>
            <a:cxnLst/>
            <a:rect l="l" t="t" r="r" b="b"/>
            <a:pathLst>
              <a:path w="7062925" h="7062925">
                <a:moveTo>
                  <a:pt x="0" y="0"/>
                </a:moveTo>
                <a:lnTo>
                  <a:pt x="7062925" y="0"/>
                </a:lnTo>
                <a:lnTo>
                  <a:pt x="7062925" y="7062925"/>
                </a:lnTo>
                <a:lnTo>
                  <a:pt x="0" y="70629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 noProof="0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E488B99D-61F2-9F36-E5F2-26296B8F0E9E}"/>
              </a:ext>
            </a:extLst>
          </p:cNvPr>
          <p:cNvSpPr txBox="1"/>
          <p:nvPr/>
        </p:nvSpPr>
        <p:spPr>
          <a:xfrm>
            <a:off x="4872920" y="2386495"/>
            <a:ext cx="4850179" cy="1282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10"/>
              </a:lnSpc>
            </a:pPr>
            <a:r>
              <a:rPr lang="pt-BR" sz="4554" b="1" dirty="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Teste </a:t>
            </a:r>
          </a:p>
          <a:p>
            <a:pPr algn="ctr">
              <a:lnSpc>
                <a:spcPts val="5010"/>
              </a:lnSpc>
            </a:pPr>
            <a:r>
              <a:rPr lang="pt-BR" sz="4554" b="1" dirty="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das Caixas</a:t>
            </a:r>
            <a:endParaRPr lang="pt-BR" sz="4554" b="1" noProof="0" dirty="0">
              <a:solidFill>
                <a:srgbClr val="000000"/>
              </a:solidFill>
              <a:latin typeface="Arial MT Pro Bold"/>
              <a:ea typeface="Arial MT Pro Bold"/>
              <a:cs typeface="Arial MT Pro Bold"/>
              <a:sym typeface="Arial MT Pro Bold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D64D90-9B6E-28A6-0E33-873CFF55B511}"/>
              </a:ext>
            </a:extLst>
          </p:cNvPr>
          <p:cNvSpPr txBox="1"/>
          <p:nvPr/>
        </p:nvSpPr>
        <p:spPr>
          <a:xfrm>
            <a:off x="9677400" y="971265"/>
            <a:ext cx="6273431" cy="25167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9590"/>
              </a:lnSpc>
              <a:spcBef>
                <a:spcPct val="0"/>
              </a:spcBef>
            </a:pPr>
            <a:r>
              <a:rPr lang="pt-BR" sz="10312" b="1" spc="-721" noProof="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Teste de software</a:t>
            </a:r>
          </a:p>
        </p:txBody>
      </p:sp>
      <p:sp>
        <p:nvSpPr>
          <p:cNvPr id="10" name="AutoShape 9">
            <a:extLst>
              <a:ext uri="{FF2B5EF4-FFF2-40B4-BE49-F238E27FC236}">
                <a16:creationId xmlns:a16="http://schemas.microsoft.com/office/drawing/2014/main" id="{696AE2DE-7ECB-CD61-701E-6B4C7A4EF971}"/>
              </a:ext>
            </a:extLst>
          </p:cNvPr>
          <p:cNvSpPr/>
          <p:nvPr/>
        </p:nvSpPr>
        <p:spPr>
          <a:xfrm>
            <a:off x="9746433" y="3208165"/>
            <a:ext cx="6204398" cy="0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 noProof="0"/>
          </a:p>
        </p:txBody>
      </p: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6CE6DB3F-7009-4937-CA1C-B2F354146404}"/>
              </a:ext>
            </a:extLst>
          </p:cNvPr>
          <p:cNvGrpSpPr/>
          <p:nvPr/>
        </p:nvGrpSpPr>
        <p:grpSpPr>
          <a:xfrm>
            <a:off x="1152287" y="7325208"/>
            <a:ext cx="14798544" cy="2430976"/>
            <a:chOff x="1266086" y="1312347"/>
            <a:chExt cx="14240114" cy="2430976"/>
          </a:xfrm>
        </p:grpSpPr>
        <p:sp>
          <p:nvSpPr>
            <p:cNvPr id="17" name="TextBox 3">
              <a:extLst>
                <a:ext uri="{FF2B5EF4-FFF2-40B4-BE49-F238E27FC236}">
                  <a16:creationId xmlns:a16="http://schemas.microsoft.com/office/drawing/2014/main" id="{E5FD2F97-9D82-7DC0-8EFA-04283B322DFE}"/>
                </a:ext>
              </a:extLst>
            </p:cNvPr>
            <p:cNvSpPr txBox="1"/>
            <p:nvPr/>
          </p:nvSpPr>
          <p:spPr>
            <a:xfrm>
              <a:off x="2036468" y="2073507"/>
              <a:ext cx="13469732" cy="166981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0">
                <a:lnSpc>
                  <a:spcPct val="115000"/>
                </a:lnSpc>
                <a:spcAft>
                  <a:spcPts val="800"/>
                </a:spcAft>
                <a:buSzPts val="1000"/>
                <a:tabLst>
                  <a:tab pos="457200" algn="l"/>
                </a:tabLst>
              </a:pPr>
              <a:r>
                <a:rPr lang="pt-BR" sz="3200"/>
                <a:t>É uma abordagem intermediária que combina a visão do usuário com conhecimento técnico parcial do sistema, permitindo testes mais estratégicos, especialmente em integrações e fluxos complexos.</a:t>
              </a:r>
              <a:endParaRPr lang="pt-BR" sz="3200" b="1" kern="10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TextBox 4">
              <a:extLst>
                <a:ext uri="{FF2B5EF4-FFF2-40B4-BE49-F238E27FC236}">
                  <a16:creationId xmlns:a16="http://schemas.microsoft.com/office/drawing/2014/main" id="{8654D909-7C20-6F42-D4B4-E3B320EDBA7E}"/>
                </a:ext>
              </a:extLst>
            </p:cNvPr>
            <p:cNvSpPr txBox="1"/>
            <p:nvPr/>
          </p:nvSpPr>
          <p:spPr>
            <a:xfrm>
              <a:off x="2248894" y="1322031"/>
              <a:ext cx="5396449" cy="4601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905"/>
                </a:lnSpc>
              </a:pPr>
              <a:r>
                <a:rPr lang="pt-BR" sz="2400" b="1" kern="100"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rPr>
                <a:t>Caixa Cinza  </a:t>
              </a:r>
              <a:r>
                <a:rPr lang="pt-BR" sz="2400" b="1" kern="100" noProof="0"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rPr>
                <a:t> </a:t>
              </a:r>
              <a:endParaRPr lang="pt-BR" sz="2400" b="1" noProof="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endParaRPr>
            </a:p>
          </p:txBody>
        </p:sp>
        <p:sp>
          <p:nvSpPr>
            <p:cNvPr id="19" name="Freeform 8">
              <a:extLst>
                <a:ext uri="{FF2B5EF4-FFF2-40B4-BE49-F238E27FC236}">
                  <a16:creationId xmlns:a16="http://schemas.microsoft.com/office/drawing/2014/main" id="{CFE96660-19C9-D0D0-26BB-10B228E63060}"/>
                </a:ext>
              </a:extLst>
            </p:cNvPr>
            <p:cNvSpPr/>
            <p:nvPr/>
          </p:nvSpPr>
          <p:spPr>
            <a:xfrm>
              <a:off x="1266086" y="1312347"/>
              <a:ext cx="707209" cy="655006"/>
            </a:xfrm>
            <a:custGeom>
              <a:avLst/>
              <a:gdLst/>
              <a:ahLst/>
              <a:cxnLst/>
              <a:rect l="l" t="t" r="r" b="b"/>
              <a:pathLst>
                <a:path w="707209" h="655006">
                  <a:moveTo>
                    <a:pt x="0" y="0"/>
                  </a:moveTo>
                  <a:lnTo>
                    <a:pt x="707209" y="0"/>
                  </a:lnTo>
                  <a:lnTo>
                    <a:pt x="707209" y="655005"/>
                  </a:lnTo>
                  <a:lnTo>
                    <a:pt x="0" y="655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 sz="1600" noProof="0"/>
            </a:p>
          </p:txBody>
        </p:sp>
      </p:grpSp>
      <p:grpSp>
        <p:nvGrpSpPr>
          <p:cNvPr id="21" name="Agrupar 20">
            <a:extLst>
              <a:ext uri="{FF2B5EF4-FFF2-40B4-BE49-F238E27FC236}">
                <a16:creationId xmlns:a16="http://schemas.microsoft.com/office/drawing/2014/main" id="{E3FD1DAF-EE36-FF48-4AD4-03A61CECE9F4}"/>
              </a:ext>
            </a:extLst>
          </p:cNvPr>
          <p:cNvGrpSpPr/>
          <p:nvPr/>
        </p:nvGrpSpPr>
        <p:grpSpPr>
          <a:xfrm>
            <a:off x="1152287" y="4906974"/>
            <a:ext cx="15230839" cy="2324627"/>
            <a:chOff x="1266086" y="1312347"/>
            <a:chExt cx="15230839" cy="2324627"/>
          </a:xfrm>
        </p:grpSpPr>
        <p:sp>
          <p:nvSpPr>
            <p:cNvPr id="22" name="TextBox 3">
              <a:extLst>
                <a:ext uri="{FF2B5EF4-FFF2-40B4-BE49-F238E27FC236}">
                  <a16:creationId xmlns:a16="http://schemas.microsoft.com/office/drawing/2014/main" id="{BF1E3495-3C84-6AEA-3BE2-B87FA2BAFD05}"/>
                </a:ext>
              </a:extLst>
            </p:cNvPr>
            <p:cNvSpPr txBox="1"/>
            <p:nvPr/>
          </p:nvSpPr>
          <p:spPr>
            <a:xfrm>
              <a:off x="2036468" y="1967158"/>
              <a:ext cx="14460457" cy="16698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ct val="115000"/>
                </a:lnSpc>
                <a:spcAft>
                  <a:spcPts val="800"/>
                </a:spcAft>
                <a:buSzPts val="1000"/>
                <a:tabLst>
                  <a:tab pos="457200" algn="l"/>
                </a:tabLst>
              </a:pPr>
              <a:r>
                <a:rPr lang="pt-BR" sz="3200"/>
                <a:t>Testes de caixa preta avaliam o comportamento do sistema sem considerar o código interno, focando nas entradas e saídas para garantir que as funcionalidades atendam aos requisitos e às expectativas do usuário.</a:t>
              </a:r>
              <a:endParaRPr lang="pt-BR" sz="3200" b="1" kern="10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TextBox 4">
              <a:extLst>
                <a:ext uri="{FF2B5EF4-FFF2-40B4-BE49-F238E27FC236}">
                  <a16:creationId xmlns:a16="http://schemas.microsoft.com/office/drawing/2014/main" id="{14CA2AC0-28E1-A621-F922-F8897984F681}"/>
                </a:ext>
              </a:extLst>
            </p:cNvPr>
            <p:cNvSpPr txBox="1"/>
            <p:nvPr/>
          </p:nvSpPr>
          <p:spPr>
            <a:xfrm>
              <a:off x="2248894" y="1322031"/>
              <a:ext cx="5396449" cy="4601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905"/>
                </a:lnSpc>
              </a:pPr>
              <a:r>
                <a:rPr lang="pt-BR" sz="2400" b="1" kern="100"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rPr>
                <a:t> Caixa Preta   </a:t>
              </a:r>
              <a:r>
                <a:rPr lang="pt-BR" sz="2400" b="1" kern="100" noProof="0"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rPr>
                <a:t> </a:t>
              </a:r>
              <a:endParaRPr lang="pt-BR" sz="2400" b="1" noProof="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endParaRPr>
            </a:p>
          </p:txBody>
        </p:sp>
        <p:sp>
          <p:nvSpPr>
            <p:cNvPr id="24" name="Freeform 8">
              <a:extLst>
                <a:ext uri="{FF2B5EF4-FFF2-40B4-BE49-F238E27FC236}">
                  <a16:creationId xmlns:a16="http://schemas.microsoft.com/office/drawing/2014/main" id="{48DDFB64-5BC7-5B2C-4ABB-AA2FFB6E4EE0}"/>
                </a:ext>
              </a:extLst>
            </p:cNvPr>
            <p:cNvSpPr/>
            <p:nvPr/>
          </p:nvSpPr>
          <p:spPr>
            <a:xfrm>
              <a:off x="1266086" y="1312347"/>
              <a:ext cx="707209" cy="655006"/>
            </a:xfrm>
            <a:custGeom>
              <a:avLst/>
              <a:gdLst/>
              <a:ahLst/>
              <a:cxnLst/>
              <a:rect l="l" t="t" r="r" b="b"/>
              <a:pathLst>
                <a:path w="707209" h="655006">
                  <a:moveTo>
                    <a:pt x="0" y="0"/>
                  </a:moveTo>
                  <a:lnTo>
                    <a:pt x="707209" y="0"/>
                  </a:lnTo>
                  <a:lnTo>
                    <a:pt x="707209" y="655005"/>
                  </a:lnTo>
                  <a:lnTo>
                    <a:pt x="0" y="655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 sz="1600" noProof="0"/>
            </a:p>
          </p:txBody>
        </p:sp>
      </p:grpSp>
      <p:grpSp>
        <p:nvGrpSpPr>
          <p:cNvPr id="5" name="Agrupar 4">
            <a:extLst>
              <a:ext uri="{FF2B5EF4-FFF2-40B4-BE49-F238E27FC236}">
                <a16:creationId xmlns:a16="http://schemas.microsoft.com/office/drawing/2014/main" id="{B2806FF2-7896-B52C-EA6E-8B2327FAF402}"/>
              </a:ext>
            </a:extLst>
          </p:cNvPr>
          <p:cNvGrpSpPr/>
          <p:nvPr/>
        </p:nvGrpSpPr>
        <p:grpSpPr>
          <a:xfrm>
            <a:off x="1020757" y="1603691"/>
            <a:ext cx="4325347" cy="2631058"/>
            <a:chOff x="1020757" y="1603691"/>
            <a:chExt cx="4325347" cy="2631058"/>
          </a:xfrm>
        </p:grpSpPr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8C556963-7426-7703-C8AD-666F210EFCCE}"/>
                </a:ext>
              </a:extLst>
            </p:cNvPr>
            <p:cNvSpPr/>
            <p:nvPr/>
          </p:nvSpPr>
          <p:spPr>
            <a:xfrm>
              <a:off x="1020757" y="1603691"/>
              <a:ext cx="4325347" cy="2631058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8" name="Imagem 7">
              <a:extLst>
                <a:ext uri="{FF2B5EF4-FFF2-40B4-BE49-F238E27FC236}">
                  <a16:creationId xmlns:a16="http://schemas.microsoft.com/office/drawing/2014/main" id="{DA92D81A-3FB4-6CFF-6A04-8ADF56C5F64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94647" y="1664125"/>
              <a:ext cx="4186879" cy="251677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845457023"/>
      </p:ext>
    </p:extLst>
  </p:cSld>
  <p:clrMapOvr>
    <a:masterClrMapping/>
  </p:clrMapOvr>
  <p:transition spd="med">
    <p:cover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F39672-DD86-D650-0235-86C759833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4E672F2-DCB7-A1D2-5E88-0648A0B2C84B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8888" b="-38888"/>
            </a:stretch>
          </a:blipFill>
        </p:spPr>
        <p:txBody>
          <a:bodyPr/>
          <a:lstStyle/>
          <a:p>
            <a:endParaRPr lang="pt-BR" noProof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057FB37F-58FF-A429-8D2A-5A456A25603E}"/>
              </a:ext>
            </a:extLst>
          </p:cNvPr>
          <p:cNvSpPr/>
          <p:nvPr/>
        </p:nvSpPr>
        <p:spPr>
          <a:xfrm>
            <a:off x="7790841" y="1015241"/>
            <a:ext cx="707209" cy="655006"/>
          </a:xfrm>
          <a:custGeom>
            <a:avLst/>
            <a:gdLst/>
            <a:ahLst/>
            <a:cxnLst/>
            <a:rect l="l" t="t" r="r" b="b"/>
            <a:pathLst>
              <a:path w="707209" h="655006">
                <a:moveTo>
                  <a:pt x="0" y="0"/>
                </a:moveTo>
                <a:lnTo>
                  <a:pt x="707209" y="0"/>
                </a:lnTo>
                <a:lnTo>
                  <a:pt x="707209" y="655005"/>
                </a:lnTo>
                <a:lnTo>
                  <a:pt x="0" y="6550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 noProof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5BBBC629-81F2-917B-4BC9-37AF52443E21}"/>
              </a:ext>
            </a:extLst>
          </p:cNvPr>
          <p:cNvSpPr txBox="1"/>
          <p:nvPr/>
        </p:nvSpPr>
        <p:spPr>
          <a:xfrm>
            <a:off x="8841032" y="1736809"/>
            <a:ext cx="8418268" cy="20800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4060"/>
              </a:lnSpc>
            </a:pPr>
            <a:r>
              <a:rPr lang="pt-BR" sz="3200" dirty="0"/>
              <a:t>Particionamento de equivalência é uma técnica que divide os dados de entrada em grupos com comportamento semelhante, permitindo testar apenas um representante de cada grupo. 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362306AF-1C6C-51B8-602A-8D52F62A195D}"/>
              </a:ext>
            </a:extLst>
          </p:cNvPr>
          <p:cNvSpPr txBox="1"/>
          <p:nvPr/>
        </p:nvSpPr>
        <p:spPr>
          <a:xfrm>
            <a:off x="8841032" y="1082234"/>
            <a:ext cx="7389568" cy="4875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905"/>
              </a:lnSpc>
            </a:pPr>
            <a:r>
              <a:rPr lang="pt-BR" sz="3200" b="1" noProof="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PARTICIONAMENTO EQUIVALENTE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6A70526B-DE4E-8A8B-C513-D1D31733743F}"/>
              </a:ext>
            </a:extLst>
          </p:cNvPr>
          <p:cNvSpPr txBox="1"/>
          <p:nvPr/>
        </p:nvSpPr>
        <p:spPr>
          <a:xfrm>
            <a:off x="8841032" y="6939211"/>
            <a:ext cx="8418268" cy="1028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4060"/>
              </a:lnSpc>
              <a:spcBef>
                <a:spcPct val="0"/>
              </a:spcBef>
            </a:pPr>
            <a:r>
              <a:rPr lang="pt-BR" sz="3200" dirty="0"/>
              <a:t>Análise de valor limite foca nos valores extremos onde erros são mais prováveis. 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56F2D6E4-41CE-9F75-1667-A4A124127868}"/>
              </a:ext>
            </a:extLst>
          </p:cNvPr>
          <p:cNvSpPr txBox="1"/>
          <p:nvPr/>
        </p:nvSpPr>
        <p:spPr>
          <a:xfrm>
            <a:off x="931767" y="7572267"/>
            <a:ext cx="6176898" cy="23083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581"/>
              </a:lnSpc>
            </a:pPr>
            <a:r>
              <a:rPr lang="pt-BR" sz="3256" dirty="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PARTICIONAMENTO EQUIVALENTE</a:t>
            </a:r>
            <a:endParaRPr lang="pt-BR" sz="3256" noProof="0" dirty="0">
              <a:solidFill>
                <a:srgbClr val="000000"/>
              </a:solidFill>
              <a:latin typeface="Arial MT Pro"/>
              <a:ea typeface="Arial MT Pro"/>
              <a:cs typeface="Arial MT Pro"/>
              <a:sym typeface="Arial MT Pro"/>
            </a:endParaRPr>
          </a:p>
          <a:p>
            <a:pPr algn="ctr">
              <a:lnSpc>
                <a:spcPts val="3581"/>
              </a:lnSpc>
            </a:pPr>
            <a:r>
              <a:rPr lang="pt-BR" sz="3256" noProof="0" dirty="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ANALISE DE VALOR LIMITE </a:t>
            </a:r>
          </a:p>
          <a:p>
            <a:pPr algn="ctr">
              <a:lnSpc>
                <a:spcPts val="3581"/>
              </a:lnSpc>
            </a:pPr>
            <a:r>
              <a:rPr lang="pt-BR" sz="3256" noProof="0" dirty="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TESTE BASEADO EM RISCO</a:t>
            </a:r>
          </a:p>
          <a:p>
            <a:pPr algn="ctr">
              <a:lnSpc>
                <a:spcPts val="3581"/>
              </a:lnSpc>
            </a:pPr>
            <a:r>
              <a:rPr lang="pt-BR" sz="3256" noProof="0" dirty="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ANALISE DE LOGS </a:t>
            </a:r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3E062953-1703-C9DD-709F-7FB9ADFCAAFA}"/>
              </a:ext>
            </a:extLst>
          </p:cNvPr>
          <p:cNvSpPr/>
          <p:nvPr/>
        </p:nvSpPr>
        <p:spPr>
          <a:xfrm>
            <a:off x="1744788" y="844533"/>
            <a:ext cx="4550856" cy="4550856"/>
          </a:xfrm>
          <a:custGeom>
            <a:avLst/>
            <a:gdLst/>
            <a:ahLst/>
            <a:cxnLst/>
            <a:rect l="l" t="t" r="r" b="b"/>
            <a:pathLst>
              <a:path w="4550856" h="4550856">
                <a:moveTo>
                  <a:pt x="0" y="0"/>
                </a:moveTo>
                <a:lnTo>
                  <a:pt x="4550856" y="0"/>
                </a:lnTo>
                <a:lnTo>
                  <a:pt x="4550856" y="4550856"/>
                </a:lnTo>
                <a:lnTo>
                  <a:pt x="0" y="45508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 noProof="0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D083107D-F88A-3043-7EE3-B135A8A87007}"/>
              </a:ext>
            </a:extLst>
          </p:cNvPr>
          <p:cNvSpPr txBox="1"/>
          <p:nvPr/>
        </p:nvSpPr>
        <p:spPr>
          <a:xfrm>
            <a:off x="2928925" y="1173146"/>
            <a:ext cx="2182582" cy="3420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228"/>
              </a:lnSpc>
            </a:pPr>
            <a:r>
              <a:rPr lang="pt-BR" sz="20163" b="1" noProof="0" dirty="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4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1DB460C0-8CA1-6479-D449-FE790368B45D}"/>
              </a:ext>
            </a:extLst>
          </p:cNvPr>
          <p:cNvSpPr txBox="1"/>
          <p:nvPr/>
        </p:nvSpPr>
        <p:spPr>
          <a:xfrm>
            <a:off x="931767" y="5820415"/>
            <a:ext cx="6370763" cy="743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09"/>
              </a:lnSpc>
            </a:pPr>
            <a:r>
              <a:rPr lang="pt-BR" sz="5233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Técnicas de Teste </a:t>
            </a:r>
            <a:endParaRPr lang="pt-BR" sz="5233" b="1" noProof="0">
              <a:solidFill>
                <a:srgbClr val="000000"/>
              </a:solidFill>
              <a:latin typeface="Arial MT Pro Bold"/>
              <a:ea typeface="Arial MT Pro Bold"/>
              <a:cs typeface="Arial MT Pro Bold"/>
              <a:sym typeface="Arial MT Pro Bold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F597410E-F522-71FE-9264-BB4CBB98191E}"/>
              </a:ext>
            </a:extLst>
          </p:cNvPr>
          <p:cNvSpPr txBox="1"/>
          <p:nvPr/>
        </p:nvSpPr>
        <p:spPr>
          <a:xfrm>
            <a:off x="8841032" y="6228076"/>
            <a:ext cx="6475168" cy="5001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905"/>
              </a:lnSpc>
            </a:pPr>
            <a:r>
              <a:rPr lang="pt-BR" sz="3550" b="1" noProof="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ANALISE DE VALOR LIMITE</a:t>
            </a: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370F7172-2C5F-FD60-E8E7-128B17BB7E2B}"/>
              </a:ext>
            </a:extLst>
          </p:cNvPr>
          <p:cNvSpPr/>
          <p:nvPr/>
        </p:nvSpPr>
        <p:spPr>
          <a:xfrm>
            <a:off x="7790841" y="6161083"/>
            <a:ext cx="707209" cy="655006"/>
          </a:xfrm>
          <a:custGeom>
            <a:avLst/>
            <a:gdLst/>
            <a:ahLst/>
            <a:cxnLst/>
            <a:rect l="l" t="t" r="r" b="b"/>
            <a:pathLst>
              <a:path w="707209" h="655006">
                <a:moveTo>
                  <a:pt x="0" y="0"/>
                </a:moveTo>
                <a:lnTo>
                  <a:pt x="707209" y="0"/>
                </a:lnTo>
                <a:lnTo>
                  <a:pt x="707209" y="655005"/>
                </a:lnTo>
                <a:lnTo>
                  <a:pt x="0" y="6550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 noProof="0"/>
          </a:p>
        </p:txBody>
      </p:sp>
      <p:sp>
        <p:nvSpPr>
          <p:cNvPr id="14" name="exemplo1">
            <a:extLst>
              <a:ext uri="{FF2B5EF4-FFF2-40B4-BE49-F238E27FC236}">
                <a16:creationId xmlns:a16="http://schemas.microsoft.com/office/drawing/2014/main" id="{182D3FDE-0FB1-2C1B-D526-D76032F88061}"/>
              </a:ext>
            </a:extLst>
          </p:cNvPr>
          <p:cNvSpPr txBox="1"/>
          <p:nvPr/>
        </p:nvSpPr>
        <p:spPr>
          <a:xfrm>
            <a:off x="8841032" y="3986172"/>
            <a:ext cx="8418268" cy="16498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ts val="4060"/>
              </a:lnSpc>
            </a:pPr>
            <a:r>
              <a:rPr lang="pt-BR" sz="3200" dirty="0"/>
              <a:t>Exemplo: para um campo que aceita idades entre 18 e 60, testa-se 17 (inválido), 30 (válido) e 65 (inválido).</a:t>
            </a:r>
            <a:endParaRPr lang="pt-BR" sz="2900" dirty="0">
              <a:solidFill>
                <a:srgbClr val="000000"/>
              </a:solidFill>
              <a:latin typeface="Arial MT Pro"/>
              <a:ea typeface="Arial MT Pro"/>
              <a:cs typeface="Arial MT Pro"/>
              <a:sym typeface="Arial MT Pro"/>
            </a:endParaRPr>
          </a:p>
        </p:txBody>
      </p:sp>
      <p:sp>
        <p:nvSpPr>
          <p:cNvPr id="17" name="exemplo2">
            <a:extLst>
              <a:ext uri="{FF2B5EF4-FFF2-40B4-BE49-F238E27FC236}">
                <a16:creationId xmlns:a16="http://schemas.microsoft.com/office/drawing/2014/main" id="{65B2D5EB-6204-FA18-0961-ECBB90DBFCD2}"/>
              </a:ext>
            </a:extLst>
          </p:cNvPr>
          <p:cNvSpPr txBox="1"/>
          <p:nvPr/>
        </p:nvSpPr>
        <p:spPr>
          <a:xfrm>
            <a:off x="8841032" y="8134704"/>
            <a:ext cx="8418268" cy="16466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ts val="4060"/>
              </a:lnSpc>
              <a:spcBef>
                <a:spcPct val="0"/>
              </a:spcBef>
            </a:pPr>
            <a:r>
              <a:rPr lang="pt-BR" sz="3200" dirty="0"/>
              <a:t>Exemplo: para um campo que aceita números de 1 a 100, testa-se 0 (inválido), 1 (válido), 100 (válido) e 101 (inválido).</a:t>
            </a:r>
            <a:r>
              <a:rPr lang="pt-BR" sz="2900" dirty="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907891"/>
      </p:ext>
    </p:extLst>
  </p:cSld>
  <p:clrMapOvr>
    <a:masterClrMapping/>
  </p:clrMapOvr>
  <p:transition spd="med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2714EA-4F85-7D21-4FF4-8A428140F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843C5B9-255E-2DEA-CE43-C7AEA0271E67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pt-BR" noProof="0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1FA77C9D-6E6D-BF98-35DC-5A575C495280}"/>
              </a:ext>
            </a:extLst>
          </p:cNvPr>
          <p:cNvSpPr txBox="1"/>
          <p:nvPr/>
        </p:nvSpPr>
        <p:spPr>
          <a:xfrm>
            <a:off x="2036467" y="5700464"/>
            <a:ext cx="13877645" cy="15574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4060"/>
              </a:lnSpc>
              <a:spcBef>
                <a:spcPct val="0"/>
              </a:spcBef>
            </a:pPr>
            <a:r>
              <a:rPr lang="pt-BR" sz="3200" dirty="0"/>
              <a:t>O uso de logs consiste em analisar registros gerados pelo sistema durante sua execução para identificar erros, falhas e comportamentos inesperados. Esses logs refletem problemas reais que ocorreram em execução,</a:t>
            </a:r>
            <a:endParaRPr lang="pt-BR" sz="2900" u="none" strike="noStrike" noProof="0" dirty="0">
              <a:solidFill>
                <a:srgbClr val="000000"/>
              </a:solidFill>
              <a:latin typeface="Arial MT Pro"/>
              <a:ea typeface="Arial MT Pro"/>
              <a:cs typeface="Arial MT Pro"/>
              <a:sym typeface="Arial MT Pro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A6F25E09-0B2C-4A61-B465-D500BBC42ED5}"/>
              </a:ext>
            </a:extLst>
          </p:cNvPr>
          <p:cNvSpPr txBox="1"/>
          <p:nvPr/>
        </p:nvSpPr>
        <p:spPr>
          <a:xfrm>
            <a:off x="2341267" y="4950527"/>
            <a:ext cx="5396449" cy="5001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05"/>
              </a:lnSpc>
            </a:pPr>
            <a:r>
              <a:rPr lang="pt-BR" sz="3550" b="1" noProof="0" dirty="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ANÁLISES DE LOGS </a:t>
            </a:r>
          </a:p>
        </p:txBody>
      </p:sp>
      <p:sp>
        <p:nvSpPr>
          <p:cNvPr id="7" name="exemplo4">
            <a:extLst>
              <a:ext uri="{FF2B5EF4-FFF2-40B4-BE49-F238E27FC236}">
                <a16:creationId xmlns:a16="http://schemas.microsoft.com/office/drawing/2014/main" id="{24C35A48-BE55-D1C0-0BB6-BBC0B12D5B2B}"/>
              </a:ext>
            </a:extLst>
          </p:cNvPr>
          <p:cNvSpPr txBox="1"/>
          <p:nvPr/>
        </p:nvSpPr>
        <p:spPr>
          <a:xfrm>
            <a:off x="1797382" y="7748937"/>
            <a:ext cx="13979550" cy="15081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08734" lvl="1" algn="ctr">
              <a:lnSpc>
                <a:spcPts val="4003"/>
              </a:lnSpc>
            </a:pPr>
            <a:r>
              <a:rPr lang="pt-BR" sz="2800" dirty="0"/>
              <a:t>Exemplo: Um log mostra o erro </a:t>
            </a:r>
            <a:r>
              <a:rPr lang="pt-BR" sz="2800" b="1" dirty="0"/>
              <a:t>“</a:t>
            </a:r>
            <a:r>
              <a:rPr lang="pt-BR" sz="2800" b="1" dirty="0">
                <a:solidFill>
                  <a:srgbClr val="FF0000"/>
                </a:solidFill>
              </a:rPr>
              <a:t>TypeError: </a:t>
            </a:r>
            <a:r>
              <a:rPr lang="pt-BR" sz="2800" b="1" dirty="0"/>
              <a:t>cannot read </a:t>
            </a:r>
            <a:r>
              <a:rPr lang="pt-BR" sz="2800" b="1" dirty="0" err="1"/>
              <a:t>property</a:t>
            </a:r>
            <a:r>
              <a:rPr lang="pt-BR" sz="2800" b="1" dirty="0"/>
              <a:t> '</a:t>
            </a:r>
            <a:r>
              <a:rPr lang="pt-BR" sz="2800" b="1" dirty="0" err="1"/>
              <a:t>email</a:t>
            </a:r>
            <a:r>
              <a:rPr lang="pt-BR" sz="2800" b="1" dirty="0"/>
              <a:t>' </a:t>
            </a:r>
            <a:r>
              <a:rPr lang="pt-BR" sz="2800" b="1" dirty="0" err="1"/>
              <a:t>of</a:t>
            </a:r>
            <a:r>
              <a:rPr lang="pt-BR" sz="2800" b="1" dirty="0"/>
              <a:t> </a:t>
            </a:r>
            <a:r>
              <a:rPr lang="pt-BR" sz="2800" b="1" dirty="0" err="1"/>
              <a:t>undefined</a:t>
            </a:r>
            <a:r>
              <a:rPr lang="pt-BR" sz="2800" b="1" dirty="0"/>
              <a:t>”</a:t>
            </a:r>
            <a:r>
              <a:rPr lang="pt-BR" sz="2800" dirty="0"/>
              <a:t> durante o login. A partir disso, cria um teste para validar o comportamento quando o campo </a:t>
            </a:r>
            <a:r>
              <a:rPr lang="pt-BR" sz="2800" dirty="0" err="1"/>
              <a:t>email</a:t>
            </a:r>
            <a:r>
              <a:rPr lang="pt-BR" sz="2800" dirty="0"/>
              <a:t> não é enviado</a:t>
            </a:r>
            <a:endParaRPr lang="pt-BR" sz="2800" b="1" noProof="0" dirty="0">
              <a:solidFill>
                <a:srgbClr val="000000"/>
              </a:solidFill>
              <a:latin typeface="Arial MT Pro Bold"/>
              <a:ea typeface="Arial MT Pro Bold"/>
              <a:cs typeface="Arial MT Pro Bold"/>
              <a:sym typeface="Arial MT Pro Bold"/>
            </a:endParaRP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id="{C0BE2AFC-7E9E-A317-495F-DC3422DC1B50}"/>
              </a:ext>
            </a:extLst>
          </p:cNvPr>
          <p:cNvGrpSpPr/>
          <p:nvPr/>
        </p:nvGrpSpPr>
        <p:grpSpPr>
          <a:xfrm>
            <a:off x="1266086" y="1312347"/>
            <a:ext cx="15230838" cy="1776053"/>
            <a:chOff x="1266086" y="1312347"/>
            <a:chExt cx="15230838" cy="1776053"/>
          </a:xfrm>
        </p:grpSpPr>
        <p:sp>
          <p:nvSpPr>
            <p:cNvPr id="3" name="TextBox 3">
              <a:extLst>
                <a:ext uri="{FF2B5EF4-FFF2-40B4-BE49-F238E27FC236}">
                  <a16:creationId xmlns:a16="http://schemas.microsoft.com/office/drawing/2014/main" id="{4498B84B-0E96-D276-A1DE-72253CC0D753}"/>
                </a:ext>
              </a:extLst>
            </p:cNvPr>
            <p:cNvSpPr txBox="1"/>
            <p:nvPr/>
          </p:nvSpPr>
          <p:spPr>
            <a:xfrm>
              <a:off x="2036467" y="2073507"/>
              <a:ext cx="14460457" cy="10148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ts val="4060"/>
                </a:lnSpc>
              </a:pPr>
              <a:r>
                <a:rPr lang="pt-BR" sz="2800" dirty="0"/>
                <a:t>Teste baseado em risco é uma técnica que prioriza os testes nas partes mais críticas do sistema, onde há maior chance de falha ou impacto. </a:t>
              </a:r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1003A8F2-E043-7061-191E-952E157EC79A}"/>
                </a:ext>
              </a:extLst>
            </p:cNvPr>
            <p:cNvSpPr txBox="1"/>
            <p:nvPr/>
          </p:nvSpPr>
          <p:spPr>
            <a:xfrm>
              <a:off x="2248894" y="1322031"/>
              <a:ext cx="6329049" cy="50013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3905"/>
                </a:lnSpc>
              </a:pPr>
              <a:r>
                <a:rPr lang="pt-BR" sz="3550" b="1" dirty="0">
                  <a:solidFill>
                    <a:srgbClr val="000000"/>
                  </a:solidFill>
                  <a:latin typeface="Arial MT Pro Bold"/>
                  <a:ea typeface="Arial MT Pro Bold"/>
                  <a:cs typeface="Arial MT Pro Bold"/>
                  <a:sym typeface="Arial MT Pro Bold"/>
                </a:rPr>
                <a:t>TESTE BASEADO EM RISCO </a:t>
              </a:r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A3FCC9E2-1FC6-C58C-C3B8-372765F7480C}"/>
                </a:ext>
              </a:extLst>
            </p:cNvPr>
            <p:cNvSpPr/>
            <p:nvPr/>
          </p:nvSpPr>
          <p:spPr>
            <a:xfrm>
              <a:off x="1266086" y="1312347"/>
              <a:ext cx="707209" cy="655006"/>
            </a:xfrm>
            <a:custGeom>
              <a:avLst/>
              <a:gdLst/>
              <a:ahLst/>
              <a:cxnLst/>
              <a:rect l="l" t="t" r="r" b="b"/>
              <a:pathLst>
                <a:path w="707209" h="655006">
                  <a:moveTo>
                    <a:pt x="0" y="0"/>
                  </a:moveTo>
                  <a:lnTo>
                    <a:pt x="707209" y="0"/>
                  </a:lnTo>
                  <a:lnTo>
                    <a:pt x="707209" y="655005"/>
                  </a:lnTo>
                  <a:lnTo>
                    <a:pt x="0" y="655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 noProof="0"/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C113CD5C-B161-AA35-0246-ED60EE373513}"/>
              </a:ext>
            </a:extLst>
          </p:cNvPr>
          <p:cNvSpPr/>
          <p:nvPr/>
        </p:nvSpPr>
        <p:spPr>
          <a:xfrm>
            <a:off x="1266086" y="4940843"/>
            <a:ext cx="707209" cy="655006"/>
          </a:xfrm>
          <a:custGeom>
            <a:avLst/>
            <a:gdLst/>
            <a:ahLst/>
            <a:cxnLst/>
            <a:rect l="l" t="t" r="r" b="b"/>
            <a:pathLst>
              <a:path w="707209" h="655006">
                <a:moveTo>
                  <a:pt x="0" y="0"/>
                </a:moveTo>
                <a:lnTo>
                  <a:pt x="707209" y="0"/>
                </a:lnTo>
                <a:lnTo>
                  <a:pt x="707209" y="655006"/>
                </a:lnTo>
                <a:lnTo>
                  <a:pt x="0" y="6550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 noProof="0"/>
          </a:p>
        </p:txBody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BD5DE16-9ED4-416C-C3F4-84E919548483}"/>
              </a:ext>
            </a:extLst>
          </p:cNvPr>
          <p:cNvGrpSpPr/>
          <p:nvPr/>
        </p:nvGrpSpPr>
        <p:grpSpPr>
          <a:xfrm>
            <a:off x="16868399" y="-568837"/>
            <a:ext cx="1792828" cy="11019359"/>
            <a:chOff x="0" y="0"/>
            <a:chExt cx="472185" cy="2902218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56AC47BF-A7AD-A0F5-48C5-204631C304F0}"/>
                </a:ext>
              </a:extLst>
            </p:cNvPr>
            <p:cNvSpPr/>
            <p:nvPr/>
          </p:nvSpPr>
          <p:spPr>
            <a:xfrm>
              <a:off x="0" y="0"/>
              <a:ext cx="472185" cy="2902218"/>
            </a:xfrm>
            <a:custGeom>
              <a:avLst/>
              <a:gdLst/>
              <a:ahLst/>
              <a:cxnLst/>
              <a:rect l="l" t="t" r="r" b="b"/>
              <a:pathLst>
                <a:path w="472185" h="2902218">
                  <a:moveTo>
                    <a:pt x="0" y="0"/>
                  </a:moveTo>
                  <a:lnTo>
                    <a:pt x="472185" y="0"/>
                  </a:lnTo>
                  <a:lnTo>
                    <a:pt x="472185" y="2902218"/>
                  </a:lnTo>
                  <a:lnTo>
                    <a:pt x="0" y="290221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pt-BR" noProof="0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5369F3C-99DC-EBCE-84F8-3E2BFDB286B1}"/>
                </a:ext>
              </a:extLst>
            </p:cNvPr>
            <p:cNvSpPr txBox="1"/>
            <p:nvPr/>
          </p:nvSpPr>
          <p:spPr>
            <a:xfrm>
              <a:off x="0" y="-76200"/>
              <a:ext cx="472185" cy="2978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lang="pt-BR" noProof="0"/>
            </a:p>
          </p:txBody>
        </p:sp>
      </p:grpSp>
      <p:sp>
        <p:nvSpPr>
          <p:cNvPr id="13" name="exemplo3">
            <a:extLst>
              <a:ext uri="{FF2B5EF4-FFF2-40B4-BE49-F238E27FC236}">
                <a16:creationId xmlns:a16="http://schemas.microsoft.com/office/drawing/2014/main" id="{1D1EC3CF-B808-B60F-4007-4AFFD99D0013}"/>
              </a:ext>
            </a:extLst>
          </p:cNvPr>
          <p:cNvSpPr txBox="1"/>
          <p:nvPr/>
        </p:nvSpPr>
        <p:spPr>
          <a:xfrm>
            <a:off x="2036467" y="3437733"/>
            <a:ext cx="13501381" cy="10176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lnSpc>
                <a:spcPts val="4060"/>
              </a:lnSpc>
            </a:pPr>
            <a:r>
              <a:rPr lang="pt-BR" sz="2800" dirty="0"/>
              <a:t>Exemplo: em um sistema, o módulo de pagamento é testado com mais profundidade do que a troca de tema, por ter maior risco e impacto.</a:t>
            </a:r>
            <a:endParaRPr lang="pt-BR" sz="2800" dirty="0">
              <a:solidFill>
                <a:srgbClr val="000000"/>
              </a:solidFill>
              <a:latin typeface="Arial MT Pro"/>
              <a:ea typeface="Arial MT Pro"/>
              <a:cs typeface="Arial MT Pro"/>
              <a:sym typeface="Arial MT Pro"/>
            </a:endParaRPr>
          </a:p>
        </p:txBody>
      </p:sp>
    </p:spTree>
    <p:extLst>
      <p:ext uri="{BB962C8B-B14F-4D97-AF65-F5344CB8AC3E}">
        <p14:creationId xmlns:p14="http://schemas.microsoft.com/office/powerpoint/2010/main" val="1864191849"/>
      </p:ext>
    </p:extLst>
  </p:cSld>
  <p:clrMapOvr>
    <a:masterClrMapping/>
  </p:clrMapOvr>
  <p:transition spd="med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E0F21F-F2C8-5BBA-F198-AD0C7E663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0CB46A7-BD27-3B2F-184F-4D4A51022171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pt-BR" noProof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1BDB8177-06E1-72CB-7B46-82B584CF66F7}"/>
              </a:ext>
            </a:extLst>
          </p:cNvPr>
          <p:cNvSpPr/>
          <p:nvPr/>
        </p:nvSpPr>
        <p:spPr>
          <a:xfrm rot="-7580195">
            <a:off x="14295836" y="-2703698"/>
            <a:ext cx="8344483" cy="8344483"/>
          </a:xfrm>
          <a:custGeom>
            <a:avLst/>
            <a:gdLst/>
            <a:ahLst/>
            <a:cxnLst/>
            <a:rect l="l" t="t" r="r" b="b"/>
            <a:pathLst>
              <a:path w="8344483" h="8344483">
                <a:moveTo>
                  <a:pt x="0" y="0"/>
                </a:moveTo>
                <a:lnTo>
                  <a:pt x="8344483" y="0"/>
                </a:lnTo>
                <a:lnTo>
                  <a:pt x="8344483" y="8344483"/>
                </a:lnTo>
                <a:lnTo>
                  <a:pt x="0" y="83444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 noProof="0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7191A5DF-2B82-08AB-7288-D0B6AE3A7675}"/>
              </a:ext>
            </a:extLst>
          </p:cNvPr>
          <p:cNvSpPr/>
          <p:nvPr/>
        </p:nvSpPr>
        <p:spPr>
          <a:xfrm>
            <a:off x="13743336" y="2570964"/>
            <a:ext cx="3015432" cy="3015432"/>
          </a:xfrm>
          <a:custGeom>
            <a:avLst/>
            <a:gdLst/>
            <a:ahLst/>
            <a:cxnLst/>
            <a:rect l="l" t="t" r="r" b="b"/>
            <a:pathLst>
              <a:path w="3015432" h="3015432">
                <a:moveTo>
                  <a:pt x="0" y="0"/>
                </a:moveTo>
                <a:lnTo>
                  <a:pt x="3015433" y="0"/>
                </a:lnTo>
                <a:lnTo>
                  <a:pt x="3015433" y="3015432"/>
                </a:lnTo>
                <a:lnTo>
                  <a:pt x="0" y="30154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 noProof="0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E2855FD9-CA3E-2A7D-EC6D-3130D2D12DDD}"/>
              </a:ext>
            </a:extLst>
          </p:cNvPr>
          <p:cNvSpPr txBox="1"/>
          <p:nvPr/>
        </p:nvSpPr>
        <p:spPr>
          <a:xfrm>
            <a:off x="12634960" y="5882732"/>
            <a:ext cx="4624340" cy="6695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992"/>
              </a:lnSpc>
              <a:spcBef>
                <a:spcPct val="0"/>
              </a:spcBef>
            </a:pPr>
            <a:r>
              <a:rPr lang="pt-BR" sz="5368" b="1" u="none" strike="noStrike" spc="-375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Apoi</a:t>
            </a:r>
            <a:r>
              <a:rPr lang="pt-BR" sz="5368" b="1" spc="-375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o ao QA </a:t>
            </a:r>
            <a:endParaRPr lang="pt-BR" sz="5368" b="1" u="none" strike="noStrike" spc="-375" noProof="0">
              <a:solidFill>
                <a:srgbClr val="000000"/>
              </a:solidFill>
              <a:latin typeface="Arial MT Pro Bold"/>
              <a:ea typeface="Arial MT Pro Bold"/>
              <a:cs typeface="Arial MT Pro Bold"/>
              <a:sym typeface="Arial MT Pro Bold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11761D9-06EC-3BB1-5981-1ABCBBFBDD00}"/>
              </a:ext>
            </a:extLst>
          </p:cNvPr>
          <p:cNvSpPr txBox="1"/>
          <p:nvPr/>
        </p:nvSpPr>
        <p:spPr>
          <a:xfrm>
            <a:off x="1427738" y="1739149"/>
            <a:ext cx="9545061" cy="12856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9590"/>
              </a:lnSpc>
              <a:spcBef>
                <a:spcPct val="0"/>
              </a:spcBef>
            </a:pPr>
            <a:r>
              <a:rPr lang="pt-BR" sz="10312" b="1" spc="-72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Onde a IA entra</a:t>
            </a:r>
            <a:endParaRPr lang="pt-BR" sz="10312" b="1" spc="-721" noProof="0">
              <a:solidFill>
                <a:srgbClr val="000000"/>
              </a:solidFill>
              <a:latin typeface="Arial MT Pro Bold"/>
              <a:ea typeface="Arial MT Pro Bold"/>
              <a:cs typeface="Arial MT Pro Bold"/>
              <a:sym typeface="Arial MT Pro Bold"/>
            </a:endParaRPr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1699D487-18D3-80B5-24BC-E77D89890241}"/>
              </a:ext>
            </a:extLst>
          </p:cNvPr>
          <p:cNvSpPr/>
          <p:nvPr/>
        </p:nvSpPr>
        <p:spPr>
          <a:xfrm>
            <a:off x="1236620" y="3019720"/>
            <a:ext cx="6204398" cy="0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 noProof="0"/>
          </a:p>
        </p:txBody>
      </p:sp>
      <p:grpSp>
        <p:nvGrpSpPr>
          <p:cNvPr id="9" name="Agrupar 8">
            <a:extLst>
              <a:ext uri="{FF2B5EF4-FFF2-40B4-BE49-F238E27FC236}">
                <a16:creationId xmlns:a16="http://schemas.microsoft.com/office/drawing/2014/main" id="{E526D9E5-30BE-A670-5898-DDF8C8833654}"/>
              </a:ext>
            </a:extLst>
          </p:cNvPr>
          <p:cNvGrpSpPr/>
          <p:nvPr/>
        </p:nvGrpSpPr>
        <p:grpSpPr>
          <a:xfrm>
            <a:off x="990600" y="3650503"/>
            <a:ext cx="10820400" cy="1299577"/>
            <a:chOff x="1266086" y="1312347"/>
            <a:chExt cx="10820400" cy="1299577"/>
          </a:xfrm>
        </p:grpSpPr>
        <p:sp>
          <p:nvSpPr>
            <p:cNvPr id="10" name="TextBox 3">
              <a:extLst>
                <a:ext uri="{FF2B5EF4-FFF2-40B4-BE49-F238E27FC236}">
                  <a16:creationId xmlns:a16="http://schemas.microsoft.com/office/drawing/2014/main" id="{0B350482-4C3E-EC1C-E7B1-7670129F8B35}"/>
                </a:ext>
              </a:extLst>
            </p:cNvPr>
            <p:cNvSpPr txBox="1"/>
            <p:nvPr/>
          </p:nvSpPr>
          <p:spPr>
            <a:xfrm>
              <a:off x="2036467" y="2073507"/>
              <a:ext cx="10050019" cy="53841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ct val="115000"/>
                </a:lnSpc>
                <a:spcAft>
                  <a:spcPts val="800"/>
                </a:spcAft>
                <a:buSzPts val="1000"/>
                <a:tabLst>
                  <a:tab pos="457200" algn="l"/>
                </a:tabLst>
              </a:pPr>
              <a:r>
                <a:rPr lang="pt-BR" sz="3200" kern="100"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rPr>
                <a:t>Criação de scripts de teste a partir de linguagem natural.</a:t>
              </a:r>
            </a:p>
          </p:txBody>
        </p:sp>
        <p:sp>
          <p:nvSpPr>
            <p:cNvPr id="11" name="TextBox 4">
              <a:extLst>
                <a:ext uri="{FF2B5EF4-FFF2-40B4-BE49-F238E27FC236}">
                  <a16:creationId xmlns:a16="http://schemas.microsoft.com/office/drawing/2014/main" id="{EC0C9D8C-6885-D830-FA8E-3E4785494622}"/>
                </a:ext>
              </a:extLst>
            </p:cNvPr>
            <p:cNvSpPr txBox="1"/>
            <p:nvPr/>
          </p:nvSpPr>
          <p:spPr>
            <a:xfrm>
              <a:off x="2248894" y="1322031"/>
              <a:ext cx="5396449" cy="4601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905"/>
                </a:lnSpc>
              </a:pPr>
              <a:r>
                <a:rPr lang="pt-BR" sz="2400" b="1" kern="100"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rPr>
                <a:t>Geração Automática</a:t>
              </a:r>
              <a:endParaRPr lang="pt-BR" sz="2400" b="1" noProof="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endParaRPr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E9D4E8C1-1E9E-75B9-7F8A-56DC99809731}"/>
                </a:ext>
              </a:extLst>
            </p:cNvPr>
            <p:cNvSpPr/>
            <p:nvPr/>
          </p:nvSpPr>
          <p:spPr>
            <a:xfrm>
              <a:off x="1266086" y="1312347"/>
              <a:ext cx="707209" cy="655006"/>
            </a:xfrm>
            <a:custGeom>
              <a:avLst/>
              <a:gdLst/>
              <a:ahLst/>
              <a:cxnLst/>
              <a:rect l="l" t="t" r="r" b="b"/>
              <a:pathLst>
                <a:path w="707209" h="655006">
                  <a:moveTo>
                    <a:pt x="0" y="0"/>
                  </a:moveTo>
                  <a:lnTo>
                    <a:pt x="707209" y="0"/>
                  </a:lnTo>
                  <a:lnTo>
                    <a:pt x="707209" y="655005"/>
                  </a:lnTo>
                  <a:lnTo>
                    <a:pt x="0" y="655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 sz="1600" noProof="0"/>
            </a:p>
          </p:txBody>
        </p:sp>
      </p:grp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5369D5D1-6F51-0D47-2E4E-FDA46C4465F1}"/>
              </a:ext>
            </a:extLst>
          </p:cNvPr>
          <p:cNvGrpSpPr/>
          <p:nvPr/>
        </p:nvGrpSpPr>
        <p:grpSpPr>
          <a:xfrm>
            <a:off x="990600" y="5318881"/>
            <a:ext cx="10615660" cy="1865217"/>
            <a:chOff x="1266086" y="1312347"/>
            <a:chExt cx="10615660" cy="1865217"/>
          </a:xfrm>
        </p:grpSpPr>
        <p:sp>
          <p:nvSpPr>
            <p:cNvPr id="14" name="TextBox 3">
              <a:extLst>
                <a:ext uri="{FF2B5EF4-FFF2-40B4-BE49-F238E27FC236}">
                  <a16:creationId xmlns:a16="http://schemas.microsoft.com/office/drawing/2014/main" id="{B9D19FC9-65DC-BFE4-1802-04405004D420}"/>
                </a:ext>
              </a:extLst>
            </p:cNvPr>
            <p:cNvSpPr txBox="1"/>
            <p:nvPr/>
          </p:nvSpPr>
          <p:spPr>
            <a:xfrm>
              <a:off x="1973296" y="2072838"/>
              <a:ext cx="9908450" cy="110472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ct val="115000"/>
                </a:lnSpc>
                <a:spcAft>
                  <a:spcPts val="800"/>
                </a:spcAft>
                <a:buSzPts val="1000"/>
                <a:tabLst>
                  <a:tab pos="457200" algn="l"/>
                </a:tabLst>
              </a:pPr>
              <a:r>
                <a:rPr lang="pt-BR" sz="3200" kern="100"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rPr>
                <a:t>Identificação proativa de comportamentos anômalos no sistema.</a:t>
              </a:r>
            </a:p>
          </p:txBody>
        </p:sp>
        <p:sp>
          <p:nvSpPr>
            <p:cNvPr id="15" name="TextBox 4">
              <a:extLst>
                <a:ext uri="{FF2B5EF4-FFF2-40B4-BE49-F238E27FC236}">
                  <a16:creationId xmlns:a16="http://schemas.microsoft.com/office/drawing/2014/main" id="{F3FEE836-C093-D083-4A73-A5D687BDB9BA}"/>
                </a:ext>
              </a:extLst>
            </p:cNvPr>
            <p:cNvSpPr txBox="1"/>
            <p:nvPr/>
          </p:nvSpPr>
          <p:spPr>
            <a:xfrm>
              <a:off x="2248894" y="1322031"/>
              <a:ext cx="5396449" cy="4601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905"/>
                </a:lnSpc>
              </a:pPr>
              <a:r>
                <a:rPr lang="pt-BR" sz="2400" b="1" kern="100"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rPr>
                <a:t>Análise de Logs:</a:t>
              </a:r>
              <a:endParaRPr lang="pt-BR" sz="2400" b="1" noProof="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endParaRPr>
            </a:p>
          </p:txBody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82F20424-9BDF-ECBB-7818-09FA80A158DD}"/>
                </a:ext>
              </a:extLst>
            </p:cNvPr>
            <p:cNvSpPr/>
            <p:nvPr/>
          </p:nvSpPr>
          <p:spPr>
            <a:xfrm>
              <a:off x="1266086" y="1312347"/>
              <a:ext cx="707209" cy="655006"/>
            </a:xfrm>
            <a:custGeom>
              <a:avLst/>
              <a:gdLst/>
              <a:ahLst/>
              <a:cxnLst/>
              <a:rect l="l" t="t" r="r" b="b"/>
              <a:pathLst>
                <a:path w="707209" h="655006">
                  <a:moveTo>
                    <a:pt x="0" y="0"/>
                  </a:moveTo>
                  <a:lnTo>
                    <a:pt x="707209" y="0"/>
                  </a:lnTo>
                  <a:lnTo>
                    <a:pt x="707209" y="655005"/>
                  </a:lnTo>
                  <a:lnTo>
                    <a:pt x="0" y="655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 sz="1600" noProof="0"/>
            </a:p>
          </p:txBody>
        </p:sp>
      </p:grpSp>
      <p:grpSp>
        <p:nvGrpSpPr>
          <p:cNvPr id="17" name="Agrupar 16">
            <a:extLst>
              <a:ext uri="{FF2B5EF4-FFF2-40B4-BE49-F238E27FC236}">
                <a16:creationId xmlns:a16="http://schemas.microsoft.com/office/drawing/2014/main" id="{7182DF01-43FC-CAF6-2AE1-767B81B296CC}"/>
              </a:ext>
            </a:extLst>
          </p:cNvPr>
          <p:cNvGrpSpPr/>
          <p:nvPr/>
        </p:nvGrpSpPr>
        <p:grpSpPr>
          <a:xfrm>
            <a:off x="990600" y="7435971"/>
            <a:ext cx="15230838" cy="1299577"/>
            <a:chOff x="1266086" y="1312347"/>
            <a:chExt cx="15230838" cy="1299577"/>
          </a:xfrm>
        </p:grpSpPr>
        <p:sp>
          <p:nvSpPr>
            <p:cNvPr id="18" name="TextBox 3">
              <a:extLst>
                <a:ext uri="{FF2B5EF4-FFF2-40B4-BE49-F238E27FC236}">
                  <a16:creationId xmlns:a16="http://schemas.microsoft.com/office/drawing/2014/main" id="{946AF670-1B3F-758D-1E30-E4E146904A75}"/>
                </a:ext>
              </a:extLst>
            </p:cNvPr>
            <p:cNvSpPr txBox="1"/>
            <p:nvPr/>
          </p:nvSpPr>
          <p:spPr>
            <a:xfrm>
              <a:off x="2036467" y="2073507"/>
              <a:ext cx="14460457" cy="5384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ct val="115000"/>
                </a:lnSpc>
                <a:spcAft>
                  <a:spcPts val="800"/>
                </a:spcAft>
                <a:buSzPts val="1000"/>
                <a:tabLst>
                  <a:tab pos="457200" algn="l"/>
                </a:tabLst>
              </a:pPr>
              <a:r>
                <a:rPr lang="pt-BR" sz="3200" kern="100">
                  <a:latin typeface="Aptos" panose="020B0004020202020204" pitchFamily="34" charset="0"/>
                  <a:ea typeface="Aptos" panose="020B0004020202020204" pitchFamily="34" charset="0"/>
                  <a:cs typeface="Times New Roman" panose="02020603050405020304" pitchFamily="18" charset="0"/>
                </a:rPr>
                <a:t>Validação de pequenas partes do código.</a:t>
              </a:r>
            </a:p>
          </p:txBody>
        </p:sp>
        <p:sp>
          <p:nvSpPr>
            <p:cNvPr id="19" name="TextBox 4">
              <a:extLst>
                <a:ext uri="{FF2B5EF4-FFF2-40B4-BE49-F238E27FC236}">
                  <a16:creationId xmlns:a16="http://schemas.microsoft.com/office/drawing/2014/main" id="{0A882F9D-DB78-64A7-AC6D-B800FE0EC6BD}"/>
                </a:ext>
              </a:extLst>
            </p:cNvPr>
            <p:cNvSpPr txBox="1"/>
            <p:nvPr/>
          </p:nvSpPr>
          <p:spPr>
            <a:xfrm>
              <a:off x="2248894" y="1322031"/>
              <a:ext cx="5396449" cy="4601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905"/>
                </a:lnSpc>
              </a:pPr>
              <a:r>
                <a:rPr lang="pt-BR" sz="2400" b="1" kern="100">
                  <a:solidFill>
                    <a:srgbClr val="000000"/>
                  </a:solidFill>
                  <a:latin typeface="Aptos" panose="020B0004020202020204" pitchFamily="34" charset="0"/>
                  <a:ea typeface="Arial MT Pro Bold"/>
                  <a:cs typeface="Times New Roman" panose="02020603050405020304" pitchFamily="18" charset="0"/>
                  <a:sym typeface="Arial MT Pro Bold"/>
                </a:rPr>
                <a:t> Teste Unitário</a:t>
              </a:r>
              <a:endParaRPr lang="pt-BR" sz="2400" b="1" noProof="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endParaRPr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AD7EB1CF-1284-CB13-8477-628D710A9F4C}"/>
                </a:ext>
              </a:extLst>
            </p:cNvPr>
            <p:cNvSpPr/>
            <p:nvPr/>
          </p:nvSpPr>
          <p:spPr>
            <a:xfrm>
              <a:off x="1266086" y="1312347"/>
              <a:ext cx="707209" cy="655006"/>
            </a:xfrm>
            <a:custGeom>
              <a:avLst/>
              <a:gdLst/>
              <a:ahLst/>
              <a:cxnLst/>
              <a:rect l="l" t="t" r="r" b="b"/>
              <a:pathLst>
                <a:path w="707209" h="655006">
                  <a:moveTo>
                    <a:pt x="0" y="0"/>
                  </a:moveTo>
                  <a:lnTo>
                    <a:pt x="707209" y="0"/>
                  </a:lnTo>
                  <a:lnTo>
                    <a:pt x="707209" y="655005"/>
                  </a:lnTo>
                  <a:lnTo>
                    <a:pt x="0" y="655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 sz="1600" noProof="0"/>
            </a:p>
          </p:txBody>
        </p:sp>
      </p:grpSp>
    </p:spTree>
    <p:extLst>
      <p:ext uri="{BB962C8B-B14F-4D97-AF65-F5344CB8AC3E}">
        <p14:creationId xmlns:p14="http://schemas.microsoft.com/office/powerpoint/2010/main" val="1340599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87A168-D325-D3F1-37AC-DAD2683D8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BDB8A6E-42E1-E264-DED3-0076848B5EA2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8888" b="-38888"/>
            </a:stretch>
          </a:blipFill>
        </p:spPr>
        <p:txBody>
          <a:bodyPr lIns="91440" tIns="45720" rIns="91440" bIns="45720" anchor="t"/>
          <a:lstStyle/>
          <a:p>
            <a:endParaRPr lang="pt-BR" noProof="0" dirty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6A6D74C4-A75C-EDB5-9CBC-A946C603F00E}"/>
              </a:ext>
            </a:extLst>
          </p:cNvPr>
          <p:cNvSpPr/>
          <p:nvPr/>
        </p:nvSpPr>
        <p:spPr>
          <a:xfrm rot="-7580195">
            <a:off x="14295836" y="-2703698"/>
            <a:ext cx="8344483" cy="8344483"/>
          </a:xfrm>
          <a:custGeom>
            <a:avLst/>
            <a:gdLst/>
            <a:ahLst/>
            <a:cxnLst/>
            <a:rect l="l" t="t" r="r" b="b"/>
            <a:pathLst>
              <a:path w="8344483" h="8344483">
                <a:moveTo>
                  <a:pt x="0" y="0"/>
                </a:moveTo>
                <a:lnTo>
                  <a:pt x="8344483" y="0"/>
                </a:lnTo>
                <a:lnTo>
                  <a:pt x="8344483" y="8344483"/>
                </a:lnTo>
                <a:lnTo>
                  <a:pt x="0" y="83444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 noProof="0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D5EE9565-5BBE-F9A9-4021-219C18A44072}"/>
              </a:ext>
            </a:extLst>
          </p:cNvPr>
          <p:cNvSpPr/>
          <p:nvPr/>
        </p:nvSpPr>
        <p:spPr>
          <a:xfrm>
            <a:off x="13743336" y="2570964"/>
            <a:ext cx="3015432" cy="3015432"/>
          </a:xfrm>
          <a:custGeom>
            <a:avLst/>
            <a:gdLst/>
            <a:ahLst/>
            <a:cxnLst/>
            <a:rect l="l" t="t" r="r" b="b"/>
            <a:pathLst>
              <a:path w="3015432" h="3015432">
                <a:moveTo>
                  <a:pt x="0" y="0"/>
                </a:moveTo>
                <a:lnTo>
                  <a:pt x="3015433" y="0"/>
                </a:lnTo>
                <a:lnTo>
                  <a:pt x="3015433" y="3015432"/>
                </a:lnTo>
                <a:lnTo>
                  <a:pt x="0" y="30154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 noProof="0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F3F0F9F8-91ED-3115-616C-DF6561532527}"/>
              </a:ext>
            </a:extLst>
          </p:cNvPr>
          <p:cNvSpPr txBox="1"/>
          <p:nvPr/>
        </p:nvSpPr>
        <p:spPr>
          <a:xfrm>
            <a:off x="12634960" y="5882732"/>
            <a:ext cx="4624340" cy="6695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92"/>
              </a:lnSpc>
              <a:spcBef>
                <a:spcPct val="0"/>
              </a:spcBef>
            </a:pPr>
            <a:r>
              <a:rPr lang="pt-BR" sz="5350" b="1" spc="-375" dirty="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</a:rPr>
              <a:t>Benefícios </a:t>
            </a:r>
            <a:endParaRPr lang="pt-BR" sz="5350" b="1" u="none" strike="noStrike" spc="-375" noProof="0" dirty="0">
              <a:solidFill>
                <a:srgbClr val="000000"/>
              </a:solidFill>
              <a:latin typeface="Arial MT Pro Bold"/>
              <a:ea typeface="Arial MT Pro Bold"/>
              <a:cs typeface="Arial MT Pro Bold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33615F3-296C-D9B9-5F81-5CC3DE14C593}"/>
              </a:ext>
            </a:extLst>
          </p:cNvPr>
          <p:cNvSpPr txBox="1"/>
          <p:nvPr/>
        </p:nvSpPr>
        <p:spPr>
          <a:xfrm>
            <a:off x="1427738" y="1739149"/>
            <a:ext cx="9545061" cy="12856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590"/>
              </a:lnSpc>
              <a:spcBef>
                <a:spcPct val="0"/>
              </a:spcBef>
            </a:pPr>
            <a:r>
              <a:rPr lang="pt-BR" sz="10300" b="1" spc="-721" dirty="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</a:rPr>
              <a:t>Análise da IA</a:t>
            </a:r>
            <a:endParaRPr lang="pt-BR" sz="10312" b="1" spc="-721" noProof="0" dirty="0">
              <a:solidFill>
                <a:srgbClr val="000000"/>
              </a:solidFill>
              <a:latin typeface="Arial MT Pro Bold"/>
              <a:ea typeface="Arial MT Pro Bold"/>
              <a:cs typeface="Arial MT Pro Bold"/>
              <a:sym typeface="Arial MT Pro Bold"/>
            </a:endParaRPr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33048D8F-0026-3AF4-5165-9D94433BA84E}"/>
              </a:ext>
            </a:extLst>
          </p:cNvPr>
          <p:cNvSpPr/>
          <p:nvPr/>
        </p:nvSpPr>
        <p:spPr>
          <a:xfrm>
            <a:off x="1236620" y="3019720"/>
            <a:ext cx="6204398" cy="0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 noProof="0"/>
          </a:p>
        </p:txBody>
      </p:sp>
      <p:grpSp>
        <p:nvGrpSpPr>
          <p:cNvPr id="9" name="Agrupar 8">
            <a:extLst>
              <a:ext uri="{FF2B5EF4-FFF2-40B4-BE49-F238E27FC236}">
                <a16:creationId xmlns:a16="http://schemas.microsoft.com/office/drawing/2014/main" id="{66B0B9B5-59DC-832D-93A2-D4C0CD50ABA7}"/>
              </a:ext>
            </a:extLst>
          </p:cNvPr>
          <p:cNvGrpSpPr/>
          <p:nvPr/>
        </p:nvGrpSpPr>
        <p:grpSpPr>
          <a:xfrm>
            <a:off x="990600" y="3641137"/>
            <a:ext cx="7617507" cy="664372"/>
            <a:chOff x="1266086" y="1302981"/>
            <a:chExt cx="7617507" cy="664372"/>
          </a:xfrm>
        </p:grpSpPr>
        <p:sp>
          <p:nvSpPr>
            <p:cNvPr id="11" name="TextBox 4">
              <a:extLst>
                <a:ext uri="{FF2B5EF4-FFF2-40B4-BE49-F238E27FC236}">
                  <a16:creationId xmlns:a16="http://schemas.microsoft.com/office/drawing/2014/main" id="{E90DEAA7-6B69-3CC9-EA87-90B14339A21D}"/>
                </a:ext>
              </a:extLst>
            </p:cNvPr>
            <p:cNvSpPr txBox="1"/>
            <p:nvPr/>
          </p:nvSpPr>
          <p:spPr>
            <a:xfrm>
              <a:off x="2248894" y="1302981"/>
              <a:ext cx="6634699" cy="48878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3905"/>
                </a:lnSpc>
              </a:pPr>
              <a:r>
                <a:rPr lang="pt-BR" sz="3200" b="1" kern="100">
                  <a:solidFill>
                    <a:srgbClr val="000000"/>
                  </a:solidFill>
                  <a:latin typeface="Aptos"/>
                  <a:ea typeface="Arial MT Pro Bold"/>
                  <a:cs typeface="Times New Roman"/>
                </a:rPr>
                <a:t>Aumento na cobertura de testes</a:t>
              </a:r>
              <a:endParaRPr lang="pt-BR" sz="3200" b="1" kern="100" noProof="0">
                <a:solidFill>
                  <a:srgbClr val="000000"/>
                </a:solidFill>
                <a:latin typeface="Aptos"/>
                <a:ea typeface="Arial MT Pro Bold"/>
                <a:cs typeface="Times New Roman"/>
              </a:endParaRPr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45170A4E-2995-3A2F-56F0-A5E68B55FCCE}"/>
                </a:ext>
              </a:extLst>
            </p:cNvPr>
            <p:cNvSpPr/>
            <p:nvPr/>
          </p:nvSpPr>
          <p:spPr>
            <a:xfrm>
              <a:off x="1266086" y="1312347"/>
              <a:ext cx="707209" cy="655006"/>
            </a:xfrm>
            <a:custGeom>
              <a:avLst/>
              <a:gdLst/>
              <a:ahLst/>
              <a:cxnLst/>
              <a:rect l="l" t="t" r="r" b="b"/>
              <a:pathLst>
                <a:path w="707209" h="655006">
                  <a:moveTo>
                    <a:pt x="0" y="0"/>
                  </a:moveTo>
                  <a:lnTo>
                    <a:pt x="707209" y="0"/>
                  </a:lnTo>
                  <a:lnTo>
                    <a:pt x="707209" y="655005"/>
                  </a:lnTo>
                  <a:lnTo>
                    <a:pt x="0" y="655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 sz="1600" noProof="0"/>
            </a:p>
          </p:txBody>
        </p:sp>
      </p:grp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AB1AF668-7CE3-AEEE-9AFF-C807FC7BE920}"/>
              </a:ext>
            </a:extLst>
          </p:cNvPr>
          <p:cNvGrpSpPr/>
          <p:nvPr/>
        </p:nvGrpSpPr>
        <p:grpSpPr>
          <a:xfrm>
            <a:off x="990600" y="4918831"/>
            <a:ext cx="6379257" cy="655006"/>
            <a:chOff x="1266086" y="1312347"/>
            <a:chExt cx="6379257" cy="655006"/>
          </a:xfrm>
        </p:grpSpPr>
        <p:sp>
          <p:nvSpPr>
            <p:cNvPr id="15" name="TextBox 4">
              <a:extLst>
                <a:ext uri="{FF2B5EF4-FFF2-40B4-BE49-F238E27FC236}">
                  <a16:creationId xmlns:a16="http://schemas.microsoft.com/office/drawing/2014/main" id="{1B3D5412-95EA-3404-9FF2-FE96511774D7}"/>
                </a:ext>
              </a:extLst>
            </p:cNvPr>
            <p:cNvSpPr txBox="1"/>
            <p:nvPr/>
          </p:nvSpPr>
          <p:spPr>
            <a:xfrm>
              <a:off x="2248894" y="1322031"/>
              <a:ext cx="5396449" cy="4887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905"/>
                </a:lnSpc>
              </a:pPr>
              <a:r>
                <a:rPr lang="pt-BR" sz="3200" b="1" kern="100">
                  <a:solidFill>
                    <a:srgbClr val="000000"/>
                  </a:solidFill>
                  <a:latin typeface="Aptos"/>
                  <a:ea typeface="Arial MT Pro Bold"/>
                  <a:cs typeface="Times New Roman"/>
                </a:rPr>
                <a:t>Redução do esforço manual</a:t>
              </a:r>
              <a:endParaRPr lang="pt-BR" sz="3200" b="1" kern="100" noProof="0">
                <a:solidFill>
                  <a:srgbClr val="000000"/>
                </a:solidFill>
                <a:latin typeface="Aptos"/>
                <a:ea typeface="Arial MT Pro Bold"/>
                <a:cs typeface="Times New Roman"/>
              </a:endParaRPr>
            </a:p>
          </p:txBody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3BE2D6FF-6362-6AF6-3110-EAAB448CCBF9}"/>
                </a:ext>
              </a:extLst>
            </p:cNvPr>
            <p:cNvSpPr/>
            <p:nvPr/>
          </p:nvSpPr>
          <p:spPr>
            <a:xfrm>
              <a:off x="1266086" y="1312347"/>
              <a:ext cx="707209" cy="655006"/>
            </a:xfrm>
            <a:custGeom>
              <a:avLst/>
              <a:gdLst/>
              <a:ahLst/>
              <a:cxnLst/>
              <a:rect l="l" t="t" r="r" b="b"/>
              <a:pathLst>
                <a:path w="707209" h="655006">
                  <a:moveTo>
                    <a:pt x="0" y="0"/>
                  </a:moveTo>
                  <a:lnTo>
                    <a:pt x="707209" y="0"/>
                  </a:lnTo>
                  <a:lnTo>
                    <a:pt x="707209" y="655005"/>
                  </a:lnTo>
                  <a:lnTo>
                    <a:pt x="0" y="655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 sz="1600" noProof="0"/>
            </a:p>
          </p:txBody>
        </p:sp>
      </p:grpSp>
      <p:grpSp>
        <p:nvGrpSpPr>
          <p:cNvPr id="17" name="Agrupar 16">
            <a:extLst>
              <a:ext uri="{FF2B5EF4-FFF2-40B4-BE49-F238E27FC236}">
                <a16:creationId xmlns:a16="http://schemas.microsoft.com/office/drawing/2014/main" id="{AF9ED8A4-CB57-A1C7-FE91-2ED211AAE069}"/>
              </a:ext>
            </a:extLst>
          </p:cNvPr>
          <p:cNvGrpSpPr/>
          <p:nvPr/>
        </p:nvGrpSpPr>
        <p:grpSpPr>
          <a:xfrm>
            <a:off x="990600" y="6216771"/>
            <a:ext cx="6694714" cy="655006"/>
            <a:chOff x="1266086" y="1312347"/>
            <a:chExt cx="6694714" cy="655006"/>
          </a:xfrm>
        </p:grpSpPr>
        <p:sp>
          <p:nvSpPr>
            <p:cNvPr id="19" name="TextBox 4">
              <a:extLst>
                <a:ext uri="{FF2B5EF4-FFF2-40B4-BE49-F238E27FC236}">
                  <a16:creationId xmlns:a16="http://schemas.microsoft.com/office/drawing/2014/main" id="{D8F44B8F-CCCF-318A-4013-7E318DE906D4}"/>
                </a:ext>
              </a:extLst>
            </p:cNvPr>
            <p:cNvSpPr txBox="1"/>
            <p:nvPr/>
          </p:nvSpPr>
          <p:spPr>
            <a:xfrm>
              <a:off x="2248894" y="1322031"/>
              <a:ext cx="5711906" cy="48878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3905"/>
                </a:lnSpc>
              </a:pPr>
              <a:r>
                <a:rPr lang="pt-BR" sz="3200" b="1" kern="100" dirty="0">
                  <a:solidFill>
                    <a:srgbClr val="000000"/>
                  </a:solidFill>
                  <a:latin typeface="Aptos"/>
                  <a:ea typeface="Arial MT Pro Bold"/>
                  <a:cs typeface="Times New Roman"/>
                </a:rPr>
                <a:t>Detecção de bugs mais rápido </a:t>
              </a:r>
              <a:endParaRPr lang="pt-BR" sz="3200" b="1" kern="100" noProof="0" dirty="0">
                <a:solidFill>
                  <a:srgbClr val="000000"/>
                </a:solidFill>
                <a:latin typeface="Aptos"/>
                <a:ea typeface="Arial MT Pro Bold"/>
                <a:cs typeface="Times New Roman"/>
              </a:endParaRPr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F8BC843C-B7F3-CF6A-5C86-C74C31F64AEE}"/>
                </a:ext>
              </a:extLst>
            </p:cNvPr>
            <p:cNvSpPr/>
            <p:nvPr/>
          </p:nvSpPr>
          <p:spPr>
            <a:xfrm>
              <a:off x="1266086" y="1312347"/>
              <a:ext cx="707209" cy="655006"/>
            </a:xfrm>
            <a:custGeom>
              <a:avLst/>
              <a:gdLst/>
              <a:ahLst/>
              <a:cxnLst/>
              <a:rect l="l" t="t" r="r" b="b"/>
              <a:pathLst>
                <a:path w="707209" h="655006">
                  <a:moveTo>
                    <a:pt x="0" y="0"/>
                  </a:moveTo>
                  <a:lnTo>
                    <a:pt x="707209" y="0"/>
                  </a:lnTo>
                  <a:lnTo>
                    <a:pt x="707209" y="655005"/>
                  </a:lnTo>
                  <a:lnTo>
                    <a:pt x="0" y="655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 sz="1600" noProof="0"/>
            </a:p>
          </p:txBody>
        </p:sp>
      </p:grpSp>
      <p:grpSp>
        <p:nvGrpSpPr>
          <p:cNvPr id="4" name="Agrupar 3">
            <a:extLst>
              <a:ext uri="{FF2B5EF4-FFF2-40B4-BE49-F238E27FC236}">
                <a16:creationId xmlns:a16="http://schemas.microsoft.com/office/drawing/2014/main" id="{9D2EADFC-B1DD-F865-BC04-B3BDE9FD4A89}"/>
              </a:ext>
            </a:extLst>
          </p:cNvPr>
          <p:cNvGrpSpPr/>
          <p:nvPr/>
        </p:nvGrpSpPr>
        <p:grpSpPr>
          <a:xfrm>
            <a:off x="990600" y="7483755"/>
            <a:ext cx="9979707" cy="664372"/>
            <a:chOff x="1266086" y="1302981"/>
            <a:chExt cx="9979707" cy="664372"/>
          </a:xfrm>
        </p:grpSpPr>
        <p:sp>
          <p:nvSpPr>
            <p:cNvPr id="21" name="TextBox 4">
              <a:extLst>
                <a:ext uri="{FF2B5EF4-FFF2-40B4-BE49-F238E27FC236}">
                  <a16:creationId xmlns:a16="http://schemas.microsoft.com/office/drawing/2014/main" id="{FE6EEAF9-9E33-3098-E4AF-B23B4F2FADD7}"/>
                </a:ext>
              </a:extLst>
            </p:cNvPr>
            <p:cNvSpPr txBox="1"/>
            <p:nvPr/>
          </p:nvSpPr>
          <p:spPr>
            <a:xfrm>
              <a:off x="2248894" y="1302981"/>
              <a:ext cx="8996899" cy="48878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3905"/>
                </a:lnSpc>
              </a:pPr>
              <a:r>
                <a:rPr lang="pt-BR" sz="3200" b="1" kern="100" dirty="0">
                  <a:solidFill>
                    <a:srgbClr val="000000"/>
                  </a:solidFill>
                  <a:latin typeface="Aptos"/>
                  <a:ea typeface="Arial MT Pro Bold"/>
                  <a:cs typeface="Times New Roman"/>
                </a:rPr>
                <a:t>Melhoria continua do sistema </a:t>
              </a:r>
              <a:endParaRPr lang="pt-BR" sz="3200" b="1" kern="100" noProof="0" dirty="0">
                <a:solidFill>
                  <a:srgbClr val="000000"/>
                </a:solidFill>
                <a:latin typeface="Aptos"/>
                <a:ea typeface="Arial MT Pro Bold"/>
                <a:cs typeface="Times New Roman"/>
              </a:endParaRPr>
            </a:p>
          </p:txBody>
        </p:sp>
        <p:sp>
          <p:nvSpPr>
            <p:cNvPr id="22" name="Freeform 8">
              <a:extLst>
                <a:ext uri="{FF2B5EF4-FFF2-40B4-BE49-F238E27FC236}">
                  <a16:creationId xmlns:a16="http://schemas.microsoft.com/office/drawing/2014/main" id="{9DA5C2D8-D8BA-DF62-9E13-967C3A496FCF}"/>
                </a:ext>
              </a:extLst>
            </p:cNvPr>
            <p:cNvSpPr/>
            <p:nvPr/>
          </p:nvSpPr>
          <p:spPr>
            <a:xfrm>
              <a:off x="1266086" y="1312347"/>
              <a:ext cx="707209" cy="655006"/>
            </a:xfrm>
            <a:custGeom>
              <a:avLst/>
              <a:gdLst/>
              <a:ahLst/>
              <a:cxnLst/>
              <a:rect l="l" t="t" r="r" b="b"/>
              <a:pathLst>
                <a:path w="707209" h="655006">
                  <a:moveTo>
                    <a:pt x="0" y="0"/>
                  </a:moveTo>
                  <a:lnTo>
                    <a:pt x="707209" y="0"/>
                  </a:lnTo>
                  <a:lnTo>
                    <a:pt x="707209" y="655005"/>
                  </a:lnTo>
                  <a:lnTo>
                    <a:pt x="0" y="655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 sz="1600" noProof="0"/>
            </a:p>
          </p:txBody>
        </p:sp>
      </p:grpSp>
    </p:spTree>
    <p:extLst>
      <p:ext uri="{BB962C8B-B14F-4D97-AF65-F5344CB8AC3E}">
        <p14:creationId xmlns:p14="http://schemas.microsoft.com/office/powerpoint/2010/main" val="31869668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2827C1-60F6-992C-FC55-05E65D51B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D98093F-AD16-416E-F5AF-23E995C7396D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pt-BR" noProof="0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49EA2DFA-BFC7-D565-CBC1-DBBC0F7514A8}"/>
              </a:ext>
            </a:extLst>
          </p:cNvPr>
          <p:cNvSpPr/>
          <p:nvPr/>
        </p:nvSpPr>
        <p:spPr>
          <a:xfrm rot="-7580195">
            <a:off x="14295836" y="-2703698"/>
            <a:ext cx="8344483" cy="8344483"/>
          </a:xfrm>
          <a:custGeom>
            <a:avLst/>
            <a:gdLst/>
            <a:ahLst/>
            <a:cxnLst/>
            <a:rect l="l" t="t" r="r" b="b"/>
            <a:pathLst>
              <a:path w="8344483" h="8344483">
                <a:moveTo>
                  <a:pt x="0" y="0"/>
                </a:moveTo>
                <a:lnTo>
                  <a:pt x="8344483" y="0"/>
                </a:lnTo>
                <a:lnTo>
                  <a:pt x="8344483" y="8344483"/>
                </a:lnTo>
                <a:lnTo>
                  <a:pt x="0" y="83444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 noProof="0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C8AE77B5-0170-3170-52AD-9D416E5814D7}"/>
              </a:ext>
            </a:extLst>
          </p:cNvPr>
          <p:cNvSpPr/>
          <p:nvPr/>
        </p:nvSpPr>
        <p:spPr>
          <a:xfrm>
            <a:off x="13743336" y="2570964"/>
            <a:ext cx="3015432" cy="3015432"/>
          </a:xfrm>
          <a:custGeom>
            <a:avLst/>
            <a:gdLst/>
            <a:ahLst/>
            <a:cxnLst/>
            <a:rect l="l" t="t" r="r" b="b"/>
            <a:pathLst>
              <a:path w="3015432" h="3015432">
                <a:moveTo>
                  <a:pt x="0" y="0"/>
                </a:moveTo>
                <a:lnTo>
                  <a:pt x="3015433" y="0"/>
                </a:lnTo>
                <a:lnTo>
                  <a:pt x="3015433" y="3015432"/>
                </a:lnTo>
                <a:lnTo>
                  <a:pt x="0" y="30154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 noProof="0"/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00CF6721-6E50-5E03-494A-04D1719F5B45}"/>
              </a:ext>
            </a:extLst>
          </p:cNvPr>
          <p:cNvSpPr txBox="1"/>
          <p:nvPr/>
        </p:nvSpPr>
        <p:spPr>
          <a:xfrm>
            <a:off x="12634960" y="5882732"/>
            <a:ext cx="4624340" cy="6695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92"/>
              </a:lnSpc>
              <a:spcBef>
                <a:spcPct val="0"/>
              </a:spcBef>
            </a:pPr>
            <a:r>
              <a:rPr lang="pt-BR" sz="5350" b="1" spc="-375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</a:rPr>
              <a:t>Limitações </a:t>
            </a:r>
            <a:endParaRPr lang="pt-BR" sz="5350" b="1" u="none" strike="noStrike" spc="-375" noProof="0">
              <a:solidFill>
                <a:srgbClr val="000000"/>
              </a:solidFill>
              <a:latin typeface="Arial MT Pro Bold"/>
              <a:ea typeface="Arial MT Pro Bold"/>
              <a:cs typeface="Arial MT Pro Bold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73B98CB7-C0E5-60C0-0A1D-9667C979A738}"/>
              </a:ext>
            </a:extLst>
          </p:cNvPr>
          <p:cNvSpPr txBox="1"/>
          <p:nvPr/>
        </p:nvSpPr>
        <p:spPr>
          <a:xfrm>
            <a:off x="1427738" y="1739149"/>
            <a:ext cx="9545061" cy="12856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590"/>
              </a:lnSpc>
              <a:spcBef>
                <a:spcPct val="0"/>
              </a:spcBef>
            </a:pPr>
            <a:r>
              <a:rPr lang="pt-BR" sz="10300" b="1" spc="-721" dirty="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</a:rPr>
              <a:t>Análise da IA</a:t>
            </a:r>
            <a:endParaRPr lang="pt-BR" sz="10312" b="1" spc="-721" noProof="0" dirty="0">
              <a:solidFill>
                <a:srgbClr val="000000"/>
              </a:solidFill>
              <a:latin typeface="Arial MT Pro Bold"/>
              <a:ea typeface="Arial MT Pro Bold"/>
              <a:cs typeface="Arial MT Pro Bold"/>
              <a:sym typeface="Arial MT Pro Bold"/>
            </a:endParaRPr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1AFE14AB-B009-0C17-A373-38876E4C0FC3}"/>
              </a:ext>
            </a:extLst>
          </p:cNvPr>
          <p:cNvSpPr/>
          <p:nvPr/>
        </p:nvSpPr>
        <p:spPr>
          <a:xfrm>
            <a:off x="1236620" y="3019720"/>
            <a:ext cx="6204398" cy="0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 noProof="0"/>
          </a:p>
        </p:txBody>
      </p:sp>
      <p:grpSp>
        <p:nvGrpSpPr>
          <p:cNvPr id="9" name="Agrupar 8">
            <a:extLst>
              <a:ext uri="{FF2B5EF4-FFF2-40B4-BE49-F238E27FC236}">
                <a16:creationId xmlns:a16="http://schemas.microsoft.com/office/drawing/2014/main" id="{04BA17D2-48CF-CD54-705A-2985B8CADED9}"/>
              </a:ext>
            </a:extLst>
          </p:cNvPr>
          <p:cNvGrpSpPr/>
          <p:nvPr/>
        </p:nvGrpSpPr>
        <p:grpSpPr>
          <a:xfrm>
            <a:off x="990600" y="3469687"/>
            <a:ext cx="10820400" cy="1216891"/>
            <a:chOff x="1266086" y="1302981"/>
            <a:chExt cx="10820400" cy="1312623"/>
          </a:xfrm>
        </p:grpSpPr>
        <p:sp>
          <p:nvSpPr>
            <p:cNvPr id="10" name="TextBox 3">
              <a:extLst>
                <a:ext uri="{FF2B5EF4-FFF2-40B4-BE49-F238E27FC236}">
                  <a16:creationId xmlns:a16="http://schemas.microsoft.com/office/drawing/2014/main" id="{10EB267A-1E56-392B-E929-F15E188A3E56}"/>
                </a:ext>
              </a:extLst>
            </p:cNvPr>
            <p:cNvSpPr txBox="1"/>
            <p:nvPr/>
          </p:nvSpPr>
          <p:spPr>
            <a:xfrm>
              <a:off x="2036467" y="2073507"/>
              <a:ext cx="10050019" cy="54209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ct val="115000"/>
                </a:lnSpc>
                <a:spcAft>
                  <a:spcPts val="800"/>
                </a:spcAft>
                <a:buSzPts val="1000"/>
                <a:tabLst>
                  <a:tab pos="457200" algn="l"/>
                </a:tabLst>
              </a:pPr>
              <a:r>
                <a:rPr lang="pt-BR" sz="2800" kern="100">
                  <a:latin typeface="Aptos"/>
                  <a:ea typeface="Aptos" panose="020B0004020202020204" pitchFamily="34" charset="0"/>
                  <a:cs typeface="Times New Roman"/>
                </a:rPr>
                <a:t>Criação de scripts de teste a partir de linguagem natural.</a:t>
              </a:r>
            </a:p>
          </p:txBody>
        </p:sp>
        <p:sp>
          <p:nvSpPr>
            <p:cNvPr id="11" name="TextBox 4">
              <a:extLst>
                <a:ext uri="{FF2B5EF4-FFF2-40B4-BE49-F238E27FC236}">
                  <a16:creationId xmlns:a16="http://schemas.microsoft.com/office/drawing/2014/main" id="{F3F7C6B4-CEB1-2328-67FB-0C0846F4CA59}"/>
                </a:ext>
              </a:extLst>
            </p:cNvPr>
            <p:cNvSpPr txBox="1"/>
            <p:nvPr/>
          </p:nvSpPr>
          <p:spPr>
            <a:xfrm>
              <a:off x="2248894" y="1302981"/>
              <a:ext cx="9415999" cy="97950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3904"/>
                </a:lnSpc>
              </a:pPr>
              <a:r>
                <a:rPr lang="pt-BR" sz="3200" b="1" kern="100">
                  <a:latin typeface="Aptos"/>
                  <a:ea typeface="Arial MT Pro Bold"/>
                  <a:cs typeface="Times New Roman" panose="02020603050405020304" pitchFamily="18" charset="0"/>
                </a:rPr>
                <a:t>IA pode errar </a:t>
              </a:r>
              <a:endParaRPr lang="en-US" sz="3200" kern="100">
                <a:latin typeface="Aptos"/>
                <a:ea typeface="Arial MT Pro Bold"/>
                <a:cs typeface="Times New Roman" panose="02020603050405020304" pitchFamily="18" charset="0"/>
              </a:endParaRPr>
            </a:p>
            <a:p>
              <a:pPr>
                <a:lnSpc>
                  <a:spcPts val="3904"/>
                </a:lnSpc>
              </a:pPr>
              <a:endParaRPr lang="pt-BR" sz="2400" b="1" kern="100" noProof="0">
                <a:solidFill>
                  <a:srgbClr val="000000"/>
                </a:solidFill>
                <a:latin typeface="Aptos"/>
                <a:ea typeface="Arial MT Pro Bold"/>
                <a:cs typeface="Times New Roman"/>
              </a:endParaRPr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258FF2AA-F3A4-546D-26E2-7477205C8670}"/>
                </a:ext>
              </a:extLst>
            </p:cNvPr>
            <p:cNvSpPr/>
            <p:nvPr/>
          </p:nvSpPr>
          <p:spPr>
            <a:xfrm>
              <a:off x="1266086" y="1312347"/>
              <a:ext cx="707209" cy="655006"/>
            </a:xfrm>
            <a:custGeom>
              <a:avLst/>
              <a:gdLst/>
              <a:ahLst/>
              <a:cxnLst/>
              <a:rect l="l" t="t" r="r" b="b"/>
              <a:pathLst>
                <a:path w="707209" h="655006">
                  <a:moveTo>
                    <a:pt x="0" y="0"/>
                  </a:moveTo>
                  <a:lnTo>
                    <a:pt x="707209" y="0"/>
                  </a:lnTo>
                  <a:lnTo>
                    <a:pt x="707209" y="655005"/>
                  </a:lnTo>
                  <a:lnTo>
                    <a:pt x="0" y="655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 sz="1600" noProof="0"/>
            </a:p>
          </p:txBody>
        </p:sp>
      </p:grp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69EA24B3-B62B-7892-6490-DAC67CEDAB92}"/>
              </a:ext>
            </a:extLst>
          </p:cNvPr>
          <p:cNvGrpSpPr/>
          <p:nvPr/>
        </p:nvGrpSpPr>
        <p:grpSpPr>
          <a:xfrm>
            <a:off x="990600" y="5204581"/>
            <a:ext cx="10825210" cy="1345882"/>
            <a:chOff x="1266086" y="1312347"/>
            <a:chExt cx="10825210" cy="1345882"/>
          </a:xfrm>
        </p:grpSpPr>
        <p:sp>
          <p:nvSpPr>
            <p:cNvPr id="14" name="TextBox 3">
              <a:extLst>
                <a:ext uri="{FF2B5EF4-FFF2-40B4-BE49-F238E27FC236}">
                  <a16:creationId xmlns:a16="http://schemas.microsoft.com/office/drawing/2014/main" id="{CEFC23CC-6FFE-3A6E-2A6E-774C3F8821DB}"/>
                </a:ext>
              </a:extLst>
            </p:cNvPr>
            <p:cNvSpPr txBox="1"/>
            <p:nvPr/>
          </p:nvSpPr>
          <p:spPr>
            <a:xfrm>
              <a:off x="1973296" y="2187138"/>
              <a:ext cx="10118000" cy="47109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ct val="115000"/>
                </a:lnSpc>
                <a:spcAft>
                  <a:spcPts val="800"/>
                </a:spcAft>
                <a:buSzPts val="1000"/>
                <a:tabLst>
                  <a:tab pos="457200" algn="l"/>
                </a:tabLst>
              </a:pPr>
              <a:r>
                <a:rPr lang="pt-BR" sz="2800" kern="100" dirty="0">
                  <a:latin typeface="Aptos"/>
                  <a:ea typeface="Aptos" panose="020B0004020202020204" pitchFamily="34" charset="0"/>
                  <a:cs typeface="Times New Roman"/>
                </a:rPr>
                <a:t>Entradas ruins geram saídas ruins </a:t>
              </a:r>
            </a:p>
          </p:txBody>
        </p:sp>
        <p:sp>
          <p:nvSpPr>
            <p:cNvPr id="15" name="TextBox 4">
              <a:extLst>
                <a:ext uri="{FF2B5EF4-FFF2-40B4-BE49-F238E27FC236}">
                  <a16:creationId xmlns:a16="http://schemas.microsoft.com/office/drawing/2014/main" id="{2D857EF9-3E6C-45FD-F6E1-C890C33D06EB}"/>
                </a:ext>
              </a:extLst>
            </p:cNvPr>
            <p:cNvSpPr txBox="1"/>
            <p:nvPr/>
          </p:nvSpPr>
          <p:spPr>
            <a:xfrm>
              <a:off x="2248894" y="1322031"/>
              <a:ext cx="5396449" cy="4887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905"/>
                </a:lnSpc>
              </a:pPr>
              <a:r>
                <a:rPr lang="pt-BR" sz="3200" b="1" kern="100" dirty="0">
                  <a:solidFill>
                    <a:srgbClr val="000000"/>
                  </a:solidFill>
                  <a:latin typeface="Aptos"/>
                  <a:ea typeface="Arial MT Pro Bold"/>
                  <a:cs typeface="Times New Roman"/>
                </a:rPr>
                <a:t>Dependência de bons dados</a:t>
              </a:r>
              <a:endParaRPr lang="pt-BR" sz="3200" b="1" kern="100" noProof="0" dirty="0">
                <a:solidFill>
                  <a:srgbClr val="000000"/>
                </a:solidFill>
                <a:latin typeface="Aptos"/>
                <a:ea typeface="Arial MT Pro Bold"/>
                <a:cs typeface="Times New Roman"/>
              </a:endParaRPr>
            </a:p>
          </p:txBody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F747B647-D8DD-510F-6271-12AD154111F8}"/>
                </a:ext>
              </a:extLst>
            </p:cNvPr>
            <p:cNvSpPr/>
            <p:nvPr/>
          </p:nvSpPr>
          <p:spPr>
            <a:xfrm>
              <a:off x="1266086" y="1312347"/>
              <a:ext cx="707209" cy="655006"/>
            </a:xfrm>
            <a:custGeom>
              <a:avLst/>
              <a:gdLst/>
              <a:ahLst/>
              <a:cxnLst/>
              <a:rect l="l" t="t" r="r" b="b"/>
              <a:pathLst>
                <a:path w="707209" h="655006">
                  <a:moveTo>
                    <a:pt x="0" y="0"/>
                  </a:moveTo>
                  <a:lnTo>
                    <a:pt x="707209" y="0"/>
                  </a:lnTo>
                  <a:lnTo>
                    <a:pt x="707209" y="655005"/>
                  </a:lnTo>
                  <a:lnTo>
                    <a:pt x="0" y="655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 sz="1600" noProof="0"/>
            </a:p>
          </p:txBody>
        </p:sp>
      </p:grpSp>
      <p:grpSp>
        <p:nvGrpSpPr>
          <p:cNvPr id="17" name="Agrupar 16">
            <a:extLst>
              <a:ext uri="{FF2B5EF4-FFF2-40B4-BE49-F238E27FC236}">
                <a16:creationId xmlns:a16="http://schemas.microsoft.com/office/drawing/2014/main" id="{CAE6D7F7-81AA-7A93-19DC-BA76D4811F7D}"/>
              </a:ext>
            </a:extLst>
          </p:cNvPr>
          <p:cNvGrpSpPr/>
          <p:nvPr/>
        </p:nvGrpSpPr>
        <p:grpSpPr>
          <a:xfrm>
            <a:off x="990600" y="6969405"/>
            <a:ext cx="15230838" cy="1241617"/>
            <a:chOff x="1266086" y="1302981"/>
            <a:chExt cx="15230838" cy="1241617"/>
          </a:xfrm>
        </p:grpSpPr>
        <p:sp>
          <p:nvSpPr>
            <p:cNvPr id="18" name="TextBox 3">
              <a:extLst>
                <a:ext uri="{FF2B5EF4-FFF2-40B4-BE49-F238E27FC236}">
                  <a16:creationId xmlns:a16="http://schemas.microsoft.com/office/drawing/2014/main" id="{245091D4-5944-7CB3-7D04-3EDC5AA6D0CE}"/>
                </a:ext>
              </a:extLst>
            </p:cNvPr>
            <p:cNvSpPr txBox="1"/>
            <p:nvPr/>
          </p:nvSpPr>
          <p:spPr>
            <a:xfrm>
              <a:off x="2036467" y="2073507"/>
              <a:ext cx="14460457" cy="4710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ct val="115000"/>
                </a:lnSpc>
                <a:spcAft>
                  <a:spcPts val="800"/>
                </a:spcAft>
                <a:buSzPts val="1000"/>
                <a:tabLst>
                  <a:tab pos="457200" algn="l"/>
                </a:tabLst>
              </a:pPr>
              <a:r>
                <a:rPr lang="pt-BR" sz="2800" kern="100" dirty="0">
                  <a:latin typeface="Aptos"/>
                  <a:ea typeface="Aptos" panose="020B0004020202020204" pitchFamily="34" charset="0"/>
                  <a:cs typeface="Times New Roman"/>
                </a:rPr>
                <a:t>IA não substitui o QA, necessário avaliar e validar</a:t>
              </a:r>
            </a:p>
          </p:txBody>
        </p:sp>
        <p:sp>
          <p:nvSpPr>
            <p:cNvPr id="19" name="TextBox 4">
              <a:extLst>
                <a:ext uri="{FF2B5EF4-FFF2-40B4-BE49-F238E27FC236}">
                  <a16:creationId xmlns:a16="http://schemas.microsoft.com/office/drawing/2014/main" id="{D9E27B5A-4239-4490-1781-8E96B5CBA77F}"/>
                </a:ext>
              </a:extLst>
            </p:cNvPr>
            <p:cNvSpPr txBox="1"/>
            <p:nvPr/>
          </p:nvSpPr>
          <p:spPr>
            <a:xfrm>
              <a:off x="2248894" y="1302981"/>
              <a:ext cx="7168099" cy="48878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3905"/>
                </a:lnSpc>
              </a:pPr>
              <a:r>
                <a:rPr lang="pt-BR" sz="3200" b="1" kern="100" dirty="0">
                  <a:solidFill>
                    <a:srgbClr val="000000"/>
                  </a:solidFill>
                  <a:latin typeface="Aptos"/>
                  <a:ea typeface="Arial MT Pro Bold"/>
                  <a:cs typeface="Times New Roman"/>
                </a:rPr>
                <a:t>Necessidade de validação humana </a:t>
              </a:r>
              <a:endParaRPr lang="pt-BR" sz="3200" b="1" kern="100" noProof="0" dirty="0">
                <a:solidFill>
                  <a:srgbClr val="000000"/>
                </a:solidFill>
                <a:latin typeface="Aptos"/>
                <a:ea typeface="Arial MT Pro Bold"/>
                <a:cs typeface="Times New Roman"/>
              </a:endParaRPr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CA3860C9-DB53-2C43-A2DD-CAF7FE82055F}"/>
                </a:ext>
              </a:extLst>
            </p:cNvPr>
            <p:cNvSpPr/>
            <p:nvPr/>
          </p:nvSpPr>
          <p:spPr>
            <a:xfrm>
              <a:off x="1266086" y="1312347"/>
              <a:ext cx="707209" cy="655006"/>
            </a:xfrm>
            <a:custGeom>
              <a:avLst/>
              <a:gdLst/>
              <a:ahLst/>
              <a:cxnLst/>
              <a:rect l="l" t="t" r="r" b="b"/>
              <a:pathLst>
                <a:path w="707209" h="655006">
                  <a:moveTo>
                    <a:pt x="0" y="0"/>
                  </a:moveTo>
                  <a:lnTo>
                    <a:pt x="707209" y="0"/>
                  </a:lnTo>
                  <a:lnTo>
                    <a:pt x="707209" y="655005"/>
                  </a:lnTo>
                  <a:lnTo>
                    <a:pt x="0" y="655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 sz="1600" noProof="0"/>
            </a:p>
          </p:txBody>
        </p:sp>
      </p:grpSp>
      <p:grpSp>
        <p:nvGrpSpPr>
          <p:cNvPr id="4" name="Agrupar 3">
            <a:extLst>
              <a:ext uri="{FF2B5EF4-FFF2-40B4-BE49-F238E27FC236}">
                <a16:creationId xmlns:a16="http://schemas.microsoft.com/office/drawing/2014/main" id="{70048E02-098E-43F2-4C8D-DC702AEA030C}"/>
              </a:ext>
            </a:extLst>
          </p:cNvPr>
          <p:cNvGrpSpPr/>
          <p:nvPr/>
        </p:nvGrpSpPr>
        <p:grpSpPr>
          <a:xfrm>
            <a:off x="990600" y="8626754"/>
            <a:ext cx="15230838" cy="1241617"/>
            <a:chOff x="1266086" y="1302981"/>
            <a:chExt cx="15230838" cy="1241617"/>
          </a:xfrm>
        </p:grpSpPr>
        <p:sp>
          <p:nvSpPr>
            <p:cNvPr id="21" name="TextBox 3">
              <a:extLst>
                <a:ext uri="{FF2B5EF4-FFF2-40B4-BE49-F238E27FC236}">
                  <a16:creationId xmlns:a16="http://schemas.microsoft.com/office/drawing/2014/main" id="{7DFF39EE-6EC2-28EA-23DB-0501920E8AFE}"/>
                </a:ext>
              </a:extLst>
            </p:cNvPr>
            <p:cNvSpPr txBox="1"/>
            <p:nvPr/>
          </p:nvSpPr>
          <p:spPr>
            <a:xfrm>
              <a:off x="2036467" y="2073507"/>
              <a:ext cx="14460457" cy="4710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ct val="115000"/>
                </a:lnSpc>
                <a:spcAft>
                  <a:spcPts val="800"/>
                </a:spcAft>
                <a:buSzPts val="1000"/>
                <a:tabLst>
                  <a:tab pos="457200" algn="l"/>
                </a:tabLst>
              </a:pPr>
              <a:r>
                <a:rPr lang="pt-BR" sz="2800" kern="100" dirty="0">
                  <a:latin typeface="Aptos"/>
                  <a:ea typeface="Aptos" panose="020B0004020202020204" pitchFamily="34" charset="0"/>
                  <a:cs typeface="Times New Roman"/>
                </a:rPr>
                <a:t>IA pode não compreender completamente regras de negocio</a:t>
              </a:r>
            </a:p>
          </p:txBody>
        </p:sp>
        <p:sp>
          <p:nvSpPr>
            <p:cNvPr id="22" name="TextBox 4">
              <a:extLst>
                <a:ext uri="{FF2B5EF4-FFF2-40B4-BE49-F238E27FC236}">
                  <a16:creationId xmlns:a16="http://schemas.microsoft.com/office/drawing/2014/main" id="{0E478DF7-23A0-385C-708D-640DBF7F89DC}"/>
                </a:ext>
              </a:extLst>
            </p:cNvPr>
            <p:cNvSpPr txBox="1"/>
            <p:nvPr/>
          </p:nvSpPr>
          <p:spPr>
            <a:xfrm>
              <a:off x="2248894" y="1302981"/>
              <a:ext cx="7168099" cy="48878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3905"/>
                </a:lnSpc>
              </a:pPr>
              <a:r>
                <a:rPr lang="pt-BR" sz="3200" b="1" kern="100" dirty="0">
                  <a:solidFill>
                    <a:srgbClr val="000000"/>
                  </a:solidFill>
                  <a:latin typeface="Aptos"/>
                  <a:ea typeface="Arial MT Pro Bold"/>
                  <a:cs typeface="Times New Roman"/>
                </a:rPr>
                <a:t>Falta contexto de negocio  </a:t>
              </a:r>
              <a:endParaRPr lang="pt-BR" sz="3200" b="1" kern="100" noProof="0" dirty="0">
                <a:solidFill>
                  <a:srgbClr val="000000"/>
                </a:solidFill>
                <a:latin typeface="Aptos"/>
                <a:ea typeface="Arial MT Pro Bold"/>
                <a:cs typeface="Times New Roman"/>
              </a:endParaRPr>
            </a:p>
          </p:txBody>
        </p:sp>
        <p:sp>
          <p:nvSpPr>
            <p:cNvPr id="23" name="Freeform 8">
              <a:extLst>
                <a:ext uri="{FF2B5EF4-FFF2-40B4-BE49-F238E27FC236}">
                  <a16:creationId xmlns:a16="http://schemas.microsoft.com/office/drawing/2014/main" id="{84E3C957-C828-F89D-DF20-F5DD5C7CB415}"/>
                </a:ext>
              </a:extLst>
            </p:cNvPr>
            <p:cNvSpPr/>
            <p:nvPr/>
          </p:nvSpPr>
          <p:spPr>
            <a:xfrm>
              <a:off x="1266086" y="1312347"/>
              <a:ext cx="707209" cy="655006"/>
            </a:xfrm>
            <a:custGeom>
              <a:avLst/>
              <a:gdLst/>
              <a:ahLst/>
              <a:cxnLst/>
              <a:rect l="l" t="t" r="r" b="b"/>
              <a:pathLst>
                <a:path w="707209" h="655006">
                  <a:moveTo>
                    <a:pt x="0" y="0"/>
                  </a:moveTo>
                  <a:lnTo>
                    <a:pt x="707209" y="0"/>
                  </a:lnTo>
                  <a:lnTo>
                    <a:pt x="707209" y="655005"/>
                  </a:lnTo>
                  <a:lnTo>
                    <a:pt x="0" y="655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 sz="1600" noProof="0"/>
            </a:p>
          </p:txBody>
        </p:sp>
      </p:grpSp>
    </p:spTree>
    <p:extLst>
      <p:ext uri="{BB962C8B-B14F-4D97-AF65-F5344CB8AC3E}">
        <p14:creationId xmlns:p14="http://schemas.microsoft.com/office/powerpoint/2010/main" val="36154515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59DAB-260A-6786-8432-A552FAAC7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3EFF6A9-F58F-20D7-8B20-FDF3B3964E0C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38888" b="-38888"/>
            </a:stretch>
          </a:blipFill>
        </p:spPr>
        <p:txBody>
          <a:bodyPr/>
          <a:lstStyle/>
          <a:p>
            <a:pPr algn="ctr">
              <a:lnSpc>
                <a:spcPts val="4561"/>
              </a:lnSpc>
            </a:pPr>
            <a:endParaRPr lang="pt-BR" altLang="pt-BR" b="1" dirty="0">
              <a:latin typeface="Arial" panose="020B0604020202020204" pitchFamily="34" charset="0"/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8A1BB1D2-92D0-B867-7580-2723423D9826}"/>
              </a:ext>
            </a:extLst>
          </p:cNvPr>
          <p:cNvSpPr txBox="1"/>
          <p:nvPr/>
        </p:nvSpPr>
        <p:spPr>
          <a:xfrm>
            <a:off x="5155090" y="3056888"/>
            <a:ext cx="7512867" cy="590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99"/>
              </a:lnSpc>
            </a:pPr>
            <a:r>
              <a:rPr lang="pt-BR" sz="3726" b="1" noProof="0" dirty="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CONSIDERAÇÕES FINAIS</a:t>
            </a: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8DF2C468-5024-D6D4-E4E3-7318FCF25439}"/>
              </a:ext>
            </a:extLst>
          </p:cNvPr>
          <p:cNvSpPr/>
          <p:nvPr/>
        </p:nvSpPr>
        <p:spPr>
          <a:xfrm rot="-10477754">
            <a:off x="13912687" y="-237062"/>
            <a:ext cx="7062925" cy="7062925"/>
          </a:xfrm>
          <a:custGeom>
            <a:avLst/>
            <a:gdLst/>
            <a:ahLst/>
            <a:cxnLst/>
            <a:rect l="l" t="t" r="r" b="b"/>
            <a:pathLst>
              <a:path w="7062925" h="7062925">
                <a:moveTo>
                  <a:pt x="0" y="0"/>
                </a:moveTo>
                <a:lnTo>
                  <a:pt x="7062925" y="0"/>
                </a:lnTo>
                <a:lnTo>
                  <a:pt x="7062925" y="7062925"/>
                </a:lnTo>
                <a:lnTo>
                  <a:pt x="0" y="706292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 noProof="0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168098C8-3DA0-1C06-6217-830F683A53FC}"/>
              </a:ext>
            </a:extLst>
          </p:cNvPr>
          <p:cNvSpPr/>
          <p:nvPr/>
        </p:nvSpPr>
        <p:spPr>
          <a:xfrm>
            <a:off x="13835972" y="1028700"/>
            <a:ext cx="2568170" cy="2568170"/>
          </a:xfrm>
          <a:custGeom>
            <a:avLst/>
            <a:gdLst/>
            <a:ahLst/>
            <a:cxnLst/>
            <a:rect l="l" t="t" r="r" b="b"/>
            <a:pathLst>
              <a:path w="2568170" h="2568170">
                <a:moveTo>
                  <a:pt x="0" y="0"/>
                </a:moveTo>
                <a:lnTo>
                  <a:pt x="2568170" y="0"/>
                </a:lnTo>
                <a:lnTo>
                  <a:pt x="2568170" y="2568170"/>
                </a:lnTo>
                <a:lnTo>
                  <a:pt x="0" y="25681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 noProof="0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7A3AEBA-D16D-1B48-C958-AAF41C2F2037}"/>
              </a:ext>
            </a:extLst>
          </p:cNvPr>
          <p:cNvSpPr txBox="1"/>
          <p:nvPr/>
        </p:nvSpPr>
        <p:spPr>
          <a:xfrm>
            <a:off x="1978260" y="1095375"/>
            <a:ext cx="6933264" cy="1496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590"/>
              </a:lnSpc>
              <a:spcBef>
                <a:spcPct val="0"/>
              </a:spcBef>
            </a:pPr>
            <a:r>
              <a:rPr lang="pt-BR" sz="10312" b="1" spc="-721" noProof="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Conclusão</a:t>
            </a:r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A4FFF3DD-7B6B-343F-7FD9-66EC32F84BE1}"/>
              </a:ext>
            </a:extLst>
          </p:cNvPr>
          <p:cNvSpPr/>
          <p:nvPr/>
        </p:nvSpPr>
        <p:spPr>
          <a:xfrm>
            <a:off x="1787141" y="2375946"/>
            <a:ext cx="6204398" cy="0"/>
          </a:xfrm>
          <a:prstGeom prst="line">
            <a:avLst/>
          </a:prstGeom>
          <a:ln w="38100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BR" noProof="0"/>
          </a:p>
        </p:txBody>
      </p:sp>
      <p:sp>
        <p:nvSpPr>
          <p:cNvPr id="15" name="TextBox 3">
            <a:extLst>
              <a:ext uri="{FF2B5EF4-FFF2-40B4-BE49-F238E27FC236}">
                <a16:creationId xmlns:a16="http://schemas.microsoft.com/office/drawing/2014/main" id="{B5FF22CF-B124-178D-5CF7-4BFBD14AEB07}"/>
              </a:ext>
            </a:extLst>
          </p:cNvPr>
          <p:cNvSpPr txBox="1"/>
          <p:nvPr/>
        </p:nvSpPr>
        <p:spPr>
          <a:xfrm>
            <a:off x="3205490" y="4489585"/>
            <a:ext cx="13271439" cy="2326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42950" indent="-742950" algn="ctr">
              <a:lnSpc>
                <a:spcPts val="4561"/>
              </a:lnSpc>
              <a:buFont typeface="+mj-lt"/>
              <a:buAutoNum type="arabicPeriod"/>
            </a:pPr>
            <a:endParaRPr lang="pt-BR" altLang="pt-BR" sz="3600" dirty="0">
              <a:latin typeface="Arial" panose="020B0604020202020204" pitchFamily="34" charset="0"/>
            </a:endParaRPr>
          </a:p>
          <a:p>
            <a:pPr algn="ctr">
              <a:lnSpc>
                <a:spcPts val="4561"/>
              </a:lnSpc>
            </a:pPr>
            <a:endParaRPr lang="pt-BR" altLang="pt-BR" sz="3600" dirty="0">
              <a:latin typeface="Arial" panose="020B0604020202020204" pitchFamily="34" charset="0"/>
            </a:endParaRPr>
          </a:p>
          <a:p>
            <a:pPr algn="ctr">
              <a:lnSpc>
                <a:spcPts val="4561"/>
              </a:lnSpc>
            </a:pPr>
            <a:endParaRPr lang="pt-BR" altLang="pt-BR" sz="3600" dirty="0">
              <a:latin typeface="Arial" panose="020B0604020202020204" pitchFamily="34" charset="0"/>
            </a:endParaRPr>
          </a:p>
          <a:p>
            <a:pPr marL="0" lvl="0" indent="0" algn="ctr">
              <a:lnSpc>
                <a:spcPts val="4561"/>
              </a:lnSpc>
            </a:pPr>
            <a:r>
              <a:rPr lang="pt-BR" sz="3257" noProof="0" dirty="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</a:p>
        </p:txBody>
      </p:sp>
      <p:sp>
        <p:nvSpPr>
          <p:cNvPr id="16" name="text1">
            <a:extLst>
              <a:ext uri="{FF2B5EF4-FFF2-40B4-BE49-F238E27FC236}">
                <a16:creationId xmlns:a16="http://schemas.microsoft.com/office/drawing/2014/main" id="{F1D31D79-B004-C033-5363-7B2DFB064836}"/>
              </a:ext>
            </a:extLst>
          </p:cNvPr>
          <p:cNvSpPr txBox="1"/>
          <p:nvPr/>
        </p:nvSpPr>
        <p:spPr>
          <a:xfrm>
            <a:off x="2508280" y="4686297"/>
            <a:ext cx="13271439" cy="2317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61"/>
              </a:lnSpc>
            </a:pPr>
            <a:r>
              <a:rPr lang="pt-BR" altLang="pt-BR" sz="3600" b="1" dirty="0">
                <a:latin typeface="Arial" panose="020B0604020202020204" pitchFamily="34" charset="0"/>
              </a:rPr>
              <a:t>1. </a:t>
            </a:r>
          </a:p>
          <a:p>
            <a:pPr algn="ctr">
              <a:lnSpc>
                <a:spcPts val="4561"/>
              </a:lnSpc>
            </a:pPr>
            <a:r>
              <a:rPr lang="pt-BR" altLang="pt-BR" sz="3600" b="1" dirty="0">
                <a:latin typeface="Arial" panose="020B0604020202020204" pitchFamily="34" charset="0"/>
              </a:rPr>
              <a:t>Qualidade de software depende da combinação entre técnica e inteligência.</a:t>
            </a:r>
          </a:p>
          <a:p>
            <a:pPr algn="ctr">
              <a:lnSpc>
                <a:spcPts val="4561"/>
              </a:lnSpc>
            </a:pPr>
            <a:endParaRPr lang="pt-BR" altLang="pt-BR" sz="3600" dirty="0">
              <a:latin typeface="Arial" panose="020B0604020202020204" pitchFamily="34" charset="0"/>
            </a:endParaRPr>
          </a:p>
        </p:txBody>
      </p:sp>
      <p:sp>
        <p:nvSpPr>
          <p:cNvPr id="19" name="text2">
            <a:extLst>
              <a:ext uri="{FF2B5EF4-FFF2-40B4-BE49-F238E27FC236}">
                <a16:creationId xmlns:a16="http://schemas.microsoft.com/office/drawing/2014/main" id="{1E9501D0-5DF1-3351-FB5E-FCEBE033D2F3}"/>
              </a:ext>
            </a:extLst>
          </p:cNvPr>
          <p:cNvSpPr txBox="1"/>
          <p:nvPr/>
        </p:nvSpPr>
        <p:spPr>
          <a:xfrm>
            <a:off x="2508279" y="4686296"/>
            <a:ext cx="13271439" cy="2317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61"/>
              </a:lnSpc>
            </a:pPr>
            <a:r>
              <a:rPr lang="pt-BR" altLang="pt-BR" sz="3600" b="1" dirty="0">
                <a:latin typeface="Arial" panose="020B0604020202020204" pitchFamily="34" charset="0"/>
              </a:rPr>
              <a:t>2. </a:t>
            </a:r>
          </a:p>
          <a:p>
            <a:pPr algn="ctr">
              <a:lnSpc>
                <a:spcPts val="4561"/>
              </a:lnSpc>
            </a:pPr>
            <a:r>
              <a:rPr lang="pt-BR" altLang="pt-BR" sz="3600" b="1" dirty="0">
                <a:latin typeface="Arial" panose="020B0604020202020204" pitchFamily="34" charset="0"/>
              </a:rPr>
              <a:t>IA acelera processos, mas a decisão final continua sendo humana.</a:t>
            </a:r>
          </a:p>
          <a:p>
            <a:pPr algn="ctr">
              <a:lnSpc>
                <a:spcPts val="4561"/>
              </a:lnSpc>
            </a:pPr>
            <a:endParaRPr lang="pt-BR" altLang="pt-BR" sz="3600" dirty="0">
              <a:latin typeface="Arial" panose="020B0604020202020204" pitchFamily="34" charset="0"/>
            </a:endParaRPr>
          </a:p>
        </p:txBody>
      </p:sp>
      <p:sp>
        <p:nvSpPr>
          <p:cNvPr id="20" name="text3">
            <a:extLst>
              <a:ext uri="{FF2B5EF4-FFF2-40B4-BE49-F238E27FC236}">
                <a16:creationId xmlns:a16="http://schemas.microsoft.com/office/drawing/2014/main" id="{344356BA-D295-570D-FEC0-A06E0F90FE63}"/>
              </a:ext>
            </a:extLst>
          </p:cNvPr>
          <p:cNvSpPr txBox="1"/>
          <p:nvPr/>
        </p:nvSpPr>
        <p:spPr>
          <a:xfrm>
            <a:off x="2508278" y="4686295"/>
            <a:ext cx="13271439" cy="2317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61"/>
              </a:lnSpc>
            </a:pPr>
            <a:r>
              <a:rPr lang="pt-BR" altLang="pt-BR" sz="3600" b="1" dirty="0">
                <a:latin typeface="Arial" panose="020B0604020202020204" pitchFamily="34" charset="0"/>
              </a:rPr>
              <a:t>3. </a:t>
            </a:r>
          </a:p>
          <a:p>
            <a:pPr algn="ctr">
              <a:lnSpc>
                <a:spcPts val="4561"/>
              </a:lnSpc>
            </a:pPr>
            <a:r>
              <a:rPr lang="pt-BR" altLang="pt-BR" sz="3600" b="1" dirty="0">
                <a:latin typeface="Arial" panose="020B0604020202020204" pitchFamily="34" charset="0"/>
              </a:rPr>
              <a:t>Mais automação, mais eficiência , mas sempre com validação humana.</a:t>
            </a:r>
          </a:p>
          <a:p>
            <a:pPr algn="ctr">
              <a:lnSpc>
                <a:spcPts val="4561"/>
              </a:lnSpc>
            </a:pPr>
            <a:endParaRPr lang="pt-BR" altLang="pt-BR" sz="3600" dirty="0">
              <a:latin typeface="Arial" panose="020B0604020202020204" pitchFamily="34" charset="0"/>
            </a:endParaRPr>
          </a:p>
        </p:txBody>
      </p:sp>
      <p:sp>
        <p:nvSpPr>
          <p:cNvPr id="21" name="text4">
            <a:extLst>
              <a:ext uri="{FF2B5EF4-FFF2-40B4-BE49-F238E27FC236}">
                <a16:creationId xmlns:a16="http://schemas.microsoft.com/office/drawing/2014/main" id="{7F3F0486-AB35-8392-DF4E-BAD540ED6322}"/>
              </a:ext>
            </a:extLst>
          </p:cNvPr>
          <p:cNvSpPr txBox="1"/>
          <p:nvPr/>
        </p:nvSpPr>
        <p:spPr>
          <a:xfrm>
            <a:off x="2508278" y="4686295"/>
            <a:ext cx="13271439" cy="1727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61"/>
              </a:lnSpc>
            </a:pPr>
            <a:r>
              <a:rPr lang="pt-BR" altLang="pt-BR" sz="3600" b="1" dirty="0">
                <a:latin typeface="Arial" panose="020B0604020202020204" pitchFamily="34" charset="0"/>
              </a:rPr>
              <a:t>4. </a:t>
            </a:r>
          </a:p>
          <a:p>
            <a:pPr algn="ctr">
              <a:lnSpc>
                <a:spcPts val="4561"/>
              </a:lnSpc>
            </a:pPr>
            <a:r>
              <a:rPr lang="pt-BR" altLang="pt-BR" sz="3600" b="1" dirty="0">
                <a:latin typeface="Arial" panose="020B0604020202020204" pitchFamily="34" charset="0"/>
              </a:rPr>
              <a:t>IA não substitui o QA, mas potencializa sua eficiência.</a:t>
            </a:r>
          </a:p>
          <a:p>
            <a:pPr algn="ctr">
              <a:lnSpc>
                <a:spcPts val="4561"/>
              </a:lnSpc>
            </a:pPr>
            <a:endParaRPr lang="pt-BR" altLang="pt-BR" sz="3600" b="1" dirty="0">
              <a:latin typeface="Arial" panose="020B0604020202020204" pitchFamily="34" charset="0"/>
            </a:endParaRPr>
          </a:p>
        </p:txBody>
      </p:sp>
      <p:sp>
        <p:nvSpPr>
          <p:cNvPr id="22" name="text5">
            <a:extLst>
              <a:ext uri="{FF2B5EF4-FFF2-40B4-BE49-F238E27FC236}">
                <a16:creationId xmlns:a16="http://schemas.microsoft.com/office/drawing/2014/main" id="{99520743-1245-8879-0AEB-49BCE7204608}"/>
              </a:ext>
            </a:extLst>
          </p:cNvPr>
          <p:cNvSpPr txBox="1"/>
          <p:nvPr/>
        </p:nvSpPr>
        <p:spPr>
          <a:xfrm>
            <a:off x="2508278" y="5302074"/>
            <a:ext cx="13271439" cy="1137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61"/>
              </a:lnSpc>
            </a:pPr>
            <a:r>
              <a:rPr lang="pt-BR" altLang="pt-BR" sz="3600" b="1" dirty="0">
                <a:latin typeface="Arial" panose="020B0604020202020204" pitchFamily="34" charset="0"/>
              </a:rPr>
              <a:t>Duvidas? </a:t>
            </a:r>
          </a:p>
          <a:p>
            <a:pPr algn="ctr">
              <a:lnSpc>
                <a:spcPts val="4561"/>
              </a:lnSpc>
            </a:pPr>
            <a:endParaRPr lang="pt-BR" altLang="pt-BR" sz="3600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9411451"/>
      </p:ext>
    </p:extLst>
  </p:cSld>
  <p:clrMapOvr>
    <a:masterClrMapping/>
  </p:clrMapOvr>
  <p:transition spd="med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randombar(horizontal)">
                                      <p:cBhvr>
                                        <p:cTn id="14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randombar(horizontal)">
                                      <p:cBhvr>
                                        <p:cTn id="17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9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4" presetClass="exit" presetSubtype="1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2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5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uild="allAtOnce"/>
      <p:bldP spid="16" grpId="1" build="allAtOnce"/>
      <p:bldP spid="19" grpId="0" build="allAtOnce"/>
      <p:bldP spid="19" grpId="1" build="allAtOnce"/>
      <p:bldP spid="20" grpId="0"/>
      <p:bldP spid="20" grpId="1"/>
      <p:bldP spid="21" grpId="0"/>
      <p:bldP spid="21" grpId="1"/>
      <p:bldP spid="2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381</TotalTime>
  <Words>1070</Words>
  <Application>Microsoft Office PowerPoint</Application>
  <PresentationFormat>Personalizar</PresentationFormat>
  <Paragraphs>156</Paragraphs>
  <Slides>20</Slides>
  <Notes>5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20</vt:i4>
      </vt:variant>
    </vt:vector>
  </HeadingPairs>
  <TitlesOfParts>
    <vt:vector size="27" baseType="lpstr">
      <vt:lpstr>Arial</vt:lpstr>
      <vt:lpstr>Aptos</vt:lpstr>
      <vt:lpstr>Arial MT Pro</vt:lpstr>
      <vt:lpstr>Wingdings</vt:lpstr>
      <vt:lpstr>Arial MT Pro Bold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Trabalho de conclusão de curso faculdade moderno gradiente azul branco apresentação</dc:title>
  <cp:lastModifiedBy>Maycon Rodrigues Rosa</cp:lastModifiedBy>
  <cp:revision>7</cp:revision>
  <dcterms:created xsi:type="dcterms:W3CDTF">2006-08-16T00:00:00Z</dcterms:created>
  <dcterms:modified xsi:type="dcterms:W3CDTF">2026-04-16T19:54:09Z</dcterms:modified>
  <dc:identifier>DAHGvGheQx4</dc:identifier>
</cp:coreProperties>
</file>