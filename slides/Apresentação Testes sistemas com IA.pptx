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MT Pro" panose="020B0604020202020204" charset="0"/>
      <p:regular r:id="rId12"/>
    </p:embeddedFont>
    <p:embeddedFont>
      <p:font typeface="Arial MT Pro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referencia" id="{419F0C1A-94B7-494C-8CE8-9EB7CE85CD90}">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100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6926120" y="2938347"/>
            <a:ext cx="7749375" cy="3915978"/>
          </a:xfrm>
          <a:prstGeom prst="rect">
            <a:avLst/>
          </a:prstGeom>
        </p:spPr>
        <p:txBody>
          <a:bodyPr lIns="0" tIns="0" rIns="0" bIns="0" rtlCol="0" anchor="t">
            <a:spAutoFit/>
          </a:bodyPr>
          <a:lstStyle/>
          <a:p>
            <a:pPr algn="l">
              <a:lnSpc>
                <a:spcPts val="9590"/>
              </a:lnSpc>
            </a:pPr>
            <a:r>
              <a:rPr lang="en-US" sz="10312" b="1" spc="-721">
                <a:solidFill>
                  <a:srgbClr val="000000"/>
                </a:solidFill>
                <a:latin typeface="Arial MT Pro Bold"/>
                <a:ea typeface="Arial MT Pro Bold"/>
                <a:cs typeface="Arial MT Pro Bold"/>
                <a:sym typeface="Arial MT Pro Bold"/>
              </a:rPr>
              <a:t>Trabalho de Conclusão </a:t>
            </a:r>
          </a:p>
          <a:p>
            <a:pPr algn="l">
              <a:lnSpc>
                <a:spcPts val="9590"/>
              </a:lnSpc>
            </a:pPr>
            <a:r>
              <a:rPr lang="en-US" sz="10312" b="1" spc="-721">
                <a:solidFill>
                  <a:srgbClr val="000000"/>
                </a:solidFill>
                <a:latin typeface="Arial MT Pro Bold"/>
                <a:ea typeface="Arial MT Pro Bold"/>
                <a:cs typeface="Arial MT Pro Bold"/>
                <a:sym typeface="Arial MT Pro Bold"/>
              </a:rPr>
              <a:t>de Curso</a:t>
            </a:r>
          </a:p>
        </p:txBody>
      </p:sp>
      <p:sp>
        <p:nvSpPr>
          <p:cNvPr id="4" name="AutoShape 4"/>
          <p:cNvSpPr/>
          <p:nvPr/>
        </p:nvSpPr>
        <p:spPr>
          <a:xfrm>
            <a:off x="13295843" y="2392824"/>
            <a:ext cx="6204398" cy="0"/>
          </a:xfrm>
          <a:prstGeom prst="line">
            <a:avLst/>
          </a:prstGeom>
          <a:ln w="38100" cap="rnd">
            <a:solidFill>
              <a:srgbClr val="000000"/>
            </a:solidFill>
            <a:prstDash val="solid"/>
            <a:headEnd type="none" w="sm" len="sm"/>
            <a:tailEnd type="none" w="sm" len="sm"/>
          </a:ln>
        </p:spPr>
        <p:txBody>
          <a:bodyPr/>
          <a:lstStyle/>
          <a:p>
            <a:endParaRPr lang="pt-BR"/>
          </a:p>
        </p:txBody>
      </p:sp>
      <p:sp>
        <p:nvSpPr>
          <p:cNvPr id="5" name="TextBox 5"/>
          <p:cNvSpPr txBox="1"/>
          <p:nvPr/>
        </p:nvSpPr>
        <p:spPr>
          <a:xfrm>
            <a:off x="7360048" y="6987675"/>
            <a:ext cx="5935794" cy="495300"/>
          </a:xfrm>
          <a:prstGeom prst="rect">
            <a:avLst/>
          </a:prstGeom>
        </p:spPr>
        <p:txBody>
          <a:bodyPr lIns="0" tIns="0" rIns="0" bIns="0" rtlCol="0" anchor="t">
            <a:spAutoFit/>
          </a:bodyPr>
          <a:lstStyle/>
          <a:p>
            <a:pPr marL="0" lvl="0" indent="0" algn="l">
              <a:lnSpc>
                <a:spcPts val="3300"/>
              </a:lnSpc>
              <a:spcBef>
                <a:spcPct val="0"/>
              </a:spcBef>
            </a:pPr>
            <a:r>
              <a:rPr lang="en-US" sz="3000" b="1" u="none" strike="noStrike">
                <a:solidFill>
                  <a:srgbClr val="FFFFFF"/>
                </a:solidFill>
                <a:latin typeface="Arial MT Pro Bold"/>
                <a:ea typeface="Arial MT Pro Bold"/>
                <a:cs typeface="Arial MT Pro Bold"/>
                <a:sym typeface="Arial MT Pro Bold"/>
              </a:rPr>
              <a:t>CURSO DE ADMINISTRAÇÃO</a:t>
            </a:r>
          </a:p>
        </p:txBody>
      </p:sp>
      <p:sp>
        <p:nvSpPr>
          <p:cNvPr id="6" name="Freeform 6"/>
          <p:cNvSpPr/>
          <p:nvPr/>
        </p:nvSpPr>
        <p:spPr>
          <a:xfrm>
            <a:off x="-3143541" y="913817"/>
            <a:ext cx="8344483" cy="8344483"/>
          </a:xfrm>
          <a:custGeom>
            <a:avLst/>
            <a:gdLst/>
            <a:ahLst/>
            <a:cxnLst/>
            <a:rect l="l" t="t" r="r" b="b"/>
            <a:pathLst>
              <a:path w="8344483" h="8344483">
                <a:moveTo>
                  <a:pt x="0" y="0"/>
                </a:moveTo>
                <a:lnTo>
                  <a:pt x="8344482" y="0"/>
                </a:lnTo>
                <a:lnTo>
                  <a:pt x="8344482" y="8344483"/>
                </a:lnTo>
                <a:lnTo>
                  <a:pt x="0" y="8344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7" name="Freeform 7"/>
          <p:cNvSpPr/>
          <p:nvPr/>
        </p:nvSpPr>
        <p:spPr>
          <a:xfrm rot="-10477754">
            <a:off x="15412376" y="374604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8" name="TextBox 8"/>
          <p:cNvSpPr txBox="1"/>
          <p:nvPr/>
        </p:nvSpPr>
        <p:spPr>
          <a:xfrm>
            <a:off x="7013720" y="7930087"/>
            <a:ext cx="7151541" cy="1069068"/>
          </a:xfrm>
          <a:prstGeom prst="rect">
            <a:avLst/>
          </a:prstGeom>
        </p:spPr>
        <p:txBody>
          <a:bodyPr lIns="0" tIns="0" rIns="0" bIns="0" rtlCol="0" anchor="t">
            <a:spAutoFit/>
          </a:bodyPr>
          <a:lstStyle/>
          <a:p>
            <a:pPr algn="just">
              <a:lnSpc>
                <a:spcPts val="4074"/>
              </a:lnSpc>
            </a:pPr>
            <a:r>
              <a:rPr lang="en-US" sz="2910" spc="-58">
                <a:solidFill>
                  <a:srgbClr val="000000"/>
                </a:solidFill>
                <a:latin typeface="Arial MT Pro"/>
                <a:ea typeface="Arial MT Pro"/>
                <a:cs typeface="Arial MT Pro"/>
                <a:sym typeface="Arial MT Pro"/>
              </a:rPr>
              <a:t>Aluna: Juliana Silva</a:t>
            </a:r>
          </a:p>
          <a:p>
            <a:pPr algn="just">
              <a:lnSpc>
                <a:spcPts val="4074"/>
              </a:lnSpc>
            </a:pPr>
            <a:r>
              <a:rPr lang="en-US" sz="2910" spc="-58">
                <a:solidFill>
                  <a:srgbClr val="000000"/>
                </a:solidFill>
                <a:latin typeface="Arial MT Pro"/>
                <a:ea typeface="Arial MT Pro"/>
                <a:cs typeface="Arial MT Pro"/>
                <a:sym typeface="Arial MT Pro"/>
              </a:rPr>
              <a:t>Professor: Pedro Fernandes</a:t>
            </a:r>
          </a:p>
        </p:txBody>
      </p:sp>
      <p:sp>
        <p:nvSpPr>
          <p:cNvPr id="9" name="TextBox 9"/>
          <p:cNvSpPr txBox="1"/>
          <p:nvPr/>
        </p:nvSpPr>
        <p:spPr>
          <a:xfrm>
            <a:off x="6926120" y="2132413"/>
            <a:ext cx="6379599" cy="567808"/>
          </a:xfrm>
          <a:prstGeom prst="rect">
            <a:avLst/>
          </a:prstGeom>
        </p:spPr>
        <p:txBody>
          <a:bodyPr lIns="0" tIns="0" rIns="0" bIns="0" rtlCol="0" anchor="t">
            <a:spAutoFit/>
          </a:bodyPr>
          <a:lstStyle/>
          <a:p>
            <a:pPr algn="l">
              <a:lnSpc>
                <a:spcPts val="3711"/>
              </a:lnSpc>
            </a:pPr>
            <a:r>
              <a:rPr lang="en-US" sz="3568" spc="-71">
                <a:solidFill>
                  <a:srgbClr val="000000"/>
                </a:solidFill>
                <a:latin typeface="Arial MT Pro"/>
                <a:ea typeface="Arial MT Pro"/>
                <a:cs typeface="Arial MT Pro"/>
                <a:sym typeface="Arial MT Pro"/>
              </a:rPr>
              <a:t>FACULDADE BORCELLE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2210736" y="1095375"/>
            <a:ext cx="4255380"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Í</a:t>
            </a:r>
            <a:r>
              <a:rPr lang="en-US" sz="10312" b="1" u="none" strike="noStrike" spc="-721">
                <a:solidFill>
                  <a:srgbClr val="000000"/>
                </a:solidFill>
                <a:latin typeface="Arial MT Pro Bold"/>
                <a:ea typeface="Arial MT Pro Bold"/>
                <a:cs typeface="Arial MT Pro Bold"/>
                <a:sym typeface="Arial MT Pro Bold"/>
              </a:rPr>
              <a:t>ndice</a:t>
            </a:r>
          </a:p>
        </p:txBody>
      </p:sp>
      <p:sp>
        <p:nvSpPr>
          <p:cNvPr id="5" name="Freeform 5"/>
          <p:cNvSpPr/>
          <p:nvPr/>
        </p:nvSpPr>
        <p:spPr>
          <a:xfrm>
            <a:off x="13597644" y="356775"/>
            <a:ext cx="3661656" cy="3628368"/>
          </a:xfrm>
          <a:custGeom>
            <a:avLst/>
            <a:gdLst/>
            <a:ahLst/>
            <a:cxnLst/>
            <a:rect l="l" t="t" r="r" b="b"/>
            <a:pathLst>
              <a:path w="3661656" h="3628368">
                <a:moveTo>
                  <a:pt x="0" y="0"/>
                </a:moveTo>
                <a:lnTo>
                  <a:pt x="3661656" y="0"/>
                </a:lnTo>
                <a:lnTo>
                  <a:pt x="3661656" y="3628368"/>
                </a:lnTo>
                <a:lnTo>
                  <a:pt x="0" y="36283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AutoShape 6"/>
          <p:cNvSpPr/>
          <p:nvPr/>
        </p:nvSpPr>
        <p:spPr>
          <a:xfrm>
            <a:off x="2019617" y="2375946"/>
            <a:ext cx="6204398" cy="0"/>
          </a:xfrm>
          <a:prstGeom prst="line">
            <a:avLst/>
          </a:prstGeom>
          <a:ln w="38100" cap="rnd">
            <a:solidFill>
              <a:srgbClr val="000000"/>
            </a:solidFill>
            <a:prstDash val="solid"/>
            <a:headEnd type="none" w="sm" len="sm"/>
            <a:tailEnd type="none" w="sm" len="sm"/>
          </a:ln>
        </p:spPr>
        <p:txBody>
          <a:bodyPr/>
          <a:lstStyle/>
          <a:p>
            <a:endParaRPr lang="pt-BR"/>
          </a:p>
        </p:txBody>
      </p:sp>
      <p:sp>
        <p:nvSpPr>
          <p:cNvPr id="7" name="Freeform 7"/>
          <p:cNvSpPr/>
          <p:nvPr/>
        </p:nvSpPr>
        <p:spPr>
          <a:xfrm flipH="1" flipV="1">
            <a:off x="0" y="8772096"/>
            <a:ext cx="7315200" cy="3724102"/>
          </a:xfrm>
          <a:custGeom>
            <a:avLst/>
            <a:gdLst/>
            <a:ahLst/>
            <a:cxnLst/>
            <a:rect l="l" t="t" r="r" b="b"/>
            <a:pathLst>
              <a:path w="7315200" h="3724102">
                <a:moveTo>
                  <a:pt x="7315200" y="3724102"/>
                </a:moveTo>
                <a:lnTo>
                  <a:pt x="0" y="3724102"/>
                </a:lnTo>
                <a:lnTo>
                  <a:pt x="0" y="0"/>
                </a:lnTo>
                <a:lnTo>
                  <a:pt x="7315200" y="0"/>
                </a:lnTo>
                <a:lnTo>
                  <a:pt x="7315200" y="3724102"/>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pt-BR"/>
          </a:p>
        </p:txBody>
      </p:sp>
      <p:sp>
        <p:nvSpPr>
          <p:cNvPr id="8" name="TextBox 8"/>
          <p:cNvSpPr txBox="1"/>
          <p:nvPr/>
        </p:nvSpPr>
        <p:spPr>
          <a:xfrm>
            <a:off x="3094372" y="3094376"/>
            <a:ext cx="8120602" cy="4375417"/>
          </a:xfrm>
          <a:prstGeom prst="rect">
            <a:avLst/>
          </a:prstGeom>
        </p:spPr>
        <p:txBody>
          <a:bodyPr lIns="0" tIns="0" rIns="0" bIns="0" rtlCol="0" anchor="t">
            <a:spAutoFit/>
          </a:bodyPr>
          <a:lstStyle/>
          <a:p>
            <a:pPr marL="0" lvl="0" indent="0" algn="l">
              <a:lnSpc>
                <a:spcPts val="5732"/>
              </a:lnSpc>
            </a:pPr>
            <a:r>
              <a:rPr lang="en-US" sz="3674" u="none" strike="noStrike" spc="-99">
                <a:solidFill>
                  <a:srgbClr val="000000"/>
                </a:solidFill>
                <a:latin typeface="Arial MT Pro"/>
                <a:ea typeface="Arial MT Pro"/>
                <a:cs typeface="Arial MT Pro"/>
                <a:sym typeface="Arial MT Pro"/>
              </a:rPr>
              <a:t>INTRODUÇÃO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METODOLOGIA</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PLANO DE ADMINISTRAÇÃO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RECURSOS HUMANOS</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CONCLUSÃO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REFERÊNCIAS</a:t>
            </a:r>
          </a:p>
        </p:txBody>
      </p:sp>
      <p:sp>
        <p:nvSpPr>
          <p:cNvPr id="9" name="TextBox 9"/>
          <p:cNvSpPr txBox="1"/>
          <p:nvPr/>
        </p:nvSpPr>
        <p:spPr>
          <a:xfrm>
            <a:off x="1717257" y="3094376"/>
            <a:ext cx="990917" cy="4375417"/>
          </a:xfrm>
          <a:prstGeom prst="rect">
            <a:avLst/>
          </a:prstGeom>
        </p:spPr>
        <p:txBody>
          <a:bodyPr lIns="0" tIns="0" rIns="0" bIns="0" rtlCol="0" anchor="t">
            <a:spAutoFit/>
          </a:bodyPr>
          <a:lstStyle/>
          <a:p>
            <a:pPr algn="r">
              <a:lnSpc>
                <a:spcPts val="5732"/>
              </a:lnSpc>
            </a:pPr>
            <a:r>
              <a:rPr lang="en-US" sz="3674" b="1" spc="-99">
                <a:solidFill>
                  <a:srgbClr val="000000"/>
                </a:solidFill>
                <a:latin typeface="Arial MT Pro Bold"/>
                <a:ea typeface="Arial MT Pro Bold"/>
                <a:cs typeface="Arial MT Pro Bold"/>
                <a:sym typeface="Arial MT Pro Bold"/>
              </a:rPr>
              <a:t>03</a:t>
            </a:r>
          </a:p>
          <a:p>
            <a:pPr algn="r">
              <a:lnSpc>
                <a:spcPts val="5732"/>
              </a:lnSpc>
            </a:pPr>
            <a:r>
              <a:rPr lang="en-US" sz="3674" b="1" spc="-99">
                <a:solidFill>
                  <a:srgbClr val="000000"/>
                </a:solidFill>
                <a:latin typeface="Arial MT Pro Bold"/>
                <a:ea typeface="Arial MT Pro Bold"/>
                <a:cs typeface="Arial MT Pro Bold"/>
                <a:sym typeface="Arial MT Pro Bold"/>
              </a:rPr>
              <a:t>04</a:t>
            </a:r>
          </a:p>
          <a:p>
            <a:pPr algn="r">
              <a:lnSpc>
                <a:spcPts val="5732"/>
              </a:lnSpc>
            </a:pPr>
            <a:r>
              <a:rPr lang="en-US" sz="3674" b="1" spc="-99">
                <a:solidFill>
                  <a:srgbClr val="000000"/>
                </a:solidFill>
                <a:latin typeface="Arial MT Pro Bold"/>
                <a:ea typeface="Arial MT Pro Bold"/>
                <a:cs typeface="Arial MT Pro Bold"/>
                <a:sym typeface="Arial MT Pro Bold"/>
              </a:rPr>
              <a:t>05</a:t>
            </a:r>
          </a:p>
          <a:p>
            <a:pPr algn="r">
              <a:lnSpc>
                <a:spcPts val="5732"/>
              </a:lnSpc>
            </a:pPr>
            <a:r>
              <a:rPr lang="en-US" sz="3674" b="1" spc="-99">
                <a:solidFill>
                  <a:srgbClr val="000000"/>
                </a:solidFill>
                <a:latin typeface="Arial MT Pro Bold"/>
                <a:ea typeface="Arial MT Pro Bold"/>
                <a:cs typeface="Arial MT Pro Bold"/>
                <a:sym typeface="Arial MT Pro Bold"/>
              </a:rPr>
              <a:t>08</a:t>
            </a:r>
          </a:p>
          <a:p>
            <a:pPr algn="r">
              <a:lnSpc>
                <a:spcPts val="5732"/>
              </a:lnSpc>
            </a:pPr>
            <a:r>
              <a:rPr lang="en-US" sz="3674" b="1" spc="-99">
                <a:solidFill>
                  <a:srgbClr val="000000"/>
                </a:solidFill>
                <a:latin typeface="Arial MT Pro Bold"/>
                <a:ea typeface="Arial MT Pro Bold"/>
                <a:cs typeface="Arial MT Pro Bold"/>
                <a:sym typeface="Arial MT Pro Bold"/>
              </a:rPr>
              <a:t>09</a:t>
            </a:r>
          </a:p>
          <a:p>
            <a:pPr marL="0" lvl="0" indent="0" algn="r">
              <a:lnSpc>
                <a:spcPts val="5732"/>
              </a:lnSpc>
            </a:pPr>
            <a:r>
              <a:rPr lang="en-US" sz="3674" b="1" spc="-99">
                <a:solidFill>
                  <a:srgbClr val="000000"/>
                </a:solidFill>
                <a:latin typeface="Arial MT Pro Bold"/>
                <a:ea typeface="Arial MT Pro Bold"/>
                <a:cs typeface="Arial MT Pro Bold"/>
                <a:sym typeface="Arial MT Pro Bold"/>
              </a:rPr>
              <a:t>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7580195">
            <a:off x="14295836" y="-2703698"/>
            <a:ext cx="8344483" cy="8344483"/>
          </a:xfrm>
          <a:custGeom>
            <a:avLst/>
            <a:gdLst/>
            <a:ahLst/>
            <a:cxnLst/>
            <a:rect l="l" t="t" r="r" b="b"/>
            <a:pathLst>
              <a:path w="8344483" h="8344483">
                <a:moveTo>
                  <a:pt x="0" y="0"/>
                </a:moveTo>
                <a:lnTo>
                  <a:pt x="8344483" y="0"/>
                </a:lnTo>
                <a:lnTo>
                  <a:pt x="8344483" y="8344483"/>
                </a:lnTo>
                <a:lnTo>
                  <a:pt x="0" y="8344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1236620" y="3599504"/>
            <a:ext cx="10681390" cy="466979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5" name="Freeform 5"/>
          <p:cNvSpPr/>
          <p:nvPr/>
        </p:nvSpPr>
        <p:spPr>
          <a:xfrm>
            <a:off x="13743336" y="2570964"/>
            <a:ext cx="3015432" cy="3015432"/>
          </a:xfrm>
          <a:custGeom>
            <a:avLst/>
            <a:gdLst/>
            <a:ahLst/>
            <a:cxnLst/>
            <a:rect l="l" t="t" r="r" b="b"/>
            <a:pathLst>
              <a:path w="3015432" h="3015432">
                <a:moveTo>
                  <a:pt x="0" y="0"/>
                </a:moveTo>
                <a:lnTo>
                  <a:pt x="3015433" y="0"/>
                </a:lnTo>
                <a:lnTo>
                  <a:pt x="3015433" y="3015432"/>
                </a:lnTo>
                <a:lnTo>
                  <a:pt x="0" y="30154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TextBox 6"/>
          <p:cNvSpPr txBox="1"/>
          <p:nvPr/>
        </p:nvSpPr>
        <p:spPr>
          <a:xfrm>
            <a:off x="12634960" y="5882732"/>
            <a:ext cx="4624340" cy="1418929"/>
          </a:xfrm>
          <a:prstGeom prst="rect">
            <a:avLst/>
          </a:prstGeom>
        </p:spPr>
        <p:txBody>
          <a:bodyPr lIns="0" tIns="0" rIns="0" bIns="0" rtlCol="0" anchor="t">
            <a:spAutoFit/>
          </a:bodyPr>
          <a:lstStyle/>
          <a:p>
            <a:pPr marL="0" lvl="0" indent="0" algn="ctr">
              <a:lnSpc>
                <a:spcPts val="4992"/>
              </a:lnSpc>
              <a:spcBef>
                <a:spcPct val="0"/>
              </a:spcBef>
            </a:pPr>
            <a:r>
              <a:rPr lang="en-US" sz="5368" b="1" spc="-375">
                <a:solidFill>
                  <a:srgbClr val="000000"/>
                </a:solidFill>
                <a:latin typeface="Arial MT Pro Bold"/>
                <a:ea typeface="Arial MT Pro Bold"/>
                <a:cs typeface="Arial MT Pro Bold"/>
                <a:sym typeface="Arial MT Pro Bold"/>
              </a:rPr>
              <a:t>I</a:t>
            </a:r>
            <a:r>
              <a:rPr lang="en-US" sz="5368" b="1" u="none" strike="noStrike" spc="-375">
                <a:solidFill>
                  <a:srgbClr val="000000"/>
                </a:solidFill>
                <a:latin typeface="Arial MT Pro Bold"/>
                <a:ea typeface="Arial MT Pro Bold"/>
                <a:cs typeface="Arial MT Pro Bold"/>
                <a:sym typeface="Arial MT Pro Bold"/>
              </a:rPr>
              <a:t>deias administrativas</a:t>
            </a:r>
          </a:p>
        </p:txBody>
      </p:sp>
      <p:sp>
        <p:nvSpPr>
          <p:cNvPr id="7" name="TextBox 7"/>
          <p:cNvSpPr txBox="1"/>
          <p:nvPr/>
        </p:nvSpPr>
        <p:spPr>
          <a:xfrm>
            <a:off x="1427739" y="1739149"/>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Introdução</a:t>
            </a:r>
          </a:p>
        </p:txBody>
      </p:sp>
      <p:sp>
        <p:nvSpPr>
          <p:cNvPr id="8" name="AutoShape 8"/>
          <p:cNvSpPr/>
          <p:nvPr/>
        </p:nvSpPr>
        <p:spPr>
          <a:xfrm>
            <a:off x="1236620" y="3019720"/>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4128" y="-548696"/>
            <a:ext cx="1792828" cy="11019359"/>
            <a:chOff x="0" y="0"/>
            <a:chExt cx="472185" cy="2902218"/>
          </a:xfrm>
        </p:grpSpPr>
        <p:sp>
          <p:nvSpPr>
            <p:cNvPr id="3" name="Freeform 3"/>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4" name="TextBox 4"/>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sp>
        <p:nvSpPr>
          <p:cNvPr id="6" name="TextBox 6"/>
          <p:cNvSpPr txBox="1"/>
          <p:nvPr/>
        </p:nvSpPr>
        <p:spPr>
          <a:xfrm>
            <a:off x="2024847" y="5029200"/>
            <a:ext cx="13287548" cy="3641090"/>
          </a:xfrm>
          <a:prstGeom prst="rect">
            <a:avLst/>
          </a:prstGeom>
        </p:spPr>
        <p:txBody>
          <a:bodyPr lIns="0" tIns="0" rIns="0" bIns="0" rtlCol="0" anchor="t">
            <a:spAutoFit/>
          </a:bodyPr>
          <a:lstStyle/>
          <a:p>
            <a:pPr marL="0" lvl="0" indent="0" algn="just">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7" name="TextBox 7"/>
          <p:cNvSpPr txBox="1"/>
          <p:nvPr/>
        </p:nvSpPr>
        <p:spPr>
          <a:xfrm>
            <a:off x="2024847" y="3488044"/>
            <a:ext cx="4645128" cy="1104607"/>
          </a:xfrm>
          <a:prstGeom prst="rect">
            <a:avLst/>
          </a:prstGeom>
        </p:spPr>
        <p:txBody>
          <a:bodyPr lIns="0" tIns="0" rIns="0" bIns="0" rtlCol="0" anchor="t">
            <a:spAutoFit/>
          </a:bodyPr>
          <a:lstStyle/>
          <a:p>
            <a:pPr algn="l">
              <a:lnSpc>
                <a:spcPts val="4099"/>
              </a:lnSpc>
            </a:pPr>
            <a:r>
              <a:rPr lang="en-US" sz="3726" b="1">
                <a:solidFill>
                  <a:srgbClr val="000000"/>
                </a:solidFill>
                <a:latin typeface="Arial MT Pro Bold"/>
                <a:ea typeface="Arial MT Pro Bold"/>
                <a:cs typeface="Arial MT Pro Bold"/>
                <a:sym typeface="Arial MT Pro Bold"/>
              </a:rPr>
              <a:t>MÉTODOS ADMINISTRATIVOS</a:t>
            </a:r>
          </a:p>
        </p:txBody>
      </p:sp>
      <p:sp>
        <p:nvSpPr>
          <p:cNvPr id="8" name="TextBox 8"/>
          <p:cNvSpPr txBox="1"/>
          <p:nvPr/>
        </p:nvSpPr>
        <p:spPr>
          <a:xfrm>
            <a:off x="9358742" y="1736345"/>
            <a:ext cx="6933264" cy="1496628"/>
          </a:xfrm>
          <a:prstGeom prst="rect">
            <a:avLst/>
          </a:prstGeom>
        </p:spPr>
        <p:txBody>
          <a:bodyPr lIns="0" tIns="0" rIns="0" bIns="0" rtlCol="0" anchor="t">
            <a:spAutoFit/>
          </a:bodyPr>
          <a:lstStyle/>
          <a:p>
            <a:pPr marL="0" lvl="0" indent="0" algn="r">
              <a:lnSpc>
                <a:spcPts val="9590"/>
              </a:lnSpc>
              <a:spcBef>
                <a:spcPct val="0"/>
              </a:spcBef>
            </a:pPr>
            <a:r>
              <a:rPr lang="en-US" sz="10312" b="1" spc="-721">
                <a:solidFill>
                  <a:srgbClr val="000000"/>
                </a:solidFill>
                <a:latin typeface="Arial MT Pro Bold"/>
                <a:ea typeface="Arial MT Pro Bold"/>
                <a:cs typeface="Arial MT Pro Bold"/>
                <a:sym typeface="Arial MT Pro Bold"/>
              </a:rPr>
              <a:t>Metodologia</a:t>
            </a:r>
          </a:p>
        </p:txBody>
      </p:sp>
      <p:sp>
        <p:nvSpPr>
          <p:cNvPr id="9" name="AutoShape 9"/>
          <p:cNvSpPr/>
          <p:nvPr/>
        </p:nvSpPr>
        <p:spPr>
          <a:xfrm>
            <a:off x="9746433" y="3208165"/>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a:off x="7790841" y="1015241"/>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8841032" y="1731650"/>
            <a:ext cx="8418268" cy="415544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a:t>
            </a:r>
          </a:p>
        </p:txBody>
      </p:sp>
      <p:sp>
        <p:nvSpPr>
          <p:cNvPr id="5" name="TextBox 5"/>
          <p:cNvSpPr txBox="1"/>
          <p:nvPr/>
        </p:nvSpPr>
        <p:spPr>
          <a:xfrm>
            <a:off x="8841032" y="1082234"/>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CONTROLE</a:t>
            </a:r>
          </a:p>
        </p:txBody>
      </p:sp>
      <p:sp>
        <p:nvSpPr>
          <p:cNvPr id="6" name="TextBox 6"/>
          <p:cNvSpPr txBox="1"/>
          <p:nvPr/>
        </p:nvSpPr>
        <p:spPr>
          <a:xfrm>
            <a:off x="8841032" y="6939211"/>
            <a:ext cx="8418268" cy="2612390"/>
          </a:xfrm>
          <a:prstGeom prst="rect">
            <a:avLst/>
          </a:prstGeom>
        </p:spPr>
        <p:txBody>
          <a:bodyPr lIns="0" tIns="0" rIns="0" bIns="0" rtlCol="0" anchor="t">
            <a:spAutoFit/>
          </a:bodyPr>
          <a:lstStyle/>
          <a:p>
            <a:pPr marL="0" lvl="0" indent="0" algn="ctr">
              <a:lnSpc>
                <a:spcPts val="4060"/>
              </a:lnSpc>
              <a:spcBef>
                <a:spcPct val="0"/>
              </a:spcBef>
            </a:pPr>
            <a:r>
              <a:rPr lang="en-US" sz="2900" u="none" strike="noStrike">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a:t>
            </a:r>
          </a:p>
        </p:txBody>
      </p:sp>
      <p:sp>
        <p:nvSpPr>
          <p:cNvPr id="7" name="TextBox 7"/>
          <p:cNvSpPr txBox="1"/>
          <p:nvPr/>
        </p:nvSpPr>
        <p:spPr>
          <a:xfrm>
            <a:off x="931767" y="7572267"/>
            <a:ext cx="6176898" cy="1422477"/>
          </a:xfrm>
          <a:prstGeom prst="rect">
            <a:avLst/>
          </a:prstGeom>
        </p:spPr>
        <p:txBody>
          <a:bodyPr lIns="0" tIns="0" rIns="0" bIns="0" rtlCol="0" anchor="t">
            <a:spAutoFit/>
          </a:bodyPr>
          <a:lstStyle/>
          <a:p>
            <a:pPr algn="ctr">
              <a:lnSpc>
                <a:spcPts val="3581"/>
              </a:lnSpc>
            </a:pPr>
            <a:r>
              <a:rPr lang="en-US" sz="3256">
                <a:solidFill>
                  <a:srgbClr val="000000"/>
                </a:solidFill>
                <a:latin typeface="Arial MT Pro"/>
                <a:ea typeface="Arial MT Pro"/>
                <a:cs typeface="Arial MT Pro"/>
                <a:sym typeface="Arial MT Pro"/>
              </a:rPr>
              <a:t>CONTROLE, MODELOS, EXECUÇÃO, ANÁLISES</a:t>
            </a:r>
          </a:p>
          <a:p>
            <a:pPr algn="ctr">
              <a:lnSpc>
                <a:spcPts val="3581"/>
              </a:lnSpc>
            </a:pPr>
            <a:r>
              <a:rPr lang="en-US" sz="3256">
                <a:solidFill>
                  <a:srgbClr val="000000"/>
                </a:solidFill>
                <a:latin typeface="Arial MT Pro"/>
                <a:ea typeface="Arial MT Pro"/>
                <a:cs typeface="Arial MT Pro"/>
                <a:sym typeface="Arial MT Pro"/>
              </a:rPr>
              <a:t> E DADOS</a:t>
            </a:r>
          </a:p>
        </p:txBody>
      </p:sp>
      <p:sp>
        <p:nvSpPr>
          <p:cNvPr id="8" name="Freeform 8"/>
          <p:cNvSpPr/>
          <p:nvPr/>
        </p:nvSpPr>
        <p:spPr>
          <a:xfrm>
            <a:off x="1744788" y="844533"/>
            <a:ext cx="4550856" cy="4550856"/>
          </a:xfrm>
          <a:custGeom>
            <a:avLst/>
            <a:gdLst/>
            <a:ahLst/>
            <a:cxnLst/>
            <a:rect l="l" t="t" r="r" b="b"/>
            <a:pathLst>
              <a:path w="4550856" h="4550856">
                <a:moveTo>
                  <a:pt x="0" y="0"/>
                </a:moveTo>
                <a:lnTo>
                  <a:pt x="4550856" y="0"/>
                </a:lnTo>
                <a:lnTo>
                  <a:pt x="4550856" y="4550856"/>
                </a:lnTo>
                <a:lnTo>
                  <a:pt x="0" y="45508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9" name="TextBox 9"/>
          <p:cNvSpPr txBox="1"/>
          <p:nvPr/>
        </p:nvSpPr>
        <p:spPr>
          <a:xfrm>
            <a:off x="2928925" y="1173146"/>
            <a:ext cx="2182582" cy="3786188"/>
          </a:xfrm>
          <a:prstGeom prst="rect">
            <a:avLst/>
          </a:prstGeom>
        </p:spPr>
        <p:txBody>
          <a:bodyPr lIns="0" tIns="0" rIns="0" bIns="0" rtlCol="0" anchor="t">
            <a:spAutoFit/>
          </a:bodyPr>
          <a:lstStyle/>
          <a:p>
            <a:pPr algn="ctr">
              <a:lnSpc>
                <a:spcPts val="28228"/>
              </a:lnSpc>
            </a:pPr>
            <a:r>
              <a:rPr lang="en-US" sz="20163" b="1">
                <a:solidFill>
                  <a:srgbClr val="000000"/>
                </a:solidFill>
                <a:latin typeface="Arial MT Pro Bold"/>
                <a:ea typeface="Arial MT Pro Bold"/>
                <a:cs typeface="Arial MT Pro Bold"/>
                <a:sym typeface="Arial MT Pro Bold"/>
              </a:rPr>
              <a:t>4</a:t>
            </a:r>
          </a:p>
        </p:txBody>
      </p:sp>
      <p:sp>
        <p:nvSpPr>
          <p:cNvPr id="10" name="TextBox 10"/>
          <p:cNvSpPr txBox="1"/>
          <p:nvPr/>
        </p:nvSpPr>
        <p:spPr>
          <a:xfrm>
            <a:off x="931767" y="5820415"/>
            <a:ext cx="6370763" cy="1601657"/>
          </a:xfrm>
          <a:prstGeom prst="rect">
            <a:avLst/>
          </a:prstGeom>
        </p:spPr>
        <p:txBody>
          <a:bodyPr lIns="0" tIns="0" rIns="0" bIns="0" rtlCol="0" anchor="t">
            <a:spAutoFit/>
          </a:bodyPr>
          <a:lstStyle/>
          <a:p>
            <a:pPr algn="ctr">
              <a:lnSpc>
                <a:spcPts val="5809"/>
              </a:lnSpc>
            </a:pPr>
            <a:r>
              <a:rPr lang="en-US" sz="5233" b="1">
                <a:solidFill>
                  <a:srgbClr val="000000"/>
                </a:solidFill>
                <a:latin typeface="Arial MT Pro Bold"/>
                <a:ea typeface="Arial MT Pro Bold"/>
                <a:cs typeface="Arial MT Pro Bold"/>
                <a:sym typeface="Arial MT Pro Bold"/>
              </a:rPr>
              <a:t>PLANOS ADMINISTRATIVOS</a:t>
            </a:r>
          </a:p>
        </p:txBody>
      </p:sp>
      <p:sp>
        <p:nvSpPr>
          <p:cNvPr id="11" name="TextBox 11"/>
          <p:cNvSpPr txBox="1"/>
          <p:nvPr/>
        </p:nvSpPr>
        <p:spPr>
          <a:xfrm>
            <a:off x="8841032" y="6228076"/>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MODELOS</a:t>
            </a:r>
          </a:p>
        </p:txBody>
      </p:sp>
      <p:sp>
        <p:nvSpPr>
          <p:cNvPr id="12" name="Freeform 12"/>
          <p:cNvSpPr/>
          <p:nvPr/>
        </p:nvSpPr>
        <p:spPr>
          <a:xfrm>
            <a:off x="7790841" y="6161083"/>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Tree>
  </p:cSld>
  <p:clrMapOvr>
    <a:masterClrMapping/>
  </p:clrMapOvr>
  <p:transition spd="med">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2036467" y="2073507"/>
            <a:ext cx="14460457" cy="261239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a:t>
            </a:r>
          </a:p>
        </p:txBody>
      </p:sp>
      <p:sp>
        <p:nvSpPr>
          <p:cNvPr id="4" name="TextBox 4"/>
          <p:cNvSpPr txBox="1"/>
          <p:nvPr/>
        </p:nvSpPr>
        <p:spPr>
          <a:xfrm>
            <a:off x="2248894" y="1322031"/>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EXECUÇÃO</a:t>
            </a:r>
          </a:p>
        </p:txBody>
      </p:sp>
      <p:sp>
        <p:nvSpPr>
          <p:cNvPr id="5" name="TextBox 5"/>
          <p:cNvSpPr txBox="1"/>
          <p:nvPr/>
        </p:nvSpPr>
        <p:spPr>
          <a:xfrm>
            <a:off x="2036467" y="5700464"/>
            <a:ext cx="13877645" cy="1583690"/>
          </a:xfrm>
          <a:prstGeom prst="rect">
            <a:avLst/>
          </a:prstGeom>
        </p:spPr>
        <p:txBody>
          <a:bodyPr lIns="0" tIns="0" rIns="0" bIns="0" rtlCol="0" anchor="t">
            <a:spAutoFit/>
          </a:bodyPr>
          <a:lstStyle/>
          <a:p>
            <a:pPr marL="0" lvl="0" indent="0" algn="ctr">
              <a:lnSpc>
                <a:spcPts val="4060"/>
              </a:lnSpc>
              <a:spcBef>
                <a:spcPct val="0"/>
              </a:spcBef>
            </a:pPr>
            <a:r>
              <a:rPr lang="en-US" sz="2900" u="none" strike="noStrike">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a:t>
            </a:r>
          </a:p>
        </p:txBody>
      </p:sp>
      <p:sp>
        <p:nvSpPr>
          <p:cNvPr id="6" name="TextBox 6"/>
          <p:cNvSpPr txBox="1"/>
          <p:nvPr/>
        </p:nvSpPr>
        <p:spPr>
          <a:xfrm>
            <a:off x="2341267" y="4950527"/>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ANÁLISES</a:t>
            </a:r>
          </a:p>
        </p:txBody>
      </p:sp>
      <p:sp>
        <p:nvSpPr>
          <p:cNvPr id="7" name="TextBox 7"/>
          <p:cNvSpPr txBox="1"/>
          <p:nvPr/>
        </p:nvSpPr>
        <p:spPr>
          <a:xfrm>
            <a:off x="2127849" y="7408996"/>
            <a:ext cx="3964419" cy="1565657"/>
          </a:xfrm>
          <a:prstGeom prst="rect">
            <a:avLst/>
          </a:prstGeom>
        </p:spPr>
        <p:txBody>
          <a:bodyPr lIns="0" tIns="0" rIns="0" bIns="0" rtlCol="0" anchor="t">
            <a:spAutoFit/>
          </a:bodyPr>
          <a:lstStyle/>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1</a:t>
            </a:r>
          </a:p>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2</a:t>
            </a:r>
          </a:p>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3</a:t>
            </a:r>
          </a:p>
        </p:txBody>
      </p:sp>
      <p:sp>
        <p:nvSpPr>
          <p:cNvPr id="8" name="Freeform 8"/>
          <p:cNvSpPr/>
          <p:nvPr/>
        </p:nvSpPr>
        <p:spPr>
          <a:xfrm>
            <a:off x="1266086" y="1312347"/>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9" name="Freeform 9"/>
          <p:cNvSpPr/>
          <p:nvPr/>
        </p:nvSpPr>
        <p:spPr>
          <a:xfrm>
            <a:off x="1266086" y="4940843"/>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grpSp>
        <p:nvGrpSpPr>
          <p:cNvPr id="10" name="Group 10"/>
          <p:cNvGrpSpPr/>
          <p:nvPr/>
        </p:nvGrpSpPr>
        <p:grpSpPr>
          <a:xfrm>
            <a:off x="16868399" y="-568837"/>
            <a:ext cx="1792828" cy="11019359"/>
            <a:chOff x="0" y="0"/>
            <a:chExt cx="472185" cy="2902218"/>
          </a:xfrm>
        </p:grpSpPr>
        <p:sp>
          <p:nvSpPr>
            <p:cNvPr id="11" name="Freeform 11"/>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12" name="TextBox 12"/>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grpSp>
        <p:nvGrpSpPr>
          <p:cNvPr id="3" name="Group 3"/>
          <p:cNvGrpSpPr/>
          <p:nvPr/>
        </p:nvGrpSpPr>
        <p:grpSpPr>
          <a:xfrm>
            <a:off x="3277017" y="3827917"/>
            <a:ext cx="3849471" cy="2130540"/>
            <a:chOff x="0" y="0"/>
            <a:chExt cx="1288477" cy="713124"/>
          </a:xfrm>
        </p:grpSpPr>
        <p:sp>
          <p:nvSpPr>
            <p:cNvPr id="4" name="Freeform 4"/>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5" name="TextBox 5"/>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grpSp>
        <p:nvGrpSpPr>
          <p:cNvPr id="6" name="Group 6"/>
          <p:cNvGrpSpPr/>
          <p:nvPr/>
        </p:nvGrpSpPr>
        <p:grpSpPr>
          <a:xfrm>
            <a:off x="1883407" y="6385891"/>
            <a:ext cx="7168183" cy="2872409"/>
            <a:chOff x="0" y="0"/>
            <a:chExt cx="1383429" cy="554363"/>
          </a:xfrm>
        </p:grpSpPr>
        <p:sp>
          <p:nvSpPr>
            <p:cNvPr id="7" name="Freeform 7"/>
            <p:cNvSpPr/>
            <p:nvPr/>
          </p:nvSpPr>
          <p:spPr>
            <a:xfrm>
              <a:off x="0" y="0"/>
              <a:ext cx="1383429" cy="554363"/>
            </a:xfrm>
            <a:custGeom>
              <a:avLst/>
              <a:gdLst/>
              <a:ahLst/>
              <a:cxnLst/>
              <a:rect l="l" t="t" r="r" b="b"/>
              <a:pathLst>
                <a:path w="1383429" h="554363">
                  <a:moveTo>
                    <a:pt x="0" y="0"/>
                  </a:moveTo>
                  <a:lnTo>
                    <a:pt x="1383429" y="0"/>
                  </a:lnTo>
                  <a:lnTo>
                    <a:pt x="1383429" y="554363"/>
                  </a:lnTo>
                  <a:lnTo>
                    <a:pt x="0" y="554363"/>
                  </a:lnTo>
                  <a:close/>
                </a:path>
              </a:pathLst>
            </a:custGeom>
            <a:ln w="47625" cap="sq">
              <a:solidFill>
                <a:srgbClr val="000000"/>
              </a:solidFill>
              <a:prstDash val="solid"/>
              <a:miter/>
            </a:ln>
          </p:spPr>
          <p:txBody>
            <a:bodyPr/>
            <a:lstStyle/>
            <a:p>
              <a:endParaRPr lang="pt-BR"/>
            </a:p>
          </p:txBody>
        </p:sp>
        <p:sp>
          <p:nvSpPr>
            <p:cNvPr id="8" name="TextBox 8"/>
            <p:cNvSpPr txBox="1"/>
            <p:nvPr/>
          </p:nvSpPr>
          <p:spPr>
            <a:xfrm>
              <a:off x="0" y="-57150"/>
              <a:ext cx="1383429" cy="611513"/>
            </a:xfrm>
            <a:prstGeom prst="rect">
              <a:avLst/>
            </a:prstGeom>
          </p:spPr>
          <p:txBody>
            <a:bodyPr lIns="39998" tIns="39998" rIns="39998" bIns="39998" rtlCol="0" anchor="ctr"/>
            <a:lstStyle/>
            <a:p>
              <a:pPr marL="0" lvl="0" indent="0" algn="ctr">
                <a:lnSpc>
                  <a:spcPts val="1952"/>
                </a:lnSpc>
                <a:spcBef>
                  <a:spcPct val="0"/>
                </a:spcBef>
              </a:pPr>
              <a:endParaRPr/>
            </a:p>
          </p:txBody>
        </p:sp>
      </p:grpSp>
      <p:grpSp>
        <p:nvGrpSpPr>
          <p:cNvPr id="9" name="Group 9"/>
          <p:cNvGrpSpPr/>
          <p:nvPr/>
        </p:nvGrpSpPr>
        <p:grpSpPr>
          <a:xfrm>
            <a:off x="9568029" y="6385891"/>
            <a:ext cx="7168183" cy="2872409"/>
            <a:chOff x="0" y="0"/>
            <a:chExt cx="1383429" cy="554363"/>
          </a:xfrm>
        </p:grpSpPr>
        <p:sp>
          <p:nvSpPr>
            <p:cNvPr id="10" name="Freeform 10"/>
            <p:cNvSpPr/>
            <p:nvPr/>
          </p:nvSpPr>
          <p:spPr>
            <a:xfrm>
              <a:off x="0" y="0"/>
              <a:ext cx="1383429" cy="554363"/>
            </a:xfrm>
            <a:custGeom>
              <a:avLst/>
              <a:gdLst/>
              <a:ahLst/>
              <a:cxnLst/>
              <a:rect l="l" t="t" r="r" b="b"/>
              <a:pathLst>
                <a:path w="1383429" h="554363">
                  <a:moveTo>
                    <a:pt x="0" y="0"/>
                  </a:moveTo>
                  <a:lnTo>
                    <a:pt x="1383429" y="0"/>
                  </a:lnTo>
                  <a:lnTo>
                    <a:pt x="1383429" y="554363"/>
                  </a:lnTo>
                  <a:lnTo>
                    <a:pt x="0" y="554363"/>
                  </a:lnTo>
                  <a:close/>
                </a:path>
              </a:pathLst>
            </a:custGeom>
            <a:ln w="47625" cap="sq">
              <a:solidFill>
                <a:srgbClr val="000000"/>
              </a:solidFill>
              <a:prstDash val="solid"/>
              <a:miter/>
            </a:ln>
          </p:spPr>
          <p:txBody>
            <a:bodyPr/>
            <a:lstStyle/>
            <a:p>
              <a:endParaRPr lang="pt-BR"/>
            </a:p>
          </p:txBody>
        </p:sp>
        <p:sp>
          <p:nvSpPr>
            <p:cNvPr id="11" name="TextBox 11"/>
            <p:cNvSpPr txBox="1"/>
            <p:nvPr/>
          </p:nvSpPr>
          <p:spPr>
            <a:xfrm>
              <a:off x="0" y="-57150"/>
              <a:ext cx="1383429" cy="611513"/>
            </a:xfrm>
            <a:prstGeom prst="rect">
              <a:avLst/>
            </a:prstGeom>
          </p:spPr>
          <p:txBody>
            <a:bodyPr lIns="39998" tIns="39998" rIns="39998" bIns="39998" rtlCol="0" anchor="ctr"/>
            <a:lstStyle/>
            <a:p>
              <a:pPr marL="0" lvl="0" indent="0" algn="ctr">
                <a:lnSpc>
                  <a:spcPts val="1952"/>
                </a:lnSpc>
                <a:spcBef>
                  <a:spcPct val="0"/>
                </a:spcBef>
              </a:pPr>
              <a:endParaRPr/>
            </a:p>
          </p:txBody>
        </p:sp>
      </p:grpSp>
      <p:sp>
        <p:nvSpPr>
          <p:cNvPr id="12" name="TextBox 12"/>
          <p:cNvSpPr txBox="1"/>
          <p:nvPr/>
        </p:nvSpPr>
        <p:spPr>
          <a:xfrm>
            <a:off x="3429364" y="6710932"/>
            <a:ext cx="4076269" cy="939781"/>
          </a:xfrm>
          <a:prstGeom prst="rect">
            <a:avLst/>
          </a:prstGeom>
        </p:spPr>
        <p:txBody>
          <a:bodyPr lIns="0" tIns="0" rIns="0" bIns="0" rtlCol="0" anchor="t">
            <a:spAutoFit/>
          </a:bodyPr>
          <a:lstStyle/>
          <a:p>
            <a:pPr algn="ctr">
              <a:lnSpc>
                <a:spcPts val="3425"/>
              </a:lnSpc>
            </a:pPr>
            <a:r>
              <a:rPr lang="en-US" sz="3201" b="1">
                <a:solidFill>
                  <a:srgbClr val="000000"/>
                </a:solidFill>
                <a:latin typeface="Arial MT Pro Bold"/>
                <a:ea typeface="Arial MT Pro Bold"/>
                <a:cs typeface="Arial MT Pro Bold"/>
                <a:sym typeface="Arial MT Pro Bold"/>
              </a:rPr>
              <a:t>INFORMAÇÕES DE DADOS 1</a:t>
            </a:r>
          </a:p>
        </p:txBody>
      </p:sp>
      <p:sp>
        <p:nvSpPr>
          <p:cNvPr id="13" name="TextBox 13"/>
          <p:cNvSpPr txBox="1"/>
          <p:nvPr/>
        </p:nvSpPr>
        <p:spPr>
          <a:xfrm>
            <a:off x="11383588" y="6710932"/>
            <a:ext cx="4076269" cy="939781"/>
          </a:xfrm>
          <a:prstGeom prst="rect">
            <a:avLst/>
          </a:prstGeom>
        </p:spPr>
        <p:txBody>
          <a:bodyPr lIns="0" tIns="0" rIns="0" bIns="0" rtlCol="0" anchor="t">
            <a:spAutoFit/>
          </a:bodyPr>
          <a:lstStyle/>
          <a:p>
            <a:pPr algn="ctr">
              <a:lnSpc>
                <a:spcPts val="3425"/>
              </a:lnSpc>
            </a:pPr>
            <a:r>
              <a:rPr lang="en-US" sz="3201" b="1">
                <a:solidFill>
                  <a:srgbClr val="000000"/>
                </a:solidFill>
                <a:latin typeface="Arial MT Pro Bold"/>
                <a:ea typeface="Arial MT Pro Bold"/>
                <a:cs typeface="Arial MT Pro Bold"/>
                <a:sym typeface="Arial MT Pro Bold"/>
              </a:rPr>
              <a:t>INFORMAÇÕES DE DADOS 2</a:t>
            </a:r>
          </a:p>
        </p:txBody>
      </p:sp>
      <p:sp>
        <p:nvSpPr>
          <p:cNvPr id="14" name="TextBox 14"/>
          <p:cNvSpPr txBox="1"/>
          <p:nvPr/>
        </p:nvSpPr>
        <p:spPr>
          <a:xfrm>
            <a:off x="3056740" y="7969093"/>
            <a:ext cx="4821517" cy="530753"/>
          </a:xfrm>
          <a:prstGeom prst="rect">
            <a:avLst/>
          </a:prstGeom>
        </p:spPr>
        <p:txBody>
          <a:bodyPr lIns="0" tIns="0" rIns="0" bIns="0" rtlCol="0" anchor="t">
            <a:spAutoFit/>
          </a:bodyPr>
          <a:lstStyle/>
          <a:p>
            <a:pPr algn="ctr">
              <a:lnSpc>
                <a:spcPts val="3532"/>
              </a:lnSpc>
            </a:pPr>
            <a:r>
              <a:rPr lang="en-US" sz="3301">
                <a:solidFill>
                  <a:srgbClr val="000000"/>
                </a:solidFill>
                <a:latin typeface="Arial MT Pro"/>
                <a:ea typeface="Arial MT Pro"/>
                <a:cs typeface="Arial MT Pro"/>
                <a:sym typeface="Arial MT Pro"/>
              </a:rPr>
              <a:t>Valores de Gastos</a:t>
            </a:r>
          </a:p>
        </p:txBody>
      </p:sp>
      <p:sp>
        <p:nvSpPr>
          <p:cNvPr id="15" name="TextBox 15"/>
          <p:cNvSpPr txBox="1"/>
          <p:nvPr/>
        </p:nvSpPr>
        <p:spPr>
          <a:xfrm>
            <a:off x="11080487" y="7968177"/>
            <a:ext cx="4682470" cy="978428"/>
          </a:xfrm>
          <a:prstGeom prst="rect">
            <a:avLst/>
          </a:prstGeom>
        </p:spPr>
        <p:txBody>
          <a:bodyPr lIns="0" tIns="0" rIns="0" bIns="0" rtlCol="0" anchor="t">
            <a:spAutoFit/>
          </a:bodyPr>
          <a:lstStyle/>
          <a:p>
            <a:pPr algn="ctr">
              <a:lnSpc>
                <a:spcPts val="3532"/>
              </a:lnSpc>
            </a:pPr>
            <a:r>
              <a:rPr lang="en-US" sz="3301">
                <a:solidFill>
                  <a:srgbClr val="000000"/>
                </a:solidFill>
                <a:latin typeface="Arial MT Pro"/>
                <a:ea typeface="Arial MT Pro"/>
                <a:cs typeface="Arial MT Pro"/>
                <a:sym typeface="Arial MT Pro"/>
              </a:rPr>
              <a:t>Valores de</a:t>
            </a:r>
          </a:p>
          <a:p>
            <a:pPr algn="ctr">
              <a:lnSpc>
                <a:spcPts val="3532"/>
              </a:lnSpc>
            </a:pPr>
            <a:r>
              <a:rPr lang="en-US" sz="3301">
                <a:solidFill>
                  <a:srgbClr val="000000"/>
                </a:solidFill>
                <a:latin typeface="Arial MT Pro"/>
                <a:ea typeface="Arial MT Pro"/>
                <a:cs typeface="Arial MT Pro"/>
                <a:sym typeface="Arial MT Pro"/>
              </a:rPr>
              <a:t> Faturamento</a:t>
            </a:r>
          </a:p>
        </p:txBody>
      </p:sp>
      <p:sp>
        <p:nvSpPr>
          <p:cNvPr id="16" name="TextBox 16"/>
          <p:cNvSpPr txBox="1"/>
          <p:nvPr/>
        </p:nvSpPr>
        <p:spPr>
          <a:xfrm>
            <a:off x="3751534"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1</a:t>
            </a:r>
          </a:p>
        </p:txBody>
      </p:sp>
      <p:sp>
        <p:nvSpPr>
          <p:cNvPr id="17" name="TextBox 17"/>
          <p:cNvSpPr txBox="1"/>
          <p:nvPr/>
        </p:nvSpPr>
        <p:spPr>
          <a:xfrm>
            <a:off x="3684117"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Tempo de</a:t>
            </a:r>
          </a:p>
          <a:p>
            <a:pPr algn="ctr">
              <a:lnSpc>
                <a:spcPts val="3694"/>
              </a:lnSpc>
            </a:pPr>
            <a:r>
              <a:rPr lang="en-US" sz="3452">
                <a:solidFill>
                  <a:srgbClr val="000000"/>
                </a:solidFill>
                <a:latin typeface="Arial MT Pro"/>
                <a:ea typeface="Arial MT Pro"/>
                <a:cs typeface="Arial MT Pro"/>
                <a:sym typeface="Arial MT Pro"/>
              </a:rPr>
              <a:t> Execução</a:t>
            </a:r>
          </a:p>
        </p:txBody>
      </p:sp>
      <p:grpSp>
        <p:nvGrpSpPr>
          <p:cNvPr id="18" name="Group 18"/>
          <p:cNvGrpSpPr/>
          <p:nvPr/>
        </p:nvGrpSpPr>
        <p:grpSpPr>
          <a:xfrm>
            <a:off x="7309280" y="3827917"/>
            <a:ext cx="3849471" cy="2130540"/>
            <a:chOff x="0" y="0"/>
            <a:chExt cx="1288477" cy="713124"/>
          </a:xfrm>
        </p:grpSpPr>
        <p:sp>
          <p:nvSpPr>
            <p:cNvPr id="19" name="Freeform 19"/>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20" name="TextBox 20"/>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sp>
        <p:nvSpPr>
          <p:cNvPr id="21" name="TextBox 21"/>
          <p:cNvSpPr txBox="1"/>
          <p:nvPr/>
        </p:nvSpPr>
        <p:spPr>
          <a:xfrm>
            <a:off x="7783797"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2</a:t>
            </a:r>
          </a:p>
        </p:txBody>
      </p:sp>
      <p:sp>
        <p:nvSpPr>
          <p:cNvPr id="22" name="TextBox 22"/>
          <p:cNvSpPr txBox="1"/>
          <p:nvPr/>
        </p:nvSpPr>
        <p:spPr>
          <a:xfrm>
            <a:off x="7716380"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Custos</a:t>
            </a:r>
          </a:p>
          <a:p>
            <a:pPr algn="ctr">
              <a:lnSpc>
                <a:spcPts val="3694"/>
              </a:lnSpc>
            </a:pPr>
            <a:r>
              <a:rPr lang="en-US" sz="3452">
                <a:solidFill>
                  <a:srgbClr val="000000"/>
                </a:solidFill>
                <a:latin typeface="Arial MT Pro"/>
                <a:ea typeface="Arial MT Pro"/>
                <a:cs typeface="Arial MT Pro"/>
                <a:sym typeface="Arial MT Pro"/>
              </a:rPr>
              <a:t>Operacionais</a:t>
            </a:r>
          </a:p>
        </p:txBody>
      </p:sp>
      <p:grpSp>
        <p:nvGrpSpPr>
          <p:cNvPr id="23" name="Group 23"/>
          <p:cNvGrpSpPr/>
          <p:nvPr/>
        </p:nvGrpSpPr>
        <p:grpSpPr>
          <a:xfrm>
            <a:off x="11342586" y="3827917"/>
            <a:ext cx="3849471" cy="2130540"/>
            <a:chOff x="0" y="0"/>
            <a:chExt cx="1288477" cy="713124"/>
          </a:xfrm>
        </p:grpSpPr>
        <p:sp>
          <p:nvSpPr>
            <p:cNvPr id="24" name="Freeform 24"/>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25" name="TextBox 25"/>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sp>
        <p:nvSpPr>
          <p:cNvPr id="26" name="TextBox 26"/>
          <p:cNvSpPr txBox="1"/>
          <p:nvPr/>
        </p:nvSpPr>
        <p:spPr>
          <a:xfrm>
            <a:off x="11817104"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3</a:t>
            </a:r>
          </a:p>
        </p:txBody>
      </p:sp>
      <p:sp>
        <p:nvSpPr>
          <p:cNvPr id="27" name="TextBox 27"/>
          <p:cNvSpPr txBox="1"/>
          <p:nvPr/>
        </p:nvSpPr>
        <p:spPr>
          <a:xfrm>
            <a:off x="11749687"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Custos</a:t>
            </a:r>
          </a:p>
          <a:p>
            <a:pPr algn="ctr">
              <a:lnSpc>
                <a:spcPts val="3694"/>
              </a:lnSpc>
            </a:pPr>
            <a:r>
              <a:rPr lang="en-US" sz="3452">
                <a:solidFill>
                  <a:srgbClr val="000000"/>
                </a:solidFill>
                <a:latin typeface="Arial MT Pro"/>
                <a:ea typeface="Arial MT Pro"/>
                <a:cs typeface="Arial MT Pro"/>
                <a:sym typeface="Arial MT Pro"/>
              </a:rPr>
              <a:t>Extras</a:t>
            </a:r>
          </a:p>
        </p:txBody>
      </p:sp>
      <p:sp>
        <p:nvSpPr>
          <p:cNvPr id="28" name="TextBox 28"/>
          <p:cNvSpPr txBox="1"/>
          <p:nvPr/>
        </p:nvSpPr>
        <p:spPr>
          <a:xfrm>
            <a:off x="1506668" y="1214110"/>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Dados</a:t>
            </a:r>
          </a:p>
        </p:txBody>
      </p:sp>
      <p:sp>
        <p:nvSpPr>
          <p:cNvPr id="29" name="AutoShape 29"/>
          <p:cNvSpPr/>
          <p:nvPr/>
        </p:nvSpPr>
        <p:spPr>
          <a:xfrm>
            <a:off x="1315549" y="2494681"/>
            <a:ext cx="6204398" cy="0"/>
          </a:xfrm>
          <a:prstGeom prst="line">
            <a:avLst/>
          </a:prstGeom>
          <a:ln w="38100" cap="rnd">
            <a:solidFill>
              <a:srgbClr val="000000"/>
            </a:solidFill>
            <a:prstDash val="solid"/>
            <a:headEnd type="none" w="sm" len="sm"/>
            <a:tailEnd type="none" w="sm" len="sm"/>
          </a:ln>
        </p:spPr>
        <p:txBody>
          <a:bodyPr/>
          <a:lstStyle/>
          <a:p>
            <a:endParaRPr lang="pt-BR"/>
          </a:p>
        </p:txBody>
      </p:sp>
      <p:grpSp>
        <p:nvGrpSpPr>
          <p:cNvPr id="30" name="Group 30"/>
          <p:cNvGrpSpPr/>
          <p:nvPr/>
        </p:nvGrpSpPr>
        <p:grpSpPr>
          <a:xfrm>
            <a:off x="17393438" y="-569369"/>
            <a:ext cx="1792828" cy="11019359"/>
            <a:chOff x="0" y="0"/>
            <a:chExt cx="472185" cy="2902218"/>
          </a:xfrm>
        </p:grpSpPr>
        <p:sp>
          <p:nvSpPr>
            <p:cNvPr id="31" name="Freeform 31"/>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32" name="TextBox 32"/>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a:off x="1152287" y="1882080"/>
            <a:ext cx="2714813" cy="2185226"/>
          </a:xfrm>
          <a:custGeom>
            <a:avLst/>
            <a:gdLst/>
            <a:ahLst/>
            <a:cxnLst/>
            <a:rect l="l" t="t" r="r" b="b"/>
            <a:pathLst>
              <a:path w="2714813" h="2185226">
                <a:moveTo>
                  <a:pt x="0" y="0"/>
                </a:moveTo>
                <a:lnTo>
                  <a:pt x="2714812" y="0"/>
                </a:lnTo>
                <a:lnTo>
                  <a:pt x="2714812" y="2185226"/>
                </a:lnTo>
                <a:lnTo>
                  <a:pt x="0" y="21852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Freeform 4"/>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TextBox 5"/>
          <p:cNvSpPr txBox="1"/>
          <p:nvPr/>
        </p:nvSpPr>
        <p:spPr>
          <a:xfrm>
            <a:off x="1152287" y="5231042"/>
            <a:ext cx="15911990" cy="3416083"/>
          </a:xfrm>
          <a:prstGeom prst="rect">
            <a:avLst/>
          </a:prstGeom>
        </p:spPr>
        <p:txBody>
          <a:bodyPr lIns="0" tIns="0" rIns="0" bIns="0" rtlCol="0" anchor="t">
            <a:spAutoFit/>
          </a:bodyPr>
          <a:lstStyle/>
          <a:p>
            <a:pPr marL="0" lvl="0" indent="0" algn="just">
              <a:lnSpc>
                <a:spcPts val="4424"/>
              </a:lnSpc>
            </a:pPr>
            <a:r>
              <a:rPr lang="en-US" sz="316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6" name="TextBox 6"/>
          <p:cNvSpPr txBox="1"/>
          <p:nvPr/>
        </p:nvSpPr>
        <p:spPr>
          <a:xfrm>
            <a:off x="4872920" y="2386495"/>
            <a:ext cx="4850179" cy="1352402"/>
          </a:xfrm>
          <a:prstGeom prst="rect">
            <a:avLst/>
          </a:prstGeom>
        </p:spPr>
        <p:txBody>
          <a:bodyPr lIns="0" tIns="0" rIns="0" bIns="0" rtlCol="0" anchor="t">
            <a:spAutoFit/>
          </a:bodyPr>
          <a:lstStyle/>
          <a:p>
            <a:pPr algn="ctr">
              <a:lnSpc>
                <a:spcPts val="5010"/>
              </a:lnSpc>
            </a:pPr>
            <a:r>
              <a:rPr lang="en-US" sz="4554" b="1">
                <a:solidFill>
                  <a:srgbClr val="000000"/>
                </a:solidFill>
                <a:latin typeface="Arial MT Pro Bold"/>
                <a:ea typeface="Arial MT Pro Bold"/>
                <a:cs typeface="Arial MT Pro Bold"/>
                <a:sym typeface="Arial MT Pro Bold"/>
              </a:rPr>
              <a:t>ETAPAS DE </a:t>
            </a:r>
          </a:p>
          <a:p>
            <a:pPr algn="ctr">
              <a:lnSpc>
                <a:spcPts val="5010"/>
              </a:lnSpc>
            </a:pPr>
            <a:r>
              <a:rPr lang="en-US" sz="4554" b="1">
                <a:solidFill>
                  <a:srgbClr val="000000"/>
                </a:solidFill>
                <a:latin typeface="Arial MT Pro Bold"/>
                <a:ea typeface="Arial MT Pro Bold"/>
                <a:cs typeface="Arial MT Pro Bold"/>
                <a:sym typeface="Arial MT Pro Bold"/>
              </a:rPr>
              <a:t>EXECUÇÃO</a:t>
            </a:r>
          </a:p>
        </p:txBody>
      </p:sp>
      <p:sp>
        <p:nvSpPr>
          <p:cNvPr id="7" name="TextBox 7"/>
          <p:cNvSpPr txBox="1"/>
          <p:nvPr/>
        </p:nvSpPr>
        <p:spPr>
          <a:xfrm>
            <a:off x="10131013" y="1114305"/>
            <a:ext cx="6933264" cy="2706303"/>
          </a:xfrm>
          <a:prstGeom prst="rect">
            <a:avLst/>
          </a:prstGeom>
        </p:spPr>
        <p:txBody>
          <a:bodyPr lIns="0" tIns="0" rIns="0" bIns="0" rtlCol="0" anchor="t">
            <a:spAutoFit/>
          </a:bodyPr>
          <a:lstStyle/>
          <a:p>
            <a:pPr marL="0" lvl="0" indent="0" algn="r">
              <a:lnSpc>
                <a:spcPts val="9590"/>
              </a:lnSpc>
              <a:spcBef>
                <a:spcPct val="0"/>
              </a:spcBef>
            </a:pPr>
            <a:r>
              <a:rPr lang="en-US" sz="10312" b="1" spc="-721">
                <a:solidFill>
                  <a:srgbClr val="000000"/>
                </a:solidFill>
                <a:latin typeface="Arial MT Pro Bold"/>
                <a:ea typeface="Arial MT Pro Bold"/>
                <a:cs typeface="Arial MT Pro Bold"/>
                <a:sym typeface="Arial MT Pro Bold"/>
              </a:rPr>
              <a:t>Recursos Humanos</a:t>
            </a:r>
          </a:p>
        </p:txBody>
      </p:sp>
      <p:sp>
        <p:nvSpPr>
          <p:cNvPr id="8" name="AutoShape 8"/>
          <p:cNvSpPr/>
          <p:nvPr/>
        </p:nvSpPr>
        <p:spPr>
          <a:xfrm>
            <a:off x="10728919" y="3571103"/>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2147107" y="4007253"/>
            <a:ext cx="13271439" cy="4622599"/>
          </a:xfrm>
          <a:prstGeom prst="rect">
            <a:avLst/>
          </a:prstGeom>
        </p:spPr>
        <p:txBody>
          <a:bodyPr lIns="0" tIns="0" rIns="0" bIns="0" rtlCol="0" anchor="t">
            <a:spAutoFit/>
          </a:bodyPr>
          <a:lstStyle/>
          <a:p>
            <a:pPr marL="0" lvl="0" indent="0" algn="ctr">
              <a:lnSpc>
                <a:spcPts val="4561"/>
              </a:lnSpc>
            </a:pPr>
            <a:r>
              <a:rPr lang="en-US" sz="3257">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4" name="TextBox 4"/>
          <p:cNvSpPr txBox="1"/>
          <p:nvPr/>
        </p:nvSpPr>
        <p:spPr>
          <a:xfrm>
            <a:off x="5155090" y="3056888"/>
            <a:ext cx="7512867" cy="590257"/>
          </a:xfrm>
          <a:prstGeom prst="rect">
            <a:avLst/>
          </a:prstGeom>
        </p:spPr>
        <p:txBody>
          <a:bodyPr lIns="0" tIns="0" rIns="0" bIns="0" rtlCol="0" anchor="t">
            <a:spAutoFit/>
          </a:bodyPr>
          <a:lstStyle/>
          <a:p>
            <a:pPr algn="ctr">
              <a:lnSpc>
                <a:spcPts val="4099"/>
              </a:lnSpc>
            </a:pPr>
            <a:r>
              <a:rPr lang="en-US" sz="3726" b="1">
                <a:solidFill>
                  <a:srgbClr val="000000"/>
                </a:solidFill>
                <a:latin typeface="Arial MT Pro Bold"/>
                <a:ea typeface="Arial MT Pro Bold"/>
                <a:cs typeface="Arial MT Pro Bold"/>
                <a:sym typeface="Arial MT Pro Bold"/>
              </a:rPr>
              <a:t>CONSIDERAÇÕES FINAIS</a:t>
            </a:r>
          </a:p>
        </p:txBody>
      </p:sp>
      <p:sp>
        <p:nvSpPr>
          <p:cNvPr id="5" name="Freeform 5"/>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6" name="Freeform 6"/>
          <p:cNvSpPr/>
          <p:nvPr/>
        </p:nvSpPr>
        <p:spPr>
          <a:xfrm>
            <a:off x="13835972" y="1028700"/>
            <a:ext cx="2568170" cy="2568170"/>
          </a:xfrm>
          <a:custGeom>
            <a:avLst/>
            <a:gdLst/>
            <a:ahLst/>
            <a:cxnLst/>
            <a:rect l="l" t="t" r="r" b="b"/>
            <a:pathLst>
              <a:path w="2568170" h="2568170">
                <a:moveTo>
                  <a:pt x="0" y="0"/>
                </a:moveTo>
                <a:lnTo>
                  <a:pt x="2568170" y="0"/>
                </a:lnTo>
                <a:lnTo>
                  <a:pt x="2568170" y="2568170"/>
                </a:lnTo>
                <a:lnTo>
                  <a:pt x="0" y="25681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7"/>
          <p:cNvSpPr txBox="1"/>
          <p:nvPr/>
        </p:nvSpPr>
        <p:spPr>
          <a:xfrm>
            <a:off x="1978260" y="1095375"/>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Conclusão</a:t>
            </a:r>
          </a:p>
        </p:txBody>
      </p:sp>
      <p:sp>
        <p:nvSpPr>
          <p:cNvPr id="8" name="AutoShape 8"/>
          <p:cNvSpPr/>
          <p:nvPr/>
        </p:nvSpPr>
        <p:spPr>
          <a:xfrm>
            <a:off x="1787141" y="2375946"/>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329443">
            <a:off x="1216825" y="682326"/>
            <a:ext cx="3251928" cy="3251928"/>
          </a:xfrm>
          <a:custGeom>
            <a:avLst/>
            <a:gdLst/>
            <a:ahLst/>
            <a:cxnLst/>
            <a:rect l="l" t="t" r="r" b="b"/>
            <a:pathLst>
              <a:path w="3251928" h="3251928">
                <a:moveTo>
                  <a:pt x="0" y="0"/>
                </a:moveTo>
                <a:lnTo>
                  <a:pt x="3251928" y="0"/>
                </a:lnTo>
                <a:lnTo>
                  <a:pt x="3251928" y="3251928"/>
                </a:lnTo>
                <a:lnTo>
                  <a:pt x="0" y="325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6109369" y="4380149"/>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5" name="TextBox 5"/>
          <p:cNvSpPr txBox="1"/>
          <p:nvPr/>
        </p:nvSpPr>
        <p:spPr>
          <a:xfrm>
            <a:off x="6109369" y="3814596"/>
            <a:ext cx="9755934" cy="506980"/>
          </a:xfrm>
          <a:prstGeom prst="rect">
            <a:avLst/>
          </a:prstGeom>
        </p:spPr>
        <p:txBody>
          <a:bodyPr lIns="0" tIns="0" rIns="0" bIns="0" rtlCol="0" anchor="t">
            <a:spAutoFit/>
          </a:bodyPr>
          <a:lstStyle/>
          <a:p>
            <a:pPr algn="l">
              <a:lnSpc>
                <a:spcPts val="3486"/>
              </a:lnSpc>
            </a:pPr>
            <a:r>
              <a:rPr lang="en-US" sz="3169" b="1">
                <a:solidFill>
                  <a:srgbClr val="000000"/>
                </a:solidFill>
                <a:latin typeface="Arial MT Pro Bold"/>
                <a:ea typeface="Arial MT Pro Bold"/>
                <a:cs typeface="Arial MT Pro Bold"/>
                <a:sym typeface="Arial MT Pro Bold"/>
              </a:rPr>
              <a:t>Pesquisa de Livro</a:t>
            </a:r>
          </a:p>
        </p:txBody>
      </p:sp>
      <p:sp>
        <p:nvSpPr>
          <p:cNvPr id="6" name="TextBox 6"/>
          <p:cNvSpPr txBox="1"/>
          <p:nvPr/>
        </p:nvSpPr>
        <p:spPr>
          <a:xfrm>
            <a:off x="6109369" y="5837206"/>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7" name="TextBox 7"/>
          <p:cNvSpPr txBox="1"/>
          <p:nvPr/>
        </p:nvSpPr>
        <p:spPr>
          <a:xfrm>
            <a:off x="6109369" y="5271653"/>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de Site</a:t>
            </a:r>
          </a:p>
        </p:txBody>
      </p:sp>
      <p:sp>
        <p:nvSpPr>
          <p:cNvPr id="8" name="TextBox 8"/>
          <p:cNvSpPr txBox="1"/>
          <p:nvPr/>
        </p:nvSpPr>
        <p:spPr>
          <a:xfrm>
            <a:off x="6109369" y="7294263"/>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9" name="TextBox 9"/>
          <p:cNvSpPr txBox="1"/>
          <p:nvPr/>
        </p:nvSpPr>
        <p:spPr>
          <a:xfrm>
            <a:off x="6109369" y="6728710"/>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Livro</a:t>
            </a:r>
          </a:p>
        </p:txBody>
      </p:sp>
      <p:sp>
        <p:nvSpPr>
          <p:cNvPr id="10" name="TextBox 10"/>
          <p:cNvSpPr txBox="1"/>
          <p:nvPr/>
        </p:nvSpPr>
        <p:spPr>
          <a:xfrm>
            <a:off x="6109369" y="8751320"/>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11" name="TextBox 11"/>
          <p:cNvSpPr txBox="1"/>
          <p:nvPr/>
        </p:nvSpPr>
        <p:spPr>
          <a:xfrm>
            <a:off x="6109369" y="8185767"/>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da Escola</a:t>
            </a:r>
          </a:p>
        </p:txBody>
      </p:sp>
      <p:sp>
        <p:nvSpPr>
          <p:cNvPr id="12" name="Freeform 12"/>
          <p:cNvSpPr/>
          <p:nvPr/>
        </p:nvSpPr>
        <p:spPr>
          <a:xfrm>
            <a:off x="5007397" y="3666571"/>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3" name="Freeform 13"/>
          <p:cNvSpPr/>
          <p:nvPr/>
        </p:nvSpPr>
        <p:spPr>
          <a:xfrm>
            <a:off x="5007397" y="5187385"/>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4" name="Freeform 14"/>
          <p:cNvSpPr/>
          <p:nvPr/>
        </p:nvSpPr>
        <p:spPr>
          <a:xfrm>
            <a:off x="5007397" y="6708200"/>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5" name="Freeform 15"/>
          <p:cNvSpPr/>
          <p:nvPr/>
        </p:nvSpPr>
        <p:spPr>
          <a:xfrm>
            <a:off x="5007397" y="8229014"/>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6" name="TextBox 16"/>
          <p:cNvSpPr txBox="1"/>
          <p:nvPr/>
        </p:nvSpPr>
        <p:spPr>
          <a:xfrm>
            <a:off x="5361002" y="865506"/>
            <a:ext cx="6842976" cy="2391489"/>
          </a:xfrm>
          <a:prstGeom prst="rect">
            <a:avLst/>
          </a:prstGeom>
        </p:spPr>
        <p:txBody>
          <a:bodyPr lIns="0" tIns="0" rIns="0" bIns="0" rtlCol="0" anchor="t">
            <a:spAutoFit/>
          </a:bodyPr>
          <a:lstStyle/>
          <a:p>
            <a:pPr algn="l">
              <a:lnSpc>
                <a:spcPts val="8469"/>
              </a:lnSpc>
            </a:pPr>
            <a:r>
              <a:rPr lang="en-US" sz="9106" b="1" spc="-637">
                <a:solidFill>
                  <a:srgbClr val="000000"/>
                </a:solidFill>
                <a:latin typeface="Arial MT Pro Bold"/>
                <a:ea typeface="Arial MT Pro Bold"/>
                <a:cs typeface="Arial MT Pro Bold"/>
                <a:sym typeface="Arial MT Pro Bold"/>
              </a:rPr>
              <a:t>Pesquisas bibliográficas</a:t>
            </a:r>
          </a:p>
        </p:txBody>
      </p:sp>
      <p:grpSp>
        <p:nvGrpSpPr>
          <p:cNvPr id="17" name="Group 17"/>
          <p:cNvGrpSpPr/>
          <p:nvPr/>
        </p:nvGrpSpPr>
        <p:grpSpPr>
          <a:xfrm>
            <a:off x="-764128" y="-548696"/>
            <a:ext cx="1792828" cy="11019359"/>
            <a:chOff x="0" y="0"/>
            <a:chExt cx="472185" cy="2902218"/>
          </a:xfrm>
        </p:grpSpPr>
        <p:sp>
          <p:nvSpPr>
            <p:cNvPr id="18" name="Freeform 18"/>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19" name="TextBox 19"/>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688</Words>
  <Application>Microsoft Office PowerPoint</Application>
  <PresentationFormat>Personalizar</PresentationFormat>
  <Paragraphs>71</Paragraphs>
  <Slides>10</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10</vt:i4>
      </vt:variant>
    </vt:vector>
  </HeadingPairs>
  <TitlesOfParts>
    <vt:vector size="15" baseType="lpstr">
      <vt:lpstr>Calibri</vt:lpstr>
      <vt:lpstr>Arial MT Pro Bold</vt:lpstr>
      <vt:lpstr>Arial</vt:lpstr>
      <vt:lpstr>Arial MT Pro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conclusão de curso faculdade moderno gradiente azul branco apresentação</dc:title>
  <cp:lastModifiedBy>Maycon Rodrigues Rosa</cp:lastModifiedBy>
  <cp:revision>2</cp:revision>
  <dcterms:created xsi:type="dcterms:W3CDTF">2006-08-16T00:00:00Z</dcterms:created>
  <dcterms:modified xsi:type="dcterms:W3CDTF">2026-04-13T18:22:20Z</dcterms:modified>
  <dc:identifier>DAHGvGheQx4</dc:identifier>
</cp:coreProperties>
</file>